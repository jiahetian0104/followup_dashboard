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bb71dcb69945de" /><Relationship Type="http://schemas.openxmlformats.org/officeDocument/2006/relationships/extended-properties" Target="/docProps/app.xml" Id="R885f8e2c9e1c4dc7" /><Relationship Type="http://schemas.openxmlformats.org/officeDocument/2006/relationships/officeDocument" Target="/ppt/presentation.xml" Id="R0120da713f3a4d15" /></Relationships>
</file>

<file path=ppt/presentation.xml><?xml version="1.0" encoding="utf-8"?>
<p:presentation xmlns:p="http://schemas.openxmlformats.org/presentationml/2006/main">
  <p:sldMasterIdLst>
    <p:sldMasterId xmlns:r="http://schemas.openxmlformats.org/officeDocument/2006/relationships" id="2147483648" r:id="Reaf04f9fb0b143ec"/>
  </p:sldMasterIdLst>
  <p:notesMasterIdLst>
    <p:notesMasterId xmlns:r="http://schemas.openxmlformats.org/officeDocument/2006/relationships" r:id="Re66c43c347d643e8"/>
  </p:notesMasterIdLst>
  <p:sldIdLst>
    <p:sldId xmlns:r="http://schemas.openxmlformats.org/officeDocument/2006/relationships" id="256" r:id="Ra8fb7e03f8de4138"/>
    <p:sldId xmlns:r="http://schemas.openxmlformats.org/officeDocument/2006/relationships" id="257" r:id="R5b0140070d4c44a5"/>
    <p:sldId xmlns:r="http://schemas.openxmlformats.org/officeDocument/2006/relationships" id="258" r:id="R2113ecc8630a45a2"/>
    <p:sldId xmlns:r="http://schemas.openxmlformats.org/officeDocument/2006/relationships" id="259" r:id="Rb12823081c2f47bc"/>
    <p:sldId xmlns:r="http://schemas.openxmlformats.org/officeDocument/2006/relationships" id="260" r:id="Rce80993671ef4663"/>
    <p:sldId xmlns:r="http://schemas.openxmlformats.org/officeDocument/2006/relationships" id="261" r:id="R6853b1d37073420e"/>
    <p:sldId xmlns:r="http://schemas.openxmlformats.org/officeDocument/2006/relationships" id="262" r:id="R8e3eada541264f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f547e082ca45f2" /><Relationship Type="http://schemas.openxmlformats.org/officeDocument/2006/relationships/slideMaster" Target="/ppt/slideMasters/slideMaster1.xml" Id="Reaf04f9fb0b143ec" /><Relationship Type="http://schemas.openxmlformats.org/officeDocument/2006/relationships/notesMaster" Target="/ppt/notesMasters/notesMaster1.xml" Id="Re66c43c347d643e8" /><Relationship Type="http://schemas.openxmlformats.org/officeDocument/2006/relationships/presProps" Target="/ppt/presProps.xml" Id="Rc792023306af4262" /><Relationship Type="http://schemas.openxmlformats.org/officeDocument/2006/relationships/tableStyles" Target="/ppt/tableStyles.xml" Id="Rb8b2c84d35414264" /><Relationship Type="http://schemas.openxmlformats.org/officeDocument/2006/relationships/slide" Target="/ppt/slides/slide1.xml" Id="Ra8fb7e03f8de4138" /><Relationship Type="http://schemas.openxmlformats.org/officeDocument/2006/relationships/slide" Target="/ppt/slides/slide2.xml" Id="R5b0140070d4c44a5" /><Relationship Type="http://schemas.openxmlformats.org/officeDocument/2006/relationships/slide" Target="/ppt/slides/slide3.xml" Id="R2113ecc8630a45a2" /><Relationship Type="http://schemas.openxmlformats.org/officeDocument/2006/relationships/slide" Target="/ppt/slides/slide4.xml" Id="Rb12823081c2f47bc" /><Relationship Type="http://schemas.openxmlformats.org/officeDocument/2006/relationships/slide" Target="/ppt/slides/slide5.xml" Id="Rce80993671ef4663" /><Relationship Type="http://schemas.openxmlformats.org/officeDocument/2006/relationships/slide" Target="/ppt/slides/slide6.xml" Id="R6853b1d37073420e" /><Relationship Type="http://schemas.openxmlformats.org/officeDocument/2006/relationships/slide" Target="/ppt/slides/slide7.xml" Id="R8e3eada541264f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fdf9917ef046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876d96b5fe4a27" /><Relationship Type="http://schemas.openxmlformats.org/officeDocument/2006/relationships/notesMaster" Target="/ppt/notesMasters/notesMaster1.xml" Id="R2dd5b3d689ed41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fc8614c1254324" /><Relationship Type="http://schemas.openxmlformats.org/officeDocument/2006/relationships/notesMaster" Target="/ppt/notesMasters/notesMaster1.xml" Id="Rfb13a863959349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5cac1a1f074463" /><Relationship Type="http://schemas.openxmlformats.org/officeDocument/2006/relationships/notesMaster" Target="/ppt/notesMasters/notesMaster1.xml" Id="R025529918e284c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80c4bf00584590" /><Relationship Type="http://schemas.openxmlformats.org/officeDocument/2006/relationships/notesMaster" Target="/ppt/notesMasters/notesMaster1.xml" Id="R7a4905be158641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7897cb596e4477" /><Relationship Type="http://schemas.openxmlformats.org/officeDocument/2006/relationships/notesMaster" Target="/ppt/notesMasters/notesMaster1.xml" Id="R4de2b16febc046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ab56b3f3a247f2" /><Relationship Type="http://schemas.openxmlformats.org/officeDocument/2006/relationships/notesMaster" Target="/ppt/notesMasters/notesMaster1.xml" Id="R8e3b8913927043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57da2b7c5c4ba4" /><Relationship Type="http://schemas.openxmlformats.org/officeDocument/2006/relationships/notesMaster" Target="/ppt/notesMasters/notesMaster1.xml" Id="R16ba21ca600b41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the current IPA dashboard calculation logic and the repeatable update process. Sources: local Ripple exports, Calendly exports, call lists, and CHARM cohort crosswalk.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supports two complementary views: locked task responsibility for fair credit and current caseload for day-to-day follow-up.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Crosswalk path is built from BASE_PATH: Data/Miscellaneous/Global Crosswalk/CHARM_Cohort_List.xlsx. Mother custom IDs are supporting evidence only and never override child-name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Rule: retain the latest Calendly record for each participant-age-band pair. A previous no-show does not override a later completed IPA.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record remains NA in the detailed raw score field, but contributes zero when calculating weighted progress over applicable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task states—including Complete, No-Show, Incomplete, and No record—remain credited to the FTM responsible for that age-band task. Future assignments receive credit only for work in their own responsible period/stage.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snapshot is written after every successful update using the actual refresh timestamp. Failed or incomplete snapshot folders are ignored. The dashboard supports Latest, historical snapshot selection, and filtered FTM trend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c82991788d4a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b5d4e6f2a14e87" /><Relationship Type="http://schemas.openxmlformats.org/officeDocument/2006/relationships/slideLayout" Target="/ppt/slideLayouts/slideLayout1.xml" Id="R81b46d0967334c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b46d0967334c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4456cb50ba492c" /><Relationship Type="http://schemas.openxmlformats.org/officeDocument/2006/relationships/notesSlide" Target="/ppt/notesSlides/notesSlide1.xml" Id="R3818a58d0bbf4c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afac3239a7487c" /><Relationship Type="http://schemas.openxmlformats.org/officeDocument/2006/relationships/notesSlide" Target="/ppt/notesSlides/notesSlide2.xml" Id="R82b2afa5159b41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335ff190c743f8" /><Relationship Type="http://schemas.openxmlformats.org/officeDocument/2006/relationships/notesSlide" Target="/ppt/notesSlides/notesSlide3.xml" Id="R3901504243c646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b5fbfc21df489a" /><Relationship Type="http://schemas.openxmlformats.org/officeDocument/2006/relationships/notesSlide" Target="/ppt/notesSlides/notesSlide4.xml" Id="Rf911b0f889774d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f19fbc96dd4f19" /><Relationship Type="http://schemas.openxmlformats.org/officeDocument/2006/relationships/notesSlide" Target="/ppt/notesSlides/notesSlide5.xml" Id="Re3597be73a3943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5828a3a351414d" /><Relationship Type="http://schemas.openxmlformats.org/officeDocument/2006/relationships/notesSlide" Target="/ppt/notesSlides/notesSlide6.xml" Id="Ra993fb81d7974d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12e0d9f0bdf4e00" /><Relationship Type="http://schemas.openxmlformats.org/officeDocument/2006/relationships/notesSlide" Target="/ppt/notesSlides/notesSlide7.xml" Id="Rf605a11b8c6e4283"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D58222-2D01-4825-8816-BB80B4F021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F777EA-6435-401F-9DA4-E458F1ACEBF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78C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75725DA-E258-401A-BC9E-C4C4F88ECE64}"/>
              </a:ext>
            </a:extLst>
          </p:cNvPr>
          <p:cNvSpPr>
            <a:spLocks xmlns:a="http://schemas.openxmlformats.org/drawingml/2006/main" noGrp="1"/>
          </p:cNvSpPr>
          <p:nvPr/>
        </p:nvSpPr>
        <p:spPr>
          <a:xfrm xmlns:a="http://schemas.openxmlformats.org/drawingml/2006/main">
            <a:off x="8343900" y="0"/>
            <a:ext cx="3848100" cy="6858000"/>
          </a:xfrm>
          <a:prstGeom xmlns:a="http://schemas.openxmlformats.org/drawingml/2006/main" prst="rect">
            <a:avLst/>
          </a:prstGeom>
          <a:solidFill xmlns:a="http://schemas.openxmlformats.org/drawingml/2006/main">
            <a:srgbClr val="102B4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C71CC5-B4DD-4433-A534-43A8899A36E3}"/>
              </a:ext>
            </a:extLst>
          </p:cNvPr>
          <p:cNvSpPr>
            <a:spLocks xmlns:a="http://schemas.openxmlformats.org/drawingml/2006/main" noGrp="1"/>
          </p:cNvSpPr>
          <p:nvPr/>
        </p:nvSpPr>
        <p:spPr>
          <a:xfrm xmlns:a="http://schemas.openxmlformats.org/drawingml/2006/main">
            <a:off x="8934450" y="971550"/>
            <a:ext cx="2266950" cy="226695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89AAFAB-B604-45AA-A3A2-EA3111CF149E}"/>
              </a:ext>
            </a:extLst>
          </p:cNvPr>
          <p:cNvSpPr>
            <a:spLocks xmlns:a="http://schemas.openxmlformats.org/drawingml/2006/main" noGrp="1"/>
          </p:cNvSpPr>
          <p:nvPr/>
        </p:nvSpPr>
        <p:spPr>
          <a:xfrm xmlns:a="http://schemas.openxmlformats.org/drawingml/2006/main">
            <a:off x="9534525" y="1571625"/>
            <a:ext cx="1066800" cy="106680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FAA2A78-519D-4E7C-A027-C479F22967FC}"/>
              </a:ext>
            </a:extLst>
          </p:cNvPr>
          <p:cNvSpPr>
            <a:spLocks xmlns:a="http://schemas.openxmlformats.org/drawingml/2006/main" noGrp="1"/>
          </p:cNvSpPr>
          <p:nvPr/>
        </p:nvSpPr>
        <p:spPr>
          <a:xfrm xmlns:a="http://schemas.openxmlformats.org/drawingml/2006/main">
            <a:off x="8715375" y="3867150"/>
            <a:ext cx="2619375" cy="0"/>
          </a:xfrm>
          <a:prstGeom xmlns:a="http://schemas.openxmlformats.org/drawingml/2006/main" prst="line">
            <a:avLst/>
          </a:prstGeom>
          <a:noFill xmlns:a="http://schemas.openxmlformats.org/drawingml/2006/main"/>
          <a:ln xmlns:a="http://schemas.openxmlformats.org/drawingml/2006/main" w="38100">
            <a:solidFill>
              <a:srgbClr val="F2C14E"/>
            </a:solidFill>
            <a:prstDash val="solid"/>
          </a:ln>
        </p:spPr>
      </p:sp>
      <p:sp>
        <p:nvSpPr>
          <p:cNvPr id="7" name="">
            <a:extLst xmlns:a="http://schemas.openxmlformats.org/drawingml/2006/main">
              <a:ext uri="{FF2B5EF4-FFF2-40B4-BE49-F238E27FC236}">
                <a16:creationId xmlns:a16="http://schemas.microsoft.com/office/drawing/2014/main" id="{D097521D-0337-446F-85CD-3603A5A45694}"/>
              </a:ext>
            </a:extLst>
          </p:cNvPr>
          <p:cNvSpPr>
            <a:spLocks xmlns:a="http://schemas.openxmlformats.org/drawingml/2006/main" noGrp="1"/>
          </p:cNvSpPr>
          <p:nvPr/>
        </p:nvSpPr>
        <p:spPr>
          <a:xfrm xmlns:a="http://schemas.openxmlformats.org/drawingml/2006/main">
            <a:off x="742950" y="1714500"/>
            <a:ext cx="695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CHARM IPA Dashboard</a:t>
            </a:r>
          </a:p>
        </p:txBody>
      </p:sp>
      <p:sp>
        <p:nvSpPr>
          <p:cNvPr id="8" name="">
            <a:extLst xmlns:a="http://schemas.openxmlformats.org/drawingml/2006/main">
              <a:ext uri="{FF2B5EF4-FFF2-40B4-BE49-F238E27FC236}">
                <a16:creationId xmlns:a16="http://schemas.microsoft.com/office/drawing/2014/main" id="{5CDD7541-F818-4B47-BDB9-9C41892D8984}"/>
              </a:ext>
            </a:extLst>
          </p:cNvPr>
          <p:cNvSpPr>
            <a:spLocks xmlns:a="http://schemas.openxmlformats.org/drawingml/2006/main" noGrp="1"/>
          </p:cNvSpPr>
          <p:nvPr/>
        </p:nvSpPr>
        <p:spPr>
          <a:xfrm xmlns:a="http://schemas.openxmlformats.org/drawingml/2006/main">
            <a:off x="762000" y="26003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0">
                <a:solidFill>
                  <a:srgbClr val="C8D7E3"/>
                </a:solidFill>
                <a:latin typeface="Helvetica Neue"/>
                <a:ea typeface="Helvetica Neue"/>
                <a:cs typeface="Helvetica Neue"/>
              </a:defRPr>
            </a:pPr>
            <a:r>
              <a:rPr sz="2325" b="0">
                <a:solidFill>
                  <a:srgbClr val="C8D7E3"/>
                </a:solidFill>
                <a:latin typeface="Helvetica Neue"/>
                <a:ea typeface="Helvetica Neue"/>
                <a:cs typeface="Helvetica Neue"/>
              </a:rPr>
              <a:t>Calculation Logic &amp; Update Workflow</a:t>
            </a:r>
          </a:p>
        </p:txBody>
      </p:sp>
      <p:sp>
        <p:nvSpPr>
          <p:cNvPr id="9" name="">
            <a:extLst xmlns:a="http://schemas.openxmlformats.org/drawingml/2006/main">
              <a:ext uri="{FF2B5EF4-FFF2-40B4-BE49-F238E27FC236}">
                <a16:creationId xmlns:a16="http://schemas.microsoft.com/office/drawing/2014/main" id="{27247042-A445-41BE-BD01-B5612E3DC8D1}"/>
              </a:ext>
            </a:extLst>
          </p:cNvPr>
          <p:cNvSpPr>
            <a:spLocks xmlns:a="http://schemas.openxmlformats.org/drawingml/2006/main" noGrp="1"/>
          </p:cNvSpPr>
          <p:nvPr/>
        </p:nvSpPr>
        <p:spPr>
          <a:xfrm xmlns:a="http://schemas.openxmlformats.org/drawingml/2006/main">
            <a:off x="762000" y="34099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From Calendly and Ripple records to fair, time-based FTM performance tracking</a:t>
            </a:r>
          </a:p>
        </p:txBody>
      </p:sp>
      <p:sp>
        <p:nvSpPr>
          <p:cNvPr id="10" name="">
            <a:extLst xmlns:a="http://schemas.openxmlformats.org/drawingml/2006/main">
              <a:ext uri="{FF2B5EF4-FFF2-40B4-BE49-F238E27FC236}">
                <a16:creationId xmlns:a16="http://schemas.microsoft.com/office/drawing/2014/main" id="{57995D5F-D684-4F7F-9326-B9C489F1E9F0}"/>
              </a:ext>
            </a:extLst>
          </p:cNvPr>
          <p:cNvSpPr>
            <a:spLocks xmlns:a="http://schemas.openxmlformats.org/drawingml/2006/main" noGrp="1"/>
          </p:cNvSpPr>
          <p:nvPr/>
        </p:nvSpPr>
        <p:spPr>
          <a:xfrm xmlns:a="http://schemas.openxmlformats.org/drawingml/2006/main">
            <a:off x="762000" y="59055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9FB2C1"/>
                </a:solidFill>
                <a:latin typeface="Helvetica Neue"/>
                <a:ea typeface="Helvetica Neue"/>
                <a:cs typeface="Helvetica Neue"/>
              </a:defRPr>
            </a:pPr>
            <a:r>
              <a:rPr sz="1200" b="0">
                <a:solidFill>
                  <a:srgbClr val="9FB2C1"/>
                </a:solidFill>
                <a:latin typeface="Helvetica Neue"/>
                <a:ea typeface="Helvetica Neue"/>
                <a:cs typeface="Helvetica Neue"/>
              </a:rPr>
              <a:t>Internal methods brief  |  September 2026</a:t>
            </a:r>
          </a:p>
        </p:txBody>
      </p:sp>
    </p:spTree>
    <p:extLst>
      <p:ext uri="{BB962C8B-B14F-4D97-AF65-F5344CB8AC3E}">
        <p14:creationId xmlns:p14="http://schemas.microsoft.com/office/powerpoint/2010/main" val="101657882"/>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960F9CE-771C-4CAF-BA84-D8FB65E55741}"/>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F33"/>
                </a:solidFill>
                <a:latin typeface="Helvetica Neue"/>
                <a:ea typeface="Helvetica Neue"/>
                <a:cs typeface="Helvetica Neue"/>
              </a:defRPr>
            </a:pPr>
            <a:r>
              <a:rPr sz="2550" b="1">
                <a:solidFill>
                  <a:srgbClr val="0B1F33"/>
                </a:solidFill>
                <a:latin typeface="Helvetica Neue"/>
                <a:ea typeface="Helvetica Neue"/>
                <a:cs typeface="Helvetica Neue"/>
              </a:rPr>
              <a:t>One refresh turns four sources into two dashboard views</a:t>
            </a:r>
          </a:p>
        </p:txBody>
      </p:sp>
      <p:sp>
        <p:nvSpPr>
          <p:cNvPr id="2" name="">
            <a:extLst xmlns:a="http://schemas.openxmlformats.org/drawingml/2006/main">
              <a:ext uri="{FF2B5EF4-FFF2-40B4-BE49-F238E27FC236}">
                <a16:creationId xmlns:a16="http://schemas.microsoft.com/office/drawing/2014/main" id="{CE10578C-3056-47EA-A127-283748309532}"/>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F19D6F81-A81A-43AF-B503-6758E1948EAC}"/>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461C2C50-8070-431C-8F87-6EA6AF6C0765}"/>
              </a:ext>
            </a:extLst>
          </p:cNvPr>
          <p:cNvSpPr>
            <a:spLocks xmlns:a="http://schemas.openxmlformats.org/drawingml/2006/main" noGrp="1"/>
          </p:cNvSpPr>
          <p:nvPr/>
        </p:nvSpPr>
        <p:spPr>
          <a:xfrm xmlns:a="http://schemas.openxmlformats.org/drawingml/2006/main">
            <a:off x="666750"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5" name="">
            <a:extLst xmlns:a="http://schemas.openxmlformats.org/drawingml/2006/main">
              <a:ext uri="{FF2B5EF4-FFF2-40B4-BE49-F238E27FC236}">
                <a16:creationId xmlns:a16="http://schemas.microsoft.com/office/drawing/2014/main" id="{05AA5540-9C4B-4AAF-935A-2365C533E18E}"/>
              </a:ext>
            </a:extLst>
          </p:cNvPr>
          <p:cNvSpPr>
            <a:spLocks xmlns:a="http://schemas.openxmlformats.org/drawingml/2006/main" noGrp="1"/>
          </p:cNvSpPr>
          <p:nvPr/>
        </p:nvSpPr>
        <p:spPr>
          <a:xfrm xmlns:a="http://schemas.openxmlformats.org/drawingml/2006/main">
            <a:off x="666750" y="1752600"/>
            <a:ext cx="1952625" cy="9525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B579738-5685-437B-A9B3-5F0105B97F4E}"/>
              </a:ext>
            </a:extLst>
          </p:cNvPr>
          <p:cNvSpPr>
            <a:spLocks xmlns:a="http://schemas.openxmlformats.org/drawingml/2006/main" noGrp="1"/>
          </p:cNvSpPr>
          <p:nvPr/>
        </p:nvSpPr>
        <p:spPr>
          <a:xfrm xmlns:a="http://schemas.openxmlformats.org/drawingml/2006/main">
            <a:off x="857250"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1  Ingest</a:t>
            </a:r>
          </a:p>
        </p:txBody>
      </p:sp>
      <p:sp>
        <p:nvSpPr>
          <p:cNvPr id="7" name="">
            <a:extLst xmlns:a="http://schemas.openxmlformats.org/drawingml/2006/main">
              <a:ext uri="{FF2B5EF4-FFF2-40B4-BE49-F238E27FC236}">
                <a16:creationId xmlns:a16="http://schemas.microsoft.com/office/drawing/2014/main" id="{DD7E1943-7674-4007-84B4-EBB82E36FBE3}"/>
              </a:ext>
            </a:extLst>
          </p:cNvPr>
          <p:cNvSpPr>
            <a:spLocks xmlns:a="http://schemas.openxmlformats.org/drawingml/2006/main" noGrp="1"/>
          </p:cNvSpPr>
          <p:nvPr/>
        </p:nvSpPr>
        <p:spPr>
          <a:xfrm xmlns:a="http://schemas.openxmlformats.org/drawingml/2006/main">
            <a:off x="857250"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Ripple exports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Calendly exports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3–20 call lists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Cohort crosswalk</a:t>
            </a:r>
          </a:p>
        </p:txBody>
      </p:sp>
      <p:sp>
        <p:nvSpPr>
          <p:cNvPr id="8" name="">
            <a:extLst xmlns:a="http://schemas.openxmlformats.org/drawingml/2006/main">
              <a:ext uri="{FF2B5EF4-FFF2-40B4-BE49-F238E27FC236}">
                <a16:creationId xmlns:a16="http://schemas.microsoft.com/office/drawing/2014/main" id="{201B41D6-F266-477C-BE4B-45FDD90FD937}"/>
              </a:ext>
            </a:extLst>
          </p:cNvPr>
          <p:cNvSpPr>
            <a:spLocks xmlns:a="http://schemas.openxmlformats.org/drawingml/2006/main" noGrp="1"/>
          </p:cNvSpPr>
          <p:nvPr/>
        </p:nvSpPr>
        <p:spPr>
          <a:xfrm xmlns:a="http://schemas.openxmlformats.org/drawingml/2006/main">
            <a:off x="2676525" y="3143250"/>
            <a:ext cx="276225" cy="285750"/>
          </a:xfrm>
          <a:prstGeom xmlns:a="http://schemas.openxmlformats.org/drawingml/2006/main" prst="rightArrow">
            <a:avLst/>
          </a:prstGeom>
          <a:solidFill xmlns:a="http://schemas.openxmlformats.org/drawingml/2006/main">
            <a:srgbClr val="67B7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A319ACA-EAA2-4823-B28C-8327AC876843}"/>
              </a:ext>
            </a:extLst>
          </p:cNvPr>
          <p:cNvSpPr>
            <a:spLocks xmlns:a="http://schemas.openxmlformats.org/drawingml/2006/main" noGrp="1"/>
          </p:cNvSpPr>
          <p:nvPr/>
        </p:nvSpPr>
        <p:spPr>
          <a:xfrm xmlns:a="http://schemas.openxmlformats.org/drawingml/2006/main">
            <a:off x="3000375"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10" name="">
            <a:extLst xmlns:a="http://schemas.openxmlformats.org/drawingml/2006/main">
              <a:ext uri="{FF2B5EF4-FFF2-40B4-BE49-F238E27FC236}">
                <a16:creationId xmlns:a16="http://schemas.microsoft.com/office/drawing/2014/main" id="{2B81A084-4A59-42EF-8CDC-EC8361B733A0}"/>
              </a:ext>
            </a:extLst>
          </p:cNvPr>
          <p:cNvSpPr>
            <a:spLocks xmlns:a="http://schemas.openxmlformats.org/drawingml/2006/main" noGrp="1"/>
          </p:cNvSpPr>
          <p:nvPr/>
        </p:nvSpPr>
        <p:spPr>
          <a:xfrm xmlns:a="http://schemas.openxmlformats.org/drawingml/2006/main">
            <a:off x="3000375" y="1752600"/>
            <a:ext cx="1952625" cy="95250"/>
          </a:xfrm>
          <a:prstGeom xmlns:a="http://schemas.openxmlformats.org/drawingml/2006/main" prst="roundRect">
            <a:avLst>
              <a:gd name="adj" fmla="val 50000"/>
            </a:avLst>
          </a:prstGeom>
          <a:solidFill xmlns:a="http://schemas.openxmlformats.org/drawingml/2006/main">
            <a:srgbClr val="F2C14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26D7F18-38A7-4DBC-A8F0-D8B473994D21}"/>
              </a:ext>
            </a:extLst>
          </p:cNvPr>
          <p:cNvSpPr>
            <a:spLocks xmlns:a="http://schemas.openxmlformats.org/drawingml/2006/main" noGrp="1"/>
          </p:cNvSpPr>
          <p:nvPr/>
        </p:nvSpPr>
        <p:spPr>
          <a:xfrm xmlns:a="http://schemas.openxmlformats.org/drawingml/2006/main">
            <a:off x="3190875"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2  Standardize</a:t>
            </a:r>
          </a:p>
        </p:txBody>
      </p:sp>
      <p:sp>
        <p:nvSpPr>
          <p:cNvPr id="12" name="">
            <a:extLst xmlns:a="http://schemas.openxmlformats.org/drawingml/2006/main">
              <a:ext uri="{FF2B5EF4-FFF2-40B4-BE49-F238E27FC236}">
                <a16:creationId xmlns:a16="http://schemas.microsoft.com/office/drawing/2014/main" id="{4F5531C2-63DC-43D9-9F54-9CD57EC04D3E}"/>
              </a:ext>
            </a:extLst>
          </p:cNvPr>
          <p:cNvSpPr>
            <a:spLocks xmlns:a="http://schemas.openxmlformats.org/drawingml/2006/main" noGrp="1"/>
          </p:cNvSpPr>
          <p:nvPr/>
        </p:nvSpPr>
        <p:spPr>
          <a:xfrm xmlns:a="http://schemas.openxmlformats.org/drawingml/2006/main">
            <a:off x="3190875"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Clean names and IDs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Convert age to years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Map age bands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Resolve duplicate bookings</a:t>
            </a:r>
          </a:p>
        </p:txBody>
      </p:sp>
      <p:sp>
        <p:nvSpPr>
          <p:cNvPr id="13" name="">
            <a:extLst xmlns:a="http://schemas.openxmlformats.org/drawingml/2006/main">
              <a:ext uri="{FF2B5EF4-FFF2-40B4-BE49-F238E27FC236}">
                <a16:creationId xmlns:a16="http://schemas.microsoft.com/office/drawing/2014/main" id="{EE1C2379-FA6B-4936-B07A-590573DC2BA2}"/>
              </a:ext>
            </a:extLst>
          </p:cNvPr>
          <p:cNvSpPr>
            <a:spLocks xmlns:a="http://schemas.openxmlformats.org/drawingml/2006/main" noGrp="1"/>
          </p:cNvSpPr>
          <p:nvPr/>
        </p:nvSpPr>
        <p:spPr>
          <a:xfrm xmlns:a="http://schemas.openxmlformats.org/drawingml/2006/main">
            <a:off x="5010150" y="3143250"/>
            <a:ext cx="276225" cy="285750"/>
          </a:xfrm>
          <a:prstGeom xmlns:a="http://schemas.openxmlformats.org/drawingml/2006/main" prst="rightArrow">
            <a:avLst/>
          </a:prstGeom>
          <a:solidFill xmlns:a="http://schemas.openxmlformats.org/drawingml/2006/main">
            <a:srgbClr val="67B7B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310B8CE-0057-4D74-8873-42A0E583EC60}"/>
              </a:ext>
            </a:extLst>
          </p:cNvPr>
          <p:cNvSpPr>
            <a:spLocks xmlns:a="http://schemas.openxmlformats.org/drawingml/2006/main" noGrp="1"/>
          </p:cNvSpPr>
          <p:nvPr/>
        </p:nvSpPr>
        <p:spPr>
          <a:xfrm xmlns:a="http://schemas.openxmlformats.org/drawingml/2006/main">
            <a:off x="5334000"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15" name="">
            <a:extLst xmlns:a="http://schemas.openxmlformats.org/drawingml/2006/main">
              <a:ext uri="{FF2B5EF4-FFF2-40B4-BE49-F238E27FC236}">
                <a16:creationId xmlns:a16="http://schemas.microsoft.com/office/drawing/2014/main" id="{67388E22-A5C7-41CF-AD89-2467F839F747}"/>
              </a:ext>
            </a:extLst>
          </p:cNvPr>
          <p:cNvSpPr>
            <a:spLocks xmlns:a="http://schemas.openxmlformats.org/drawingml/2006/main" noGrp="1"/>
          </p:cNvSpPr>
          <p:nvPr/>
        </p:nvSpPr>
        <p:spPr>
          <a:xfrm xmlns:a="http://schemas.openxmlformats.org/drawingml/2006/main">
            <a:off x="5334000" y="1752600"/>
            <a:ext cx="1952625" cy="9525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F9DA8DA-CAEC-4E92-8BB0-DD13FB6BE1F6}"/>
              </a:ext>
            </a:extLst>
          </p:cNvPr>
          <p:cNvSpPr>
            <a:spLocks xmlns:a="http://schemas.openxmlformats.org/drawingml/2006/main" noGrp="1"/>
          </p:cNvSpPr>
          <p:nvPr/>
        </p:nvSpPr>
        <p:spPr>
          <a:xfrm xmlns:a="http://schemas.openxmlformats.org/drawingml/2006/main">
            <a:off x="5524500"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3  Assign &amp; score</a:t>
            </a:r>
          </a:p>
        </p:txBody>
      </p:sp>
      <p:sp>
        <p:nvSpPr>
          <p:cNvPr id="17" name="">
            <a:extLst xmlns:a="http://schemas.openxmlformats.org/drawingml/2006/main">
              <a:ext uri="{FF2B5EF4-FFF2-40B4-BE49-F238E27FC236}">
                <a16:creationId xmlns:a16="http://schemas.microsoft.com/office/drawing/2014/main" id="{A7F65005-45C3-487D-8BBE-88AB790117E6}"/>
              </a:ext>
            </a:extLst>
          </p:cNvPr>
          <p:cNvSpPr>
            <a:spLocks xmlns:a="http://schemas.openxmlformats.org/drawingml/2006/main" noGrp="1"/>
          </p:cNvSpPr>
          <p:nvPr/>
        </p:nvSpPr>
        <p:spPr>
          <a:xfrm xmlns:a="http://schemas.openxmlformats.org/drawingml/2006/main">
            <a:off x="5524500"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Choose latest IPA record</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Derive task outcomes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Lock task responsibility</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Calculate progress</a:t>
            </a:r>
          </a:p>
        </p:txBody>
      </p:sp>
      <p:sp>
        <p:nvSpPr>
          <p:cNvPr id="18" name="">
            <a:extLst xmlns:a="http://schemas.openxmlformats.org/drawingml/2006/main">
              <a:ext uri="{FF2B5EF4-FFF2-40B4-BE49-F238E27FC236}">
                <a16:creationId xmlns:a16="http://schemas.microsoft.com/office/drawing/2014/main" id="{08D17735-1E1D-4EF2-8CE8-2021AA987056}"/>
              </a:ext>
            </a:extLst>
          </p:cNvPr>
          <p:cNvSpPr>
            <a:spLocks xmlns:a="http://schemas.openxmlformats.org/drawingml/2006/main" noGrp="1"/>
          </p:cNvSpPr>
          <p:nvPr/>
        </p:nvSpPr>
        <p:spPr>
          <a:xfrm xmlns:a="http://schemas.openxmlformats.org/drawingml/2006/main">
            <a:off x="7343775" y="3143250"/>
            <a:ext cx="276225" cy="285750"/>
          </a:xfrm>
          <a:prstGeom xmlns:a="http://schemas.openxmlformats.org/drawingml/2006/main" prst="rightArrow">
            <a:avLst/>
          </a:prstGeom>
          <a:solidFill xmlns:a="http://schemas.openxmlformats.org/drawingml/2006/main">
            <a:srgbClr val="67B7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A794435-2094-4DF5-8C84-256A3D2330CD}"/>
              </a:ext>
            </a:extLst>
          </p:cNvPr>
          <p:cNvSpPr>
            <a:spLocks xmlns:a="http://schemas.openxmlformats.org/drawingml/2006/main" noGrp="1"/>
          </p:cNvSpPr>
          <p:nvPr/>
        </p:nvSpPr>
        <p:spPr>
          <a:xfrm xmlns:a="http://schemas.openxmlformats.org/drawingml/2006/main">
            <a:off x="7667625"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20" name="">
            <a:extLst xmlns:a="http://schemas.openxmlformats.org/drawingml/2006/main">
              <a:ext uri="{FF2B5EF4-FFF2-40B4-BE49-F238E27FC236}">
                <a16:creationId xmlns:a16="http://schemas.microsoft.com/office/drawing/2014/main" id="{AB22A4B5-C0E4-47E7-A18B-D79C7B381C8D}"/>
              </a:ext>
            </a:extLst>
          </p:cNvPr>
          <p:cNvSpPr>
            <a:spLocks xmlns:a="http://schemas.openxmlformats.org/drawingml/2006/main" noGrp="1"/>
          </p:cNvSpPr>
          <p:nvPr/>
        </p:nvSpPr>
        <p:spPr>
          <a:xfrm xmlns:a="http://schemas.openxmlformats.org/drawingml/2006/main">
            <a:off x="7667625" y="1752600"/>
            <a:ext cx="1952625" cy="95250"/>
          </a:xfrm>
          <a:prstGeom xmlns:a="http://schemas.openxmlformats.org/drawingml/2006/main" prst="roundRect">
            <a:avLst>
              <a:gd name="adj" fmla="val 50000"/>
            </a:avLst>
          </a:prstGeom>
          <a:solidFill xmlns:a="http://schemas.openxmlformats.org/drawingml/2006/main">
            <a:srgbClr val="2A9D6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1F7D968-F616-479B-8135-A8D00DEA6712}"/>
              </a:ext>
            </a:extLst>
          </p:cNvPr>
          <p:cNvSpPr>
            <a:spLocks xmlns:a="http://schemas.openxmlformats.org/drawingml/2006/main" noGrp="1"/>
          </p:cNvSpPr>
          <p:nvPr/>
        </p:nvSpPr>
        <p:spPr>
          <a:xfrm xmlns:a="http://schemas.openxmlformats.org/drawingml/2006/main">
            <a:off x="7858125"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4  Publish</a:t>
            </a:r>
          </a:p>
        </p:txBody>
      </p:sp>
      <p:sp>
        <p:nvSpPr>
          <p:cNvPr id="22" name="">
            <a:extLst xmlns:a="http://schemas.openxmlformats.org/drawingml/2006/main">
              <a:ext uri="{FF2B5EF4-FFF2-40B4-BE49-F238E27FC236}">
                <a16:creationId xmlns:a16="http://schemas.microsoft.com/office/drawing/2014/main" id="{F443AEFE-B76D-491A-B5DE-2963331E6AEC}"/>
              </a:ext>
            </a:extLst>
          </p:cNvPr>
          <p:cNvSpPr>
            <a:spLocks xmlns:a="http://schemas.openxmlformats.org/drawingml/2006/main" noGrp="1"/>
          </p:cNvSpPr>
          <p:nvPr/>
        </p:nvSpPr>
        <p:spPr>
          <a:xfrm xmlns:a="http://schemas.openxmlformats.org/drawingml/2006/main">
            <a:off x="7858125"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Save latest dataset</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Write timestamped snapshot</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Refresh dashboard</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Extend FTM trend lines</a:t>
            </a:r>
          </a:p>
        </p:txBody>
      </p:sp>
      <p:sp>
        <p:nvSpPr>
          <p:cNvPr id="23" name="">
            <a:extLst xmlns:a="http://schemas.openxmlformats.org/drawingml/2006/main">
              <a:ext uri="{FF2B5EF4-FFF2-40B4-BE49-F238E27FC236}">
                <a16:creationId xmlns:a16="http://schemas.microsoft.com/office/drawing/2014/main" id="{3611002C-D8DC-4E4A-9455-345C0E58AB4A}"/>
              </a:ext>
            </a:extLst>
          </p:cNvPr>
          <p:cNvSpPr>
            <a:spLocks xmlns:a="http://schemas.openxmlformats.org/drawingml/2006/main" noGrp="1"/>
          </p:cNvSpPr>
          <p:nvPr/>
        </p:nvSpPr>
        <p:spPr>
          <a:xfrm xmlns:a="http://schemas.openxmlformats.org/drawingml/2006/main">
            <a:off x="9877425" y="1752600"/>
            <a:ext cx="1666875" cy="1428750"/>
          </a:xfrm>
          <a:prstGeom xmlns:a="http://schemas.openxmlformats.org/drawingml/2006/main" prst="roundRect">
            <a:avLst>
              <a:gd name="adj" fmla="val 10667"/>
            </a:avLst>
          </a:prstGeom>
          <a:solidFill xmlns:a="http://schemas.openxmlformats.org/drawingml/2006/main">
            <a:srgbClr val="E5F3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9B10014-BDC5-4CDB-85B7-3354D880A3D6}"/>
              </a:ext>
            </a:extLst>
          </p:cNvPr>
          <p:cNvSpPr>
            <a:spLocks xmlns:a="http://schemas.openxmlformats.org/drawingml/2006/main" noGrp="1"/>
          </p:cNvSpPr>
          <p:nvPr/>
        </p:nvSpPr>
        <p:spPr>
          <a:xfrm xmlns:a="http://schemas.openxmlformats.org/drawingml/2006/main">
            <a:off x="10048875" y="2047875"/>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Task responsibility</a:t>
            </a:r>
          </a:p>
        </p:txBody>
      </p:sp>
      <p:sp>
        <p:nvSpPr>
          <p:cNvPr id="25" name="">
            <a:extLst xmlns:a="http://schemas.openxmlformats.org/drawingml/2006/main">
              <a:ext uri="{FF2B5EF4-FFF2-40B4-BE49-F238E27FC236}">
                <a16:creationId xmlns:a16="http://schemas.microsoft.com/office/drawing/2014/main" id="{BCB04DE7-3553-432B-9517-C0956206F6A4}"/>
              </a:ext>
            </a:extLst>
          </p:cNvPr>
          <p:cNvSpPr>
            <a:spLocks xmlns:a="http://schemas.openxmlformats.org/drawingml/2006/main" noGrp="1"/>
          </p:cNvSpPr>
          <p:nvPr/>
        </p:nvSpPr>
        <p:spPr>
          <a:xfrm xmlns:a="http://schemas.openxmlformats.org/drawingml/2006/main">
            <a:off x="10039350" y="2543175"/>
            <a:ext cx="135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Credit stays with the FTM responsible for that age-band task.</a:t>
            </a:r>
          </a:p>
        </p:txBody>
      </p:sp>
      <p:sp>
        <p:nvSpPr>
          <p:cNvPr id="26" name="">
            <a:extLst xmlns:a="http://schemas.openxmlformats.org/drawingml/2006/main">
              <a:ext uri="{FF2B5EF4-FFF2-40B4-BE49-F238E27FC236}">
                <a16:creationId xmlns:a16="http://schemas.microsoft.com/office/drawing/2014/main" id="{B895614F-BFB6-4603-94A0-B3314E8E1633}"/>
              </a:ext>
            </a:extLst>
          </p:cNvPr>
          <p:cNvSpPr>
            <a:spLocks xmlns:a="http://schemas.openxmlformats.org/drawingml/2006/main" noGrp="1"/>
          </p:cNvSpPr>
          <p:nvPr/>
        </p:nvSpPr>
        <p:spPr>
          <a:xfrm xmlns:a="http://schemas.openxmlformats.org/drawingml/2006/main">
            <a:off x="9877425" y="3429000"/>
            <a:ext cx="1666875" cy="1428750"/>
          </a:xfrm>
          <a:prstGeom xmlns:a="http://schemas.openxmlformats.org/drawingml/2006/main" prst="roundRect">
            <a:avLst>
              <a:gd name="adj" fmla="val 10667"/>
            </a:avLst>
          </a:prstGeom>
          <a:solidFill xmlns:a="http://schemas.openxmlformats.org/drawingml/2006/main">
            <a:srgbClr val="FFF2E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8800580-C10F-4E5E-8929-987BAD0FA0B1}"/>
              </a:ext>
            </a:extLst>
          </p:cNvPr>
          <p:cNvSpPr>
            <a:spLocks xmlns:a="http://schemas.openxmlformats.org/drawingml/2006/main" noGrp="1"/>
          </p:cNvSpPr>
          <p:nvPr/>
        </p:nvSpPr>
        <p:spPr>
          <a:xfrm xmlns:a="http://schemas.openxmlformats.org/drawingml/2006/main">
            <a:off x="10048875" y="3724275"/>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Current caseload</a:t>
            </a:r>
          </a:p>
        </p:txBody>
      </p:sp>
      <p:sp>
        <p:nvSpPr>
          <p:cNvPr id="28" name="">
            <a:extLst xmlns:a="http://schemas.openxmlformats.org/drawingml/2006/main">
              <a:ext uri="{FF2B5EF4-FFF2-40B4-BE49-F238E27FC236}">
                <a16:creationId xmlns:a16="http://schemas.microsoft.com/office/drawing/2014/main" id="{6BD60D5C-9E65-4F2A-8F2B-F39DE43AFC6A}"/>
              </a:ext>
            </a:extLst>
          </p:cNvPr>
          <p:cNvSpPr>
            <a:spLocks xmlns:a="http://schemas.openxmlformats.org/drawingml/2006/main" noGrp="1"/>
          </p:cNvSpPr>
          <p:nvPr/>
        </p:nvSpPr>
        <p:spPr>
          <a:xfrm xmlns:a="http://schemas.openxmlformats.org/drawingml/2006/main">
            <a:off x="10039350" y="4219575"/>
            <a:ext cx="135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Shows current-stage work under the participant’s current FTM.</a:t>
            </a:r>
          </a:p>
        </p:txBody>
      </p:sp>
      <p:sp>
        <p:nvSpPr>
          <p:cNvPr id="29" name="">
            <a:extLst xmlns:a="http://schemas.openxmlformats.org/drawingml/2006/main">
              <a:ext uri="{FF2B5EF4-FFF2-40B4-BE49-F238E27FC236}">
                <a16:creationId xmlns:a16="http://schemas.microsoft.com/office/drawing/2014/main" id="{241F46F3-8FF4-43FA-9F62-B86703CB2CB3}"/>
              </a:ext>
            </a:extLst>
          </p:cNvPr>
          <p:cNvSpPr>
            <a:spLocks xmlns:a="http://schemas.openxmlformats.org/drawingml/2006/main" noGrp="1"/>
          </p:cNvSpPr>
          <p:nvPr/>
        </p:nvSpPr>
        <p:spPr>
          <a:xfrm xmlns:a="http://schemas.openxmlformats.org/drawingml/2006/main">
            <a:off x="666750" y="5410200"/>
            <a:ext cx="10877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0B1F33"/>
                </a:solidFill>
                <a:latin typeface="Helvetica Neue"/>
                <a:ea typeface="Helvetica Neue"/>
                <a:cs typeface="Helvetica Neue"/>
              </a:defRPr>
            </a:pPr>
            <a:r>
              <a:rPr sz="1800" b="1">
                <a:solidFill>
                  <a:srgbClr val="0B1F33"/>
                </a:solidFill>
                <a:latin typeface="Helvetica Neue"/>
                <a:ea typeface="Helvetica Neue"/>
                <a:cs typeface="Helvetica Neue"/>
              </a:rPr>
              <a:t>Core grain: Participant ID × Cohort × IPA age band × Task</a:t>
            </a:r>
          </a:p>
        </p:txBody>
      </p:sp>
    </p:spTree>
    <p:extLst>
      <p:ext uri="{BB962C8B-B14F-4D97-AF65-F5344CB8AC3E}">
        <p14:creationId xmlns:p14="http://schemas.microsoft.com/office/powerpoint/2010/main" val="5735793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EEA8F2E-61B3-4265-AA85-E81C6E29ACCD}"/>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F33"/>
                </a:solidFill>
                <a:latin typeface="Helvetica Neue"/>
                <a:ea typeface="Helvetica Neue"/>
                <a:cs typeface="Helvetica Neue"/>
              </a:defRPr>
            </a:pPr>
            <a:r>
              <a:rPr sz="2550" b="1">
                <a:solidFill>
                  <a:srgbClr val="0B1F33"/>
                </a:solidFill>
                <a:latin typeface="Helvetica Neue"/>
                <a:ea typeface="Helvetica Neue"/>
                <a:cs typeface="Helvetica Neue"/>
              </a:rPr>
              <a:t>Calendly matching prioritizes the child—not the booking text</a:t>
            </a:r>
          </a:p>
        </p:txBody>
      </p:sp>
      <p:sp>
        <p:nvSpPr>
          <p:cNvPr id="2" name="">
            <a:extLst xmlns:a="http://schemas.openxmlformats.org/drawingml/2006/main">
              <a:ext uri="{FF2B5EF4-FFF2-40B4-BE49-F238E27FC236}">
                <a16:creationId xmlns:a16="http://schemas.microsoft.com/office/drawing/2014/main" id="{27CFBFB8-D979-46FA-9B6D-25B55CE50AEF}"/>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298C9FF5-22B1-4499-9DBC-D36D39B04C4C}"/>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2ABE5610-D7D9-4333-88EE-C0FB9B066C53}"/>
              </a:ext>
            </a:extLst>
          </p:cNvPr>
          <p:cNvSpPr>
            <a:spLocks xmlns:a="http://schemas.openxmlformats.org/drawingml/2006/main" noGrp="1"/>
          </p:cNvSpPr>
          <p:nvPr/>
        </p:nvSpPr>
        <p:spPr>
          <a:xfrm xmlns:a="http://schemas.openxmlformats.org/drawingml/2006/main">
            <a:off x="685800" y="13525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78C8C"/>
                </a:solidFill>
                <a:latin typeface="Helvetica Neue"/>
                <a:ea typeface="Helvetica Neue"/>
                <a:cs typeface="Helvetica Neue"/>
              </a:defRPr>
            </a:pPr>
            <a:r>
              <a:rPr sz="1875" b="1">
                <a:solidFill>
                  <a:srgbClr val="178C8C"/>
                </a:solidFill>
                <a:latin typeface="Helvetica Neue"/>
                <a:ea typeface="Helvetica Neue"/>
                <a:cs typeface="Helvetica Neue"/>
              </a:rPr>
              <a:t>Matching hierarchy</a:t>
            </a:r>
          </a:p>
        </p:txBody>
      </p:sp>
      <p:sp>
        <p:nvSpPr>
          <p:cNvPr id="5" name="">
            <a:extLst xmlns:a="http://schemas.openxmlformats.org/drawingml/2006/main">
              <a:ext uri="{FF2B5EF4-FFF2-40B4-BE49-F238E27FC236}">
                <a16:creationId xmlns:a16="http://schemas.microsoft.com/office/drawing/2014/main" id="{D9BA2EF2-BB47-4B35-90D7-D30E28B39A23}"/>
              </a:ext>
            </a:extLst>
          </p:cNvPr>
          <p:cNvSpPr>
            <a:spLocks xmlns:a="http://schemas.openxmlformats.org/drawingml/2006/main" noGrp="1"/>
          </p:cNvSpPr>
          <p:nvPr/>
        </p:nvSpPr>
        <p:spPr>
          <a:xfrm xmlns:a="http://schemas.openxmlformats.org/drawingml/2006/main">
            <a:off x="704850" y="1866900"/>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F013688-A27D-4A49-B85A-8A1D1B3803E5}"/>
              </a:ext>
            </a:extLst>
          </p:cNvPr>
          <p:cNvSpPr>
            <a:spLocks xmlns:a="http://schemas.openxmlformats.org/drawingml/2006/main" noGrp="1"/>
          </p:cNvSpPr>
          <p:nvPr/>
        </p:nvSpPr>
        <p:spPr>
          <a:xfrm xmlns:a="http://schemas.openxmlformats.org/drawingml/2006/main">
            <a:off x="704850" y="1905000"/>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a:t>
            </a:r>
          </a:p>
        </p:txBody>
      </p:sp>
      <p:sp>
        <p:nvSpPr>
          <p:cNvPr id="7" name="">
            <a:extLst xmlns:a="http://schemas.openxmlformats.org/drawingml/2006/main">
              <a:ext uri="{FF2B5EF4-FFF2-40B4-BE49-F238E27FC236}">
                <a16:creationId xmlns:a16="http://schemas.microsoft.com/office/drawing/2014/main" id="{8C5FCB09-42F4-4498-8493-A7027E605D80}"/>
              </a:ext>
            </a:extLst>
          </p:cNvPr>
          <p:cNvSpPr>
            <a:spLocks xmlns:a="http://schemas.openxmlformats.org/drawingml/2006/main" noGrp="1"/>
          </p:cNvSpPr>
          <p:nvPr/>
        </p:nvSpPr>
        <p:spPr>
          <a:xfrm xmlns:a="http://schemas.openxmlformats.org/drawingml/2006/main">
            <a:off x="1333500" y="1866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Extract participant IDs</a:t>
            </a:r>
          </a:p>
        </p:txBody>
      </p:sp>
      <p:sp>
        <p:nvSpPr>
          <p:cNvPr id="8" name="">
            <a:extLst xmlns:a="http://schemas.openxmlformats.org/drawingml/2006/main">
              <a:ext uri="{FF2B5EF4-FFF2-40B4-BE49-F238E27FC236}">
                <a16:creationId xmlns:a16="http://schemas.microsoft.com/office/drawing/2014/main" id="{97526FD6-D827-40F3-8907-EC99F32603E1}"/>
              </a:ext>
            </a:extLst>
          </p:cNvPr>
          <p:cNvSpPr>
            <a:spLocks xmlns:a="http://schemas.openxmlformats.org/drawingml/2006/main" noGrp="1"/>
          </p:cNvSpPr>
          <p:nvPr/>
        </p:nvSpPr>
        <p:spPr>
          <a:xfrm xmlns:a="http://schemas.openxmlformats.org/drawingml/2006/main">
            <a:off x="1333500" y="21907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Parse cleaned Meeting Notes Plain and normalize ID formats.</a:t>
            </a:r>
          </a:p>
        </p:txBody>
      </p:sp>
      <p:sp>
        <p:nvSpPr>
          <p:cNvPr id="9" name="">
            <a:extLst xmlns:a="http://schemas.openxmlformats.org/drawingml/2006/main">
              <a:ext uri="{FF2B5EF4-FFF2-40B4-BE49-F238E27FC236}">
                <a16:creationId xmlns:a16="http://schemas.microsoft.com/office/drawing/2014/main" id="{37EB658E-C8F2-4C35-92B7-CF4333C56BCB}"/>
              </a:ext>
            </a:extLst>
          </p:cNvPr>
          <p:cNvSpPr>
            <a:spLocks xmlns:a="http://schemas.openxmlformats.org/drawingml/2006/main" noGrp="1"/>
          </p:cNvSpPr>
          <p:nvPr/>
        </p:nvSpPr>
        <p:spPr>
          <a:xfrm xmlns:a="http://schemas.openxmlformats.org/drawingml/2006/main">
            <a:off x="704850" y="2867025"/>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6B9C3F3-828C-4AF2-8AF9-90D6103F8A05}"/>
              </a:ext>
            </a:extLst>
          </p:cNvPr>
          <p:cNvSpPr>
            <a:spLocks xmlns:a="http://schemas.openxmlformats.org/drawingml/2006/main" noGrp="1"/>
          </p:cNvSpPr>
          <p:nvPr/>
        </p:nvSpPr>
        <p:spPr>
          <a:xfrm xmlns:a="http://schemas.openxmlformats.org/drawingml/2006/main">
            <a:off x="704850" y="29051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a:t>
            </a:r>
          </a:p>
        </p:txBody>
      </p:sp>
      <p:sp>
        <p:nvSpPr>
          <p:cNvPr id="11" name="">
            <a:extLst xmlns:a="http://schemas.openxmlformats.org/drawingml/2006/main">
              <a:ext uri="{FF2B5EF4-FFF2-40B4-BE49-F238E27FC236}">
                <a16:creationId xmlns:a16="http://schemas.microsoft.com/office/drawing/2014/main" id="{365B94B4-F2A6-4DAA-A745-2A20A5415DC5}"/>
              </a:ext>
            </a:extLst>
          </p:cNvPr>
          <p:cNvSpPr>
            <a:spLocks xmlns:a="http://schemas.openxmlformats.org/drawingml/2006/main" noGrp="1"/>
          </p:cNvSpPr>
          <p:nvPr/>
        </p:nvSpPr>
        <p:spPr>
          <a:xfrm xmlns:a="http://schemas.openxmlformats.org/drawingml/2006/main">
            <a:off x="1333500" y="2867025"/>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Verify the child</a:t>
            </a:r>
          </a:p>
        </p:txBody>
      </p:sp>
      <p:sp>
        <p:nvSpPr>
          <p:cNvPr id="12" name="">
            <a:extLst xmlns:a="http://schemas.openxmlformats.org/drawingml/2006/main">
              <a:ext uri="{FF2B5EF4-FFF2-40B4-BE49-F238E27FC236}">
                <a16:creationId xmlns:a16="http://schemas.microsoft.com/office/drawing/2014/main" id="{A73F9B22-676E-4BEB-9F48-44ADBAEA1F58}"/>
              </a:ext>
            </a:extLst>
          </p:cNvPr>
          <p:cNvSpPr>
            <a:spLocks xmlns:a="http://schemas.openxmlformats.org/drawingml/2006/main" noGrp="1"/>
          </p:cNvSpPr>
          <p:nvPr/>
        </p:nvSpPr>
        <p:spPr>
          <a:xfrm xmlns:a="http://schemas.openxmlformats.org/drawingml/2006/main">
            <a:off x="1333500" y="31908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Use exact cleaned child first and last name as the primary safeguard.</a:t>
            </a:r>
          </a:p>
        </p:txBody>
      </p:sp>
      <p:sp>
        <p:nvSpPr>
          <p:cNvPr id="13" name="">
            <a:extLst xmlns:a="http://schemas.openxmlformats.org/drawingml/2006/main">
              <a:ext uri="{FF2B5EF4-FFF2-40B4-BE49-F238E27FC236}">
                <a16:creationId xmlns:a16="http://schemas.microsoft.com/office/drawing/2014/main" id="{B74810AA-5623-4C4E-BE7A-95F79E3D6533}"/>
              </a:ext>
            </a:extLst>
          </p:cNvPr>
          <p:cNvSpPr>
            <a:spLocks xmlns:a="http://schemas.openxmlformats.org/drawingml/2006/main" noGrp="1"/>
          </p:cNvSpPr>
          <p:nvPr/>
        </p:nvSpPr>
        <p:spPr>
          <a:xfrm xmlns:a="http://schemas.openxmlformats.org/drawingml/2006/main">
            <a:off x="704850" y="3867150"/>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96E41A5-69FD-49F6-9977-4BEC6B6C8294}"/>
              </a:ext>
            </a:extLst>
          </p:cNvPr>
          <p:cNvSpPr>
            <a:spLocks xmlns:a="http://schemas.openxmlformats.org/drawingml/2006/main" noGrp="1"/>
          </p:cNvSpPr>
          <p:nvPr/>
        </p:nvSpPr>
        <p:spPr>
          <a:xfrm xmlns:a="http://schemas.openxmlformats.org/drawingml/2006/main">
            <a:off x="704850" y="3905250"/>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a:t>
            </a:r>
          </a:p>
        </p:txBody>
      </p:sp>
      <p:sp>
        <p:nvSpPr>
          <p:cNvPr id="15" name="">
            <a:extLst xmlns:a="http://schemas.openxmlformats.org/drawingml/2006/main">
              <a:ext uri="{FF2B5EF4-FFF2-40B4-BE49-F238E27FC236}">
                <a16:creationId xmlns:a16="http://schemas.microsoft.com/office/drawing/2014/main" id="{4725FF27-D2EC-4DA3-99D4-0178A15D8C0A}"/>
              </a:ext>
            </a:extLst>
          </p:cNvPr>
          <p:cNvSpPr>
            <a:spLocks xmlns:a="http://schemas.openxmlformats.org/drawingml/2006/main" noGrp="1"/>
          </p:cNvSpPr>
          <p:nvPr/>
        </p:nvSpPr>
        <p:spPr>
          <a:xfrm xmlns:a="http://schemas.openxmlformats.org/drawingml/2006/main">
            <a:off x="1333500" y="38671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Use the cohort crosswalk</a:t>
            </a:r>
          </a:p>
        </p:txBody>
      </p:sp>
      <p:sp>
        <p:nvSpPr>
          <p:cNvPr id="16" name="">
            <a:extLst xmlns:a="http://schemas.openxmlformats.org/drawingml/2006/main">
              <a:ext uri="{FF2B5EF4-FFF2-40B4-BE49-F238E27FC236}">
                <a16:creationId xmlns:a16="http://schemas.microsoft.com/office/drawing/2014/main" id="{F2813BE7-2C11-4D32-A48A-2BBFCAA2C2D9}"/>
              </a:ext>
            </a:extLst>
          </p:cNvPr>
          <p:cNvSpPr>
            <a:spLocks xmlns:a="http://schemas.openxmlformats.org/drawingml/2006/main" noGrp="1"/>
          </p:cNvSpPr>
          <p:nvPr/>
        </p:nvSpPr>
        <p:spPr>
          <a:xfrm xmlns:a="http://schemas.openxmlformats.org/drawingml/2006/main">
            <a:off x="1333500" y="4191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Map mother and child IDs through CHARM_Cohort_List.xlsx.</a:t>
            </a:r>
          </a:p>
        </p:txBody>
      </p:sp>
      <p:sp>
        <p:nvSpPr>
          <p:cNvPr id="17" name="">
            <a:extLst xmlns:a="http://schemas.openxmlformats.org/drawingml/2006/main">
              <a:ext uri="{FF2B5EF4-FFF2-40B4-BE49-F238E27FC236}">
                <a16:creationId xmlns:a16="http://schemas.microsoft.com/office/drawing/2014/main" id="{CCF97BEA-8B53-4D4A-9049-DFB3BB0A1870}"/>
              </a:ext>
            </a:extLst>
          </p:cNvPr>
          <p:cNvSpPr>
            <a:spLocks xmlns:a="http://schemas.openxmlformats.org/drawingml/2006/main" noGrp="1"/>
          </p:cNvSpPr>
          <p:nvPr/>
        </p:nvSpPr>
        <p:spPr>
          <a:xfrm xmlns:a="http://schemas.openxmlformats.org/drawingml/2006/main">
            <a:off x="704850" y="4867275"/>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C0B6604-9629-4A04-9831-C7C2D6416A2D}"/>
              </a:ext>
            </a:extLst>
          </p:cNvPr>
          <p:cNvSpPr>
            <a:spLocks xmlns:a="http://schemas.openxmlformats.org/drawingml/2006/main" noGrp="1"/>
          </p:cNvSpPr>
          <p:nvPr/>
        </p:nvSpPr>
        <p:spPr>
          <a:xfrm xmlns:a="http://schemas.openxmlformats.org/drawingml/2006/main">
            <a:off x="704850" y="490537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D</a:t>
            </a:r>
          </a:p>
        </p:txBody>
      </p:sp>
      <p:sp>
        <p:nvSpPr>
          <p:cNvPr id="19" name="">
            <a:extLst xmlns:a="http://schemas.openxmlformats.org/drawingml/2006/main">
              <a:ext uri="{FF2B5EF4-FFF2-40B4-BE49-F238E27FC236}">
                <a16:creationId xmlns:a16="http://schemas.microsoft.com/office/drawing/2014/main" id="{335EBE20-4A87-46E6-9CC3-F03D77FA4DED}"/>
              </a:ext>
            </a:extLst>
          </p:cNvPr>
          <p:cNvSpPr>
            <a:spLocks xmlns:a="http://schemas.openxmlformats.org/drawingml/2006/main" noGrp="1"/>
          </p:cNvSpPr>
          <p:nvPr/>
        </p:nvSpPr>
        <p:spPr>
          <a:xfrm xmlns:a="http://schemas.openxmlformats.org/drawingml/2006/main">
            <a:off x="1333500" y="4867275"/>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Normalize age</a:t>
            </a:r>
          </a:p>
        </p:txBody>
      </p:sp>
      <p:sp>
        <p:nvSpPr>
          <p:cNvPr id="20" name="">
            <a:extLst xmlns:a="http://schemas.openxmlformats.org/drawingml/2006/main">
              <a:ext uri="{FF2B5EF4-FFF2-40B4-BE49-F238E27FC236}">
                <a16:creationId xmlns:a16="http://schemas.microsoft.com/office/drawing/2014/main" id="{E561B1D8-BC0D-4655-8C97-BEEC74F5D415}"/>
              </a:ext>
            </a:extLst>
          </p:cNvPr>
          <p:cNvSpPr>
            <a:spLocks xmlns:a="http://schemas.openxmlformats.org/drawingml/2006/main" noGrp="1"/>
          </p:cNvSpPr>
          <p:nvPr/>
        </p:nvSpPr>
        <p:spPr>
          <a:xfrm xmlns:a="http://schemas.openxmlformats.org/drawingml/2006/main">
            <a:off x="1333500" y="5191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Convert Child Age to years, then assign the applicable IPA age band.</a:t>
            </a:r>
          </a:p>
        </p:txBody>
      </p:sp>
      <p:sp>
        <p:nvSpPr>
          <p:cNvPr id="21" name="">
            <a:extLst xmlns:a="http://schemas.openxmlformats.org/drawingml/2006/main">
              <a:ext uri="{FF2B5EF4-FFF2-40B4-BE49-F238E27FC236}">
                <a16:creationId xmlns:a16="http://schemas.microsoft.com/office/drawing/2014/main" id="{6CD3EE7A-9FF6-467C-B772-B94CCA1BF6FA}"/>
              </a:ext>
            </a:extLst>
          </p:cNvPr>
          <p:cNvSpPr>
            <a:spLocks xmlns:a="http://schemas.openxmlformats.org/drawingml/2006/main" noGrp="1"/>
          </p:cNvSpPr>
          <p:nvPr/>
        </p:nvSpPr>
        <p:spPr>
          <a:xfrm xmlns:a="http://schemas.openxmlformats.org/drawingml/2006/main">
            <a:off x="5810250" y="1400175"/>
            <a:ext cx="5238750" cy="2038350"/>
          </a:xfrm>
          <a:prstGeom xmlns:a="http://schemas.openxmlformats.org/drawingml/2006/main" prst="roundRect">
            <a:avLst>
              <a:gd name="adj" fmla="val 8411"/>
            </a:avLst>
          </a:prstGeom>
          <a:solidFill xmlns:a="http://schemas.openxmlformats.org/drawingml/2006/main">
            <a:srgbClr val="EDF7F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F743567-40E0-4A6D-A700-DFC1683B38C2}"/>
              </a:ext>
            </a:extLst>
          </p:cNvPr>
          <p:cNvSpPr>
            <a:spLocks xmlns:a="http://schemas.openxmlformats.org/drawingml/2006/main" noGrp="1"/>
          </p:cNvSpPr>
          <p:nvPr/>
        </p:nvSpPr>
        <p:spPr>
          <a:xfrm xmlns:a="http://schemas.openxmlformats.org/drawingml/2006/main">
            <a:off x="6076950" y="1638300"/>
            <a:ext cx="1762125" cy="323850"/>
          </a:xfrm>
          <a:prstGeom xmlns:a="http://schemas.openxmlformats.org/drawingml/2006/main" prst="roundRect">
            <a:avLst>
              <a:gd name="adj" fmla="val 50000"/>
            </a:avLst>
          </a:prstGeom>
          <a:solidFill xmlns:a="http://schemas.openxmlformats.org/drawingml/2006/main">
            <a:srgbClr val="CFEAE7"/>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178C8C"/>
                </a:solidFill>
                <a:latin typeface="Helvetica Neue"/>
                <a:ea typeface="Helvetica Neue"/>
                <a:cs typeface="Helvetica Neue"/>
              </a:defRPr>
            </a:pPr>
            <a:r>
              <a:rPr sz="1125" b="1">
                <a:solidFill>
                  <a:srgbClr val="178C8C"/>
                </a:solidFill>
                <a:latin typeface="Helvetica Neue"/>
                <a:ea typeface="Helvetica Neue"/>
                <a:cs typeface="Helvetica Neue"/>
              </a:rPr>
              <a:t>MULTIPLE CHILD IDs</a:t>
            </a:r>
          </a:p>
        </p:txBody>
      </p:sp>
      <p:sp>
        <p:nvSpPr>
          <p:cNvPr id="23" name="">
            <a:extLst xmlns:a="http://schemas.openxmlformats.org/drawingml/2006/main">
              <a:ext uri="{FF2B5EF4-FFF2-40B4-BE49-F238E27FC236}">
                <a16:creationId xmlns:a16="http://schemas.microsoft.com/office/drawing/2014/main" id="{FD707081-32F1-47D5-9590-7AF5D59B364A}"/>
              </a:ext>
            </a:extLst>
          </p:cNvPr>
          <p:cNvSpPr>
            <a:spLocks xmlns:a="http://schemas.openxmlformats.org/drawingml/2006/main" noGrp="1"/>
          </p:cNvSpPr>
          <p:nvPr/>
        </p:nvSpPr>
        <p:spPr>
          <a:xfrm xmlns:a="http://schemas.openxmlformats.org/drawingml/2006/main">
            <a:off x="6076950" y="21526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VDW899-01-A   VDW899-01-B</a:t>
            </a:r>
          </a:p>
        </p:txBody>
      </p:sp>
      <p:sp>
        <p:nvSpPr>
          <p:cNvPr id="24" name="">
            <a:extLst xmlns:a="http://schemas.openxmlformats.org/drawingml/2006/main">
              <a:ext uri="{FF2B5EF4-FFF2-40B4-BE49-F238E27FC236}">
                <a16:creationId xmlns:a16="http://schemas.microsoft.com/office/drawing/2014/main" id="{9246D093-E5F4-43A7-8874-950FF43BB883}"/>
              </a:ext>
            </a:extLst>
          </p:cNvPr>
          <p:cNvSpPr>
            <a:spLocks xmlns:a="http://schemas.openxmlformats.org/drawingml/2006/main" noGrp="1"/>
          </p:cNvSpPr>
          <p:nvPr/>
        </p:nvSpPr>
        <p:spPr>
          <a:xfrm xmlns:a="http://schemas.openxmlformats.org/drawingml/2006/main">
            <a:off x="6076950" y="2676525"/>
            <a:ext cx="885825" cy="285750"/>
          </a:xfrm>
          <a:prstGeom xmlns:a="http://schemas.openxmlformats.org/drawingml/2006/main" prst="rightArrow">
            <a:avLst/>
          </a:prstGeom>
          <a:solidFill xmlns:a="http://schemas.openxmlformats.org/drawingml/2006/main">
            <a:srgbClr val="178C8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9C7741E-EDC9-4AF7-A101-29B97DDAF5F3}"/>
              </a:ext>
            </a:extLst>
          </p:cNvPr>
          <p:cNvSpPr>
            <a:spLocks xmlns:a="http://schemas.openxmlformats.org/drawingml/2006/main" noGrp="1"/>
          </p:cNvSpPr>
          <p:nvPr/>
        </p:nvSpPr>
        <p:spPr>
          <a:xfrm xmlns:a="http://schemas.openxmlformats.org/drawingml/2006/main">
            <a:off x="7143750" y="26860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Create two booking rows</a:t>
            </a:r>
          </a:p>
        </p:txBody>
      </p:sp>
      <p:sp>
        <p:nvSpPr>
          <p:cNvPr id="26" name="">
            <a:extLst xmlns:a="http://schemas.openxmlformats.org/drawingml/2006/main">
              <a:ext uri="{FF2B5EF4-FFF2-40B4-BE49-F238E27FC236}">
                <a16:creationId xmlns:a16="http://schemas.microsoft.com/office/drawing/2014/main" id="{F0769D5E-0A2B-43F0-878B-16AE83A7C956}"/>
              </a:ext>
            </a:extLst>
          </p:cNvPr>
          <p:cNvSpPr>
            <a:spLocks xmlns:a="http://schemas.openxmlformats.org/drawingml/2006/main" noGrp="1"/>
          </p:cNvSpPr>
          <p:nvPr/>
        </p:nvSpPr>
        <p:spPr>
          <a:xfrm xmlns:a="http://schemas.openxmlformats.org/drawingml/2006/main">
            <a:off x="6076950" y="30670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5E6C78"/>
                </a:solidFill>
                <a:latin typeface="Helvetica Neue"/>
                <a:ea typeface="Helvetica Neue"/>
                <a:cs typeface="Helvetica Neue"/>
              </a:defRPr>
            </a:pPr>
            <a:r>
              <a:rPr sz="1275" b="0">
                <a:solidFill>
                  <a:srgbClr val="5E6C78"/>
                </a:solidFill>
                <a:latin typeface="Helvetica Neue"/>
                <a:ea typeface="Helvetica Neue"/>
                <a:cs typeface="Helvetica Neue"/>
              </a:rPr>
              <a:t>Same Calendly content; one row per child ID.</a:t>
            </a:r>
          </a:p>
        </p:txBody>
      </p:sp>
      <p:sp>
        <p:nvSpPr>
          <p:cNvPr id="27" name="">
            <a:extLst xmlns:a="http://schemas.openxmlformats.org/drawingml/2006/main">
              <a:ext uri="{FF2B5EF4-FFF2-40B4-BE49-F238E27FC236}">
                <a16:creationId xmlns:a16="http://schemas.microsoft.com/office/drawing/2014/main" id="{6B37DC98-BF8A-495C-8A78-DC3133AFC3D0}"/>
              </a:ext>
            </a:extLst>
          </p:cNvPr>
          <p:cNvSpPr>
            <a:spLocks xmlns:a="http://schemas.openxmlformats.org/drawingml/2006/main" noGrp="1"/>
          </p:cNvSpPr>
          <p:nvPr/>
        </p:nvSpPr>
        <p:spPr>
          <a:xfrm xmlns:a="http://schemas.openxmlformats.org/drawingml/2006/main">
            <a:off x="5810250" y="3695700"/>
            <a:ext cx="5238750" cy="2038350"/>
          </a:xfrm>
          <a:prstGeom xmlns:a="http://schemas.openxmlformats.org/drawingml/2006/main" prst="roundRect">
            <a:avLst>
              <a:gd name="adj" fmla="val 8411"/>
            </a:avLst>
          </a:prstGeom>
          <a:solidFill xmlns:a="http://schemas.openxmlformats.org/drawingml/2006/main">
            <a:srgbClr val="FFF3E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BDE0A49-8932-42A1-BCA6-421C4FAEF71C}"/>
              </a:ext>
            </a:extLst>
          </p:cNvPr>
          <p:cNvSpPr>
            <a:spLocks xmlns:a="http://schemas.openxmlformats.org/drawingml/2006/main" noGrp="1"/>
          </p:cNvSpPr>
          <p:nvPr/>
        </p:nvSpPr>
        <p:spPr>
          <a:xfrm xmlns:a="http://schemas.openxmlformats.org/drawingml/2006/main">
            <a:off x="6076950" y="3933825"/>
            <a:ext cx="1752600" cy="323850"/>
          </a:xfrm>
          <a:prstGeom xmlns:a="http://schemas.openxmlformats.org/drawingml/2006/main" prst="roundRect">
            <a:avLst>
              <a:gd name="adj" fmla="val 50000"/>
            </a:avLst>
          </a:prstGeom>
          <a:solidFill xmlns:a="http://schemas.openxmlformats.org/drawingml/2006/main">
            <a:srgbClr val="FADDD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E76F51"/>
                </a:solidFill>
                <a:latin typeface="Helvetica Neue"/>
                <a:ea typeface="Helvetica Neue"/>
                <a:cs typeface="Helvetica Neue"/>
              </a:defRPr>
            </a:pPr>
            <a:r>
              <a:rPr sz="1125" b="1">
                <a:solidFill>
                  <a:srgbClr val="E76F51"/>
                </a:solidFill>
                <a:latin typeface="Helvetica Neue"/>
                <a:ea typeface="Helvetica Neue"/>
                <a:cs typeface="Helvetica Neue"/>
              </a:rPr>
              <a:t>MOTHER CUSTOM ID</a:t>
            </a:r>
          </a:p>
        </p:txBody>
      </p:sp>
      <p:sp>
        <p:nvSpPr>
          <p:cNvPr id="29" name="">
            <a:extLst xmlns:a="http://schemas.openxmlformats.org/drawingml/2006/main">
              <a:ext uri="{FF2B5EF4-FFF2-40B4-BE49-F238E27FC236}">
                <a16:creationId xmlns:a16="http://schemas.microsoft.com/office/drawing/2014/main" id="{DFA41A39-D34A-4198-A0DE-961225EB2991}"/>
              </a:ext>
            </a:extLst>
          </p:cNvPr>
          <p:cNvSpPr>
            <a:spLocks xmlns:a="http://schemas.openxmlformats.org/drawingml/2006/main" noGrp="1"/>
          </p:cNvSpPr>
          <p:nvPr/>
        </p:nvSpPr>
        <p:spPr>
          <a:xfrm xmlns:a="http://schemas.openxmlformats.org/drawingml/2006/main">
            <a:off x="6076950" y="445770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Do not match on the mother ID alone</a:t>
            </a:r>
          </a:p>
        </p:txBody>
      </p:sp>
      <p:sp>
        <p:nvSpPr>
          <p:cNvPr id="30" name="">
            <a:extLst xmlns:a="http://schemas.openxmlformats.org/drawingml/2006/main">
              <a:ext uri="{FF2B5EF4-FFF2-40B4-BE49-F238E27FC236}">
                <a16:creationId xmlns:a16="http://schemas.microsoft.com/office/drawing/2014/main" id="{432A951C-7D5C-42A2-AF01-BBA3585B8D51}"/>
              </a:ext>
            </a:extLst>
          </p:cNvPr>
          <p:cNvSpPr>
            <a:spLocks xmlns:a="http://schemas.openxmlformats.org/drawingml/2006/main" noGrp="1"/>
          </p:cNvSpPr>
          <p:nvPr/>
        </p:nvSpPr>
        <p:spPr>
          <a:xfrm xmlns:a="http://schemas.openxmlformats.org/drawingml/2006/main">
            <a:off x="6076950" y="4943475"/>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5E6C78"/>
                </a:solidFill>
                <a:latin typeface="Helvetica Neue"/>
                <a:ea typeface="Helvetica Neue"/>
                <a:cs typeface="Helvetica Neue"/>
              </a:defRPr>
            </a:pPr>
            <a:r>
              <a:rPr sz="1275" b="0">
                <a:solidFill>
                  <a:srgbClr val="5E6C78"/>
                </a:solidFill>
                <a:latin typeface="Helvetica Neue"/>
                <a:ea typeface="Helvetica Neue"/>
                <a:cs typeface="Helvetica Neue"/>
              </a:rPr>
              <a:t>Require the child’s exact cleaned name before accepting the mapped child ID. This avoids assigning one mother’s booking to multiple children.</a:t>
            </a:r>
          </a:p>
        </p:txBody>
      </p:sp>
    </p:spTree>
    <p:extLst>
      <p:ext uri="{BB962C8B-B14F-4D97-AF65-F5344CB8AC3E}">
        <p14:creationId xmlns:p14="http://schemas.microsoft.com/office/powerpoint/2010/main" val="1831943569"/>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28FBAFC-65E1-49BB-B015-8A824B5DADFF}"/>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F33"/>
                </a:solidFill>
                <a:latin typeface="Helvetica Neue"/>
                <a:ea typeface="Helvetica Neue"/>
                <a:cs typeface="Helvetica Neue"/>
              </a:defRPr>
            </a:pPr>
            <a:r>
              <a:rPr sz="2550" b="1">
                <a:solidFill>
                  <a:srgbClr val="0B1F33"/>
                </a:solidFill>
                <a:latin typeface="Helvetica Neue"/>
                <a:ea typeface="Helvetica Neue"/>
                <a:cs typeface="Helvetica Neue"/>
              </a:rPr>
              <a:t>The latest booking within each age band determines IPA status</a:t>
            </a:r>
          </a:p>
        </p:txBody>
      </p:sp>
      <p:sp>
        <p:nvSpPr>
          <p:cNvPr id="2" name="">
            <a:extLst xmlns:a="http://schemas.openxmlformats.org/drawingml/2006/main">
              <a:ext uri="{FF2B5EF4-FFF2-40B4-BE49-F238E27FC236}">
                <a16:creationId xmlns:a16="http://schemas.microsoft.com/office/drawing/2014/main" id="{D8D0B5AE-7B00-4C1D-8AA7-C29B920EA67B}"/>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CAC71E17-4649-4F29-8940-CC05EB39EA6D}"/>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CFEEC697-6CBA-4BDA-9460-0C39E89E9B68}"/>
              </a:ext>
            </a:extLst>
          </p:cNvPr>
          <p:cNvSpPr>
            <a:spLocks xmlns:a="http://schemas.openxmlformats.org/drawingml/2006/main" noGrp="1"/>
          </p:cNvSpPr>
          <p:nvPr/>
        </p:nvSpPr>
        <p:spPr>
          <a:xfrm xmlns:a="http://schemas.openxmlformats.org/drawingml/2006/main">
            <a:off x="685800" y="12573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0">
                <a:solidFill>
                  <a:srgbClr val="5E6C78"/>
                </a:solidFill>
                <a:latin typeface="Helvetica Neue"/>
                <a:ea typeface="Helvetica Neue"/>
                <a:cs typeface="Helvetica Neue"/>
              </a:defRPr>
            </a:pPr>
            <a:r>
              <a:rPr sz="1800" b="0">
                <a:solidFill>
                  <a:srgbClr val="5E6C78"/>
                </a:solidFill>
                <a:latin typeface="Helvetica Neue"/>
                <a:ea typeface="Helvetica Neue"/>
                <a:cs typeface="Helvetica Neue"/>
              </a:rPr>
              <a:t>Records are grouped by participant and IPA age band—not participant alone.</a:t>
            </a:r>
          </a:p>
        </p:txBody>
      </p:sp>
      <p:sp>
        <p:nvSpPr>
          <p:cNvPr id="5" name="">
            <a:extLst xmlns:a="http://schemas.openxmlformats.org/drawingml/2006/main">
              <a:ext uri="{FF2B5EF4-FFF2-40B4-BE49-F238E27FC236}">
                <a16:creationId xmlns:a16="http://schemas.microsoft.com/office/drawing/2014/main" id="{5F17A58A-5423-476C-99DB-6A856C298559}"/>
              </a:ext>
            </a:extLst>
          </p:cNvPr>
          <p:cNvSpPr>
            <a:spLocks xmlns:a="http://schemas.openxmlformats.org/drawingml/2006/main" noGrp="1"/>
          </p:cNvSpPr>
          <p:nvPr/>
        </p:nvSpPr>
        <p:spPr>
          <a:xfrm xmlns:a="http://schemas.openxmlformats.org/drawingml/2006/main">
            <a:off x="685800" y="1847850"/>
            <a:ext cx="2762250" cy="323850"/>
          </a:xfrm>
          <a:prstGeom xmlns:a="http://schemas.openxmlformats.org/drawingml/2006/main" prst="roundRect">
            <a:avLst>
              <a:gd name="adj" fmla="val 50000"/>
            </a:avLst>
          </a:prstGeom>
          <a:solidFill xmlns:a="http://schemas.openxmlformats.org/drawingml/2006/main">
            <a:srgbClr val="E8EF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EXAMPLE: SAME CHILD + AGE BAND</a:t>
            </a:r>
          </a:p>
        </p:txBody>
      </p:sp>
      <p:sp>
        <p:nvSpPr>
          <p:cNvPr id="6" name="">
            <a:extLst xmlns:a="http://schemas.openxmlformats.org/drawingml/2006/main">
              <a:ext uri="{FF2B5EF4-FFF2-40B4-BE49-F238E27FC236}">
                <a16:creationId xmlns:a16="http://schemas.microsoft.com/office/drawing/2014/main" id="{7E2DC814-8EF6-43E4-BA26-A64D5B880A80}"/>
              </a:ext>
            </a:extLst>
          </p:cNvPr>
          <p:cNvSpPr>
            <a:spLocks xmlns:a="http://schemas.openxmlformats.org/drawingml/2006/main" noGrp="1"/>
          </p:cNvSpPr>
          <p:nvPr/>
        </p:nvSpPr>
        <p:spPr>
          <a:xfrm xmlns:a="http://schemas.openxmlformats.org/drawingml/2006/main">
            <a:off x="704850" y="2457450"/>
            <a:ext cx="278130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7" name="">
            <a:extLst xmlns:a="http://schemas.openxmlformats.org/drawingml/2006/main">
              <a:ext uri="{FF2B5EF4-FFF2-40B4-BE49-F238E27FC236}">
                <a16:creationId xmlns:a16="http://schemas.microsoft.com/office/drawing/2014/main" id="{4C3F669A-8DDC-4B64-9A0B-F0F781613190}"/>
              </a:ext>
            </a:extLst>
          </p:cNvPr>
          <p:cNvSpPr>
            <a:spLocks xmlns:a="http://schemas.openxmlformats.org/drawingml/2006/main" noGrp="1"/>
          </p:cNvSpPr>
          <p:nvPr/>
        </p:nvSpPr>
        <p:spPr>
          <a:xfrm xmlns:a="http://schemas.openxmlformats.org/drawingml/2006/main">
            <a:off x="933450" y="2676525"/>
            <a:ext cx="232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Earlier appointment</a:t>
            </a:r>
          </a:p>
        </p:txBody>
      </p:sp>
      <p:sp>
        <p:nvSpPr>
          <p:cNvPr id="8" name="">
            <a:extLst xmlns:a="http://schemas.openxmlformats.org/drawingml/2006/main">
              <a:ext uri="{FF2B5EF4-FFF2-40B4-BE49-F238E27FC236}">
                <a16:creationId xmlns:a16="http://schemas.microsoft.com/office/drawing/2014/main" id="{26C3D503-9115-4811-8B22-9980F0B0D24C}"/>
              </a:ext>
            </a:extLst>
          </p:cNvPr>
          <p:cNvSpPr>
            <a:spLocks xmlns:a="http://schemas.openxmlformats.org/drawingml/2006/main" noGrp="1"/>
          </p:cNvSpPr>
          <p:nvPr/>
        </p:nvSpPr>
        <p:spPr>
          <a:xfrm xmlns:a="http://schemas.openxmlformats.org/drawingml/2006/main">
            <a:off x="933450" y="3114675"/>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E76F51"/>
                </a:solidFill>
                <a:latin typeface="Helvetica Neue"/>
                <a:ea typeface="Helvetica Neue"/>
                <a:cs typeface="Helvetica Neue"/>
              </a:defRPr>
            </a:pPr>
            <a:r>
              <a:rPr sz="1725" b="1">
                <a:solidFill>
                  <a:srgbClr val="E76F51"/>
                </a:solidFill>
                <a:latin typeface="Helvetica Neue"/>
                <a:ea typeface="Helvetica Neue"/>
                <a:cs typeface="Helvetica Neue"/>
              </a:rPr>
              <a:t>Marked as No Show</a:t>
            </a:r>
          </a:p>
        </p:txBody>
      </p:sp>
      <p:sp>
        <p:nvSpPr>
          <p:cNvPr id="9" name="">
            <a:extLst xmlns:a="http://schemas.openxmlformats.org/drawingml/2006/main">
              <a:ext uri="{FF2B5EF4-FFF2-40B4-BE49-F238E27FC236}">
                <a16:creationId xmlns:a16="http://schemas.microsoft.com/office/drawing/2014/main" id="{3178B78A-89DD-4F25-ABBC-AD4E36FB76B3}"/>
              </a:ext>
            </a:extLst>
          </p:cNvPr>
          <p:cNvSpPr>
            <a:spLocks xmlns:a="http://schemas.openxmlformats.org/drawingml/2006/main" noGrp="1"/>
          </p:cNvSpPr>
          <p:nvPr/>
        </p:nvSpPr>
        <p:spPr>
          <a:xfrm xmlns:a="http://schemas.openxmlformats.org/drawingml/2006/main">
            <a:off x="933450" y="3486150"/>
            <a:ext cx="2324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May 12</a:t>
            </a:r>
          </a:p>
        </p:txBody>
      </p:sp>
      <p:sp>
        <p:nvSpPr>
          <p:cNvPr id="10" name="">
            <a:extLst xmlns:a="http://schemas.openxmlformats.org/drawingml/2006/main">
              <a:ext uri="{FF2B5EF4-FFF2-40B4-BE49-F238E27FC236}">
                <a16:creationId xmlns:a16="http://schemas.microsoft.com/office/drawing/2014/main" id="{09EEDFDD-B963-4294-B33F-CAA627977298}"/>
              </a:ext>
            </a:extLst>
          </p:cNvPr>
          <p:cNvSpPr>
            <a:spLocks xmlns:a="http://schemas.openxmlformats.org/drawingml/2006/main" noGrp="1"/>
          </p:cNvSpPr>
          <p:nvPr/>
        </p:nvSpPr>
        <p:spPr>
          <a:xfrm xmlns:a="http://schemas.openxmlformats.org/drawingml/2006/main">
            <a:off x="3800475" y="2962275"/>
            <a:ext cx="1181100" cy="285750"/>
          </a:xfrm>
          <a:prstGeom xmlns:a="http://schemas.openxmlformats.org/drawingml/2006/main" prst="rightArrow">
            <a:avLst/>
          </a:prstGeom>
          <a:solidFill xmlns:a="http://schemas.openxmlformats.org/drawingml/2006/main">
            <a:srgbClr val="178C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EC8C6B2-BA34-45F2-B334-1AE14A64DC74}"/>
              </a:ext>
            </a:extLst>
          </p:cNvPr>
          <p:cNvSpPr>
            <a:spLocks xmlns:a="http://schemas.openxmlformats.org/drawingml/2006/main" noGrp="1"/>
          </p:cNvSpPr>
          <p:nvPr/>
        </p:nvSpPr>
        <p:spPr>
          <a:xfrm xmlns:a="http://schemas.openxmlformats.org/drawingml/2006/main">
            <a:off x="5295900" y="2457450"/>
            <a:ext cx="278130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12" name="">
            <a:extLst xmlns:a="http://schemas.openxmlformats.org/drawingml/2006/main">
              <a:ext uri="{FF2B5EF4-FFF2-40B4-BE49-F238E27FC236}">
                <a16:creationId xmlns:a16="http://schemas.microsoft.com/office/drawing/2014/main" id="{A6110E99-FD7A-4822-9581-33DFBBA8EE5D}"/>
              </a:ext>
            </a:extLst>
          </p:cNvPr>
          <p:cNvSpPr>
            <a:spLocks xmlns:a="http://schemas.openxmlformats.org/drawingml/2006/main" noGrp="1"/>
          </p:cNvSpPr>
          <p:nvPr/>
        </p:nvSpPr>
        <p:spPr>
          <a:xfrm xmlns:a="http://schemas.openxmlformats.org/drawingml/2006/main">
            <a:off x="5524500" y="2676525"/>
            <a:ext cx="232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Latest appointment</a:t>
            </a:r>
          </a:p>
        </p:txBody>
      </p:sp>
      <p:sp>
        <p:nvSpPr>
          <p:cNvPr id="13" name="">
            <a:extLst xmlns:a="http://schemas.openxmlformats.org/drawingml/2006/main">
              <a:ext uri="{FF2B5EF4-FFF2-40B4-BE49-F238E27FC236}">
                <a16:creationId xmlns:a16="http://schemas.microsoft.com/office/drawing/2014/main" id="{DBC09CA6-4AF7-425D-AA34-03A24784DC9B}"/>
              </a:ext>
            </a:extLst>
          </p:cNvPr>
          <p:cNvSpPr>
            <a:spLocks xmlns:a="http://schemas.openxmlformats.org/drawingml/2006/main" noGrp="1"/>
          </p:cNvSpPr>
          <p:nvPr/>
        </p:nvSpPr>
        <p:spPr>
          <a:xfrm xmlns:a="http://schemas.openxmlformats.org/drawingml/2006/main">
            <a:off x="5524500" y="3114675"/>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2A9D63"/>
                </a:solidFill>
                <a:latin typeface="Helvetica Neue"/>
                <a:ea typeface="Helvetica Neue"/>
                <a:cs typeface="Helvetica Neue"/>
              </a:defRPr>
            </a:pPr>
            <a:r>
              <a:rPr sz="1725" b="1">
                <a:solidFill>
                  <a:srgbClr val="2A9D63"/>
                </a:solidFill>
                <a:latin typeface="Helvetica Neue"/>
                <a:ea typeface="Helvetica Neue"/>
                <a:cs typeface="Helvetica Neue"/>
              </a:rPr>
              <a:t>Completed</a:t>
            </a:r>
          </a:p>
        </p:txBody>
      </p:sp>
      <p:sp>
        <p:nvSpPr>
          <p:cNvPr id="14" name="">
            <a:extLst xmlns:a="http://schemas.openxmlformats.org/drawingml/2006/main">
              <a:ext uri="{FF2B5EF4-FFF2-40B4-BE49-F238E27FC236}">
                <a16:creationId xmlns:a16="http://schemas.microsoft.com/office/drawing/2014/main" id="{2C656A50-C0FF-4702-9987-28A57E1B17DF}"/>
              </a:ext>
            </a:extLst>
          </p:cNvPr>
          <p:cNvSpPr>
            <a:spLocks xmlns:a="http://schemas.openxmlformats.org/drawingml/2006/main" noGrp="1"/>
          </p:cNvSpPr>
          <p:nvPr/>
        </p:nvSpPr>
        <p:spPr>
          <a:xfrm xmlns:a="http://schemas.openxmlformats.org/drawingml/2006/main">
            <a:off x="5524500" y="3486150"/>
            <a:ext cx="2324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June 03</a:t>
            </a:r>
          </a:p>
        </p:txBody>
      </p:sp>
      <p:sp>
        <p:nvSpPr>
          <p:cNvPr id="15" name="">
            <a:extLst xmlns:a="http://schemas.openxmlformats.org/drawingml/2006/main">
              <a:ext uri="{FF2B5EF4-FFF2-40B4-BE49-F238E27FC236}">
                <a16:creationId xmlns:a16="http://schemas.microsoft.com/office/drawing/2014/main" id="{790CF008-AECA-4FC5-952A-EDF4DBB7B336}"/>
              </a:ext>
            </a:extLst>
          </p:cNvPr>
          <p:cNvSpPr>
            <a:spLocks xmlns:a="http://schemas.openxmlformats.org/drawingml/2006/main" noGrp="1"/>
          </p:cNvSpPr>
          <p:nvPr/>
        </p:nvSpPr>
        <p:spPr>
          <a:xfrm xmlns:a="http://schemas.openxmlformats.org/drawingml/2006/main">
            <a:off x="8391525" y="2962275"/>
            <a:ext cx="762000" cy="285750"/>
          </a:xfrm>
          <a:prstGeom xmlns:a="http://schemas.openxmlformats.org/drawingml/2006/main" prst="rightArrow">
            <a:avLst/>
          </a:prstGeom>
          <a:solidFill xmlns:a="http://schemas.openxmlformats.org/drawingml/2006/main">
            <a:srgbClr val="2A9D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213427A-3129-435F-A5DF-887E8D6AA379}"/>
              </a:ext>
            </a:extLst>
          </p:cNvPr>
          <p:cNvSpPr>
            <a:spLocks xmlns:a="http://schemas.openxmlformats.org/drawingml/2006/main" noGrp="1"/>
          </p:cNvSpPr>
          <p:nvPr/>
        </p:nvSpPr>
        <p:spPr>
          <a:xfrm xmlns:a="http://schemas.openxmlformats.org/drawingml/2006/main">
            <a:off x="9467850" y="2352675"/>
            <a:ext cx="2000250" cy="1562100"/>
          </a:xfrm>
          <a:prstGeom xmlns:a="http://schemas.openxmlformats.org/drawingml/2006/main" prst="roundRect">
            <a:avLst>
              <a:gd name="adj" fmla="val 10976"/>
            </a:avLst>
          </a:prstGeom>
          <a:solidFill xmlns:a="http://schemas.openxmlformats.org/drawingml/2006/main">
            <a:srgbClr val="DFF2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3FD61B5-36DC-45E3-B53D-C84EDFA0A94D}"/>
              </a:ext>
            </a:extLst>
          </p:cNvPr>
          <p:cNvSpPr>
            <a:spLocks xmlns:a="http://schemas.openxmlformats.org/drawingml/2006/main" noGrp="1"/>
          </p:cNvSpPr>
          <p:nvPr/>
        </p:nvSpPr>
        <p:spPr>
          <a:xfrm xmlns:a="http://schemas.openxmlformats.org/drawingml/2006/main">
            <a:off x="9686925" y="26098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Final IPA outcome</a:t>
            </a:r>
          </a:p>
        </p:txBody>
      </p:sp>
      <p:sp>
        <p:nvSpPr>
          <p:cNvPr id="18" name="">
            <a:extLst xmlns:a="http://schemas.openxmlformats.org/drawingml/2006/main">
              <a:ext uri="{FF2B5EF4-FFF2-40B4-BE49-F238E27FC236}">
                <a16:creationId xmlns:a16="http://schemas.microsoft.com/office/drawing/2014/main" id="{042A1FB5-5806-4CA7-8FD1-7A03A2FA5742}"/>
              </a:ext>
            </a:extLst>
          </p:cNvPr>
          <p:cNvSpPr>
            <a:spLocks xmlns:a="http://schemas.openxmlformats.org/drawingml/2006/main" noGrp="1"/>
          </p:cNvSpPr>
          <p:nvPr/>
        </p:nvSpPr>
        <p:spPr>
          <a:xfrm xmlns:a="http://schemas.openxmlformats.org/drawingml/2006/main">
            <a:off x="9686925" y="3114675"/>
            <a:ext cx="158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175" b="1">
                <a:solidFill>
                  <a:srgbClr val="2A9D63"/>
                </a:solidFill>
                <a:latin typeface="Helvetica Neue"/>
                <a:ea typeface="Helvetica Neue"/>
                <a:cs typeface="Helvetica Neue"/>
              </a:defRPr>
            </a:pPr>
            <a:r>
              <a:rPr sz="2175" b="1">
                <a:solidFill>
                  <a:srgbClr val="2A9D63"/>
                </a:solidFill>
                <a:latin typeface="Helvetica Neue"/>
                <a:ea typeface="Helvetica Neue"/>
                <a:cs typeface="Helvetica Neue"/>
              </a:rPr>
              <a:t>COMPLETE</a:t>
            </a:r>
          </a:p>
        </p:txBody>
      </p:sp>
      <p:sp>
        <p:nvSpPr>
          <p:cNvPr id="19" name="">
            <a:extLst xmlns:a="http://schemas.openxmlformats.org/drawingml/2006/main">
              <a:ext uri="{FF2B5EF4-FFF2-40B4-BE49-F238E27FC236}">
                <a16:creationId xmlns:a16="http://schemas.microsoft.com/office/drawing/2014/main" id="{B98B4C52-0BF9-4212-A70C-2244C1D0D762}"/>
              </a:ext>
            </a:extLst>
          </p:cNvPr>
          <p:cNvSpPr>
            <a:spLocks xmlns:a="http://schemas.openxmlformats.org/drawingml/2006/main" noGrp="1"/>
          </p:cNvSpPr>
          <p:nvPr/>
        </p:nvSpPr>
        <p:spPr>
          <a:xfrm xmlns:a="http://schemas.openxmlformats.org/drawingml/2006/main">
            <a:off x="9686925" y="3571875"/>
            <a:ext cx="1581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Credit = 1.00</a:t>
            </a:r>
          </a:p>
        </p:txBody>
      </p:sp>
      <p:sp>
        <p:nvSpPr>
          <p:cNvPr id="20" name="">
            <a:extLst xmlns:a="http://schemas.openxmlformats.org/drawingml/2006/main">
              <a:ext uri="{FF2B5EF4-FFF2-40B4-BE49-F238E27FC236}">
                <a16:creationId xmlns:a16="http://schemas.microsoft.com/office/drawing/2014/main" id="{6C6BEA21-C04B-4913-8727-E4E6CA5F93E6}"/>
              </a:ext>
            </a:extLst>
          </p:cNvPr>
          <p:cNvSpPr>
            <a:spLocks xmlns:a="http://schemas.openxmlformats.org/drawingml/2006/main" noGrp="1"/>
          </p:cNvSpPr>
          <p:nvPr/>
        </p:nvSpPr>
        <p:spPr>
          <a:xfrm xmlns:a="http://schemas.openxmlformats.org/drawingml/2006/main">
            <a:off x="704850" y="4457700"/>
            <a:ext cx="1076325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21" name="">
            <a:extLst xmlns:a="http://schemas.openxmlformats.org/drawingml/2006/main">
              <a:ext uri="{FF2B5EF4-FFF2-40B4-BE49-F238E27FC236}">
                <a16:creationId xmlns:a16="http://schemas.microsoft.com/office/drawing/2014/main" id="{215435D2-BEE1-4106-8B6A-E0BB07297C01}"/>
              </a:ext>
            </a:extLst>
          </p:cNvPr>
          <p:cNvSpPr>
            <a:spLocks xmlns:a="http://schemas.openxmlformats.org/drawingml/2006/main" noGrp="1"/>
          </p:cNvSpPr>
          <p:nvPr/>
        </p:nvSpPr>
        <p:spPr>
          <a:xfrm xmlns:a="http://schemas.openxmlformats.org/drawingml/2006/main">
            <a:off x="704850" y="47625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Supported IPA age bands</a:t>
            </a:r>
          </a:p>
        </p:txBody>
      </p:sp>
      <p:sp>
        <p:nvSpPr>
          <p:cNvPr id="22" name="">
            <a:extLst xmlns:a="http://schemas.openxmlformats.org/drawingml/2006/main">
              <a:ext uri="{FF2B5EF4-FFF2-40B4-BE49-F238E27FC236}">
                <a16:creationId xmlns:a16="http://schemas.microsoft.com/office/drawing/2014/main" id="{23B45B73-CD7A-458B-B120-E3AD9E59EF1E}"/>
              </a:ext>
            </a:extLst>
          </p:cNvPr>
          <p:cNvSpPr>
            <a:spLocks xmlns:a="http://schemas.openxmlformats.org/drawingml/2006/main" noGrp="1"/>
          </p:cNvSpPr>
          <p:nvPr/>
        </p:nvSpPr>
        <p:spPr>
          <a:xfrm xmlns:a="http://schemas.openxmlformats.org/drawingml/2006/main">
            <a:off x="704850"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12–23 mo</a:t>
            </a:r>
          </a:p>
        </p:txBody>
      </p:sp>
      <p:sp>
        <p:nvSpPr>
          <p:cNvPr id="23" name="">
            <a:extLst xmlns:a="http://schemas.openxmlformats.org/drawingml/2006/main">
              <a:ext uri="{FF2B5EF4-FFF2-40B4-BE49-F238E27FC236}">
                <a16:creationId xmlns:a16="http://schemas.microsoft.com/office/drawing/2014/main" id="{D50EE4A8-7954-4B94-9460-84694E43EE3D}"/>
              </a:ext>
            </a:extLst>
          </p:cNvPr>
          <p:cNvSpPr>
            <a:spLocks xmlns:a="http://schemas.openxmlformats.org/drawingml/2006/main" noGrp="1"/>
          </p:cNvSpPr>
          <p:nvPr/>
        </p:nvSpPr>
        <p:spPr>
          <a:xfrm xmlns:a="http://schemas.openxmlformats.org/drawingml/2006/main">
            <a:off x="2009775"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24–35 mo</a:t>
            </a:r>
          </a:p>
        </p:txBody>
      </p:sp>
      <p:sp>
        <p:nvSpPr>
          <p:cNvPr id="24" name="">
            <a:extLst xmlns:a="http://schemas.openxmlformats.org/drawingml/2006/main">
              <a:ext uri="{FF2B5EF4-FFF2-40B4-BE49-F238E27FC236}">
                <a16:creationId xmlns:a16="http://schemas.microsoft.com/office/drawing/2014/main" id="{958026AB-694A-411E-B3AB-CFB68DAF8A09}"/>
              </a:ext>
            </a:extLst>
          </p:cNvPr>
          <p:cNvSpPr>
            <a:spLocks xmlns:a="http://schemas.openxmlformats.org/drawingml/2006/main" noGrp="1"/>
          </p:cNvSpPr>
          <p:nvPr/>
        </p:nvSpPr>
        <p:spPr>
          <a:xfrm xmlns:a="http://schemas.openxmlformats.org/drawingml/2006/main">
            <a:off x="3314700"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3–5 yr</a:t>
            </a:r>
          </a:p>
        </p:txBody>
      </p:sp>
      <p:sp>
        <p:nvSpPr>
          <p:cNvPr id="25" name="">
            <a:extLst xmlns:a="http://schemas.openxmlformats.org/drawingml/2006/main">
              <a:ext uri="{FF2B5EF4-FFF2-40B4-BE49-F238E27FC236}">
                <a16:creationId xmlns:a16="http://schemas.microsoft.com/office/drawing/2014/main" id="{2485FAF4-2446-4724-8849-211DA79EC7B7}"/>
              </a:ext>
            </a:extLst>
          </p:cNvPr>
          <p:cNvSpPr>
            <a:spLocks xmlns:a="http://schemas.openxmlformats.org/drawingml/2006/main" noGrp="1"/>
          </p:cNvSpPr>
          <p:nvPr/>
        </p:nvSpPr>
        <p:spPr>
          <a:xfrm xmlns:a="http://schemas.openxmlformats.org/drawingml/2006/main">
            <a:off x="4619625"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6–10 yr</a:t>
            </a:r>
          </a:p>
        </p:txBody>
      </p:sp>
      <p:sp>
        <p:nvSpPr>
          <p:cNvPr id="26" name="">
            <a:extLst xmlns:a="http://schemas.openxmlformats.org/drawingml/2006/main">
              <a:ext uri="{FF2B5EF4-FFF2-40B4-BE49-F238E27FC236}">
                <a16:creationId xmlns:a16="http://schemas.microsoft.com/office/drawing/2014/main" id="{EA1422CD-49D1-4D26-B4F8-D14CD6231537}"/>
              </a:ext>
            </a:extLst>
          </p:cNvPr>
          <p:cNvSpPr>
            <a:spLocks xmlns:a="http://schemas.openxmlformats.org/drawingml/2006/main" noGrp="1"/>
          </p:cNvSpPr>
          <p:nvPr/>
        </p:nvSpPr>
        <p:spPr>
          <a:xfrm xmlns:a="http://schemas.openxmlformats.org/drawingml/2006/main">
            <a:off x="5924550" y="5257800"/>
            <a:ext cx="1295400"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11–17 yr</a:t>
            </a:r>
          </a:p>
        </p:txBody>
      </p:sp>
      <p:sp>
        <p:nvSpPr>
          <p:cNvPr id="27" name="">
            <a:extLst xmlns:a="http://schemas.openxmlformats.org/drawingml/2006/main">
              <a:ext uri="{FF2B5EF4-FFF2-40B4-BE49-F238E27FC236}">
                <a16:creationId xmlns:a16="http://schemas.microsoft.com/office/drawing/2014/main" id="{30236CEE-8CDF-4768-9716-7D4C5C1BA887}"/>
              </a:ext>
            </a:extLst>
          </p:cNvPr>
          <p:cNvSpPr>
            <a:spLocks xmlns:a="http://schemas.openxmlformats.org/drawingml/2006/main" noGrp="1"/>
          </p:cNvSpPr>
          <p:nvPr/>
        </p:nvSpPr>
        <p:spPr>
          <a:xfrm xmlns:a="http://schemas.openxmlformats.org/drawingml/2006/main">
            <a:off x="7334250"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18–20 yr</a:t>
            </a:r>
          </a:p>
        </p:txBody>
      </p:sp>
      <p:sp>
        <p:nvSpPr>
          <p:cNvPr id="28" name="">
            <a:extLst xmlns:a="http://schemas.openxmlformats.org/drawingml/2006/main">
              <a:ext uri="{FF2B5EF4-FFF2-40B4-BE49-F238E27FC236}">
                <a16:creationId xmlns:a16="http://schemas.microsoft.com/office/drawing/2014/main" id="{26AB202A-5135-4A0C-8D68-34FEF94170C9}"/>
              </a:ext>
            </a:extLst>
          </p:cNvPr>
          <p:cNvSpPr>
            <a:spLocks xmlns:a="http://schemas.openxmlformats.org/drawingml/2006/main" noGrp="1"/>
          </p:cNvSpPr>
          <p:nvPr/>
        </p:nvSpPr>
        <p:spPr>
          <a:xfrm xmlns:a="http://schemas.openxmlformats.org/drawingml/2006/main">
            <a:off x="704850" y="5905500"/>
            <a:ext cx="962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A participant can have a separate latest record in every age band.</a:t>
            </a:r>
          </a:p>
        </p:txBody>
      </p:sp>
    </p:spTree>
    <p:extLst>
      <p:ext uri="{BB962C8B-B14F-4D97-AF65-F5344CB8AC3E}">
        <p14:creationId xmlns:p14="http://schemas.microsoft.com/office/powerpoint/2010/main" val="4991612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137F628-B4B2-48B7-B172-EAA4662E5BB2}"/>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F33"/>
                </a:solidFill>
                <a:latin typeface="Helvetica Neue"/>
                <a:ea typeface="Helvetica Neue"/>
                <a:cs typeface="Helvetica Neue"/>
              </a:defRPr>
            </a:pPr>
            <a:r>
              <a:rPr sz="2550" b="1">
                <a:solidFill>
                  <a:srgbClr val="0B1F33"/>
                </a:solidFill>
                <a:latin typeface="Helvetica Neue"/>
                <a:ea typeface="Helvetica Neue"/>
                <a:cs typeface="Helvetica Neue"/>
              </a:rPr>
              <a:t>Outcomes roll up through a consistent score and denominator</a:t>
            </a:r>
          </a:p>
        </p:txBody>
      </p:sp>
      <p:sp>
        <p:nvSpPr>
          <p:cNvPr id="2" name="">
            <a:extLst xmlns:a="http://schemas.openxmlformats.org/drawingml/2006/main">
              <a:ext uri="{FF2B5EF4-FFF2-40B4-BE49-F238E27FC236}">
                <a16:creationId xmlns:a16="http://schemas.microsoft.com/office/drawing/2014/main" id="{9229B501-107C-46E5-A238-3FFBB9181D73}"/>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991E7003-1243-48D2-9881-4842CAE9D241}"/>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C59839DC-9E59-4637-AD64-C96EDCF5F8A7}"/>
              </a:ext>
            </a:extLst>
          </p:cNvPr>
          <p:cNvSpPr>
            <a:spLocks xmlns:a="http://schemas.openxmlformats.org/drawingml/2006/main" noGrp="1"/>
          </p:cNvSpPr>
          <p:nvPr/>
        </p:nvSpPr>
        <p:spPr>
          <a:xfrm xmlns:a="http://schemas.openxmlformats.org/drawingml/2006/main">
            <a:off x="819150" y="15430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5E6C78"/>
                </a:solidFill>
                <a:latin typeface="Helvetica Neue"/>
                <a:ea typeface="Helvetica Neue"/>
                <a:cs typeface="Helvetica Neue"/>
              </a:defRPr>
            </a:pPr>
            <a:r>
              <a:rPr sz="1350" b="1">
                <a:solidFill>
                  <a:srgbClr val="5E6C78"/>
                </a:solidFill>
                <a:latin typeface="Helvetica Neue"/>
                <a:ea typeface="Helvetica Neue"/>
                <a:cs typeface="Helvetica Neue"/>
              </a:rPr>
              <a:t>Outcome</a:t>
            </a:r>
          </a:p>
        </p:txBody>
      </p:sp>
      <p:sp>
        <p:nvSpPr>
          <p:cNvPr id="5" name="">
            <a:extLst xmlns:a="http://schemas.openxmlformats.org/drawingml/2006/main">
              <a:ext uri="{FF2B5EF4-FFF2-40B4-BE49-F238E27FC236}">
                <a16:creationId xmlns:a16="http://schemas.microsoft.com/office/drawing/2014/main" id="{FD53A552-FCD4-4A6C-AA85-DA04CEA15859}"/>
              </a:ext>
            </a:extLst>
          </p:cNvPr>
          <p:cNvSpPr>
            <a:spLocks xmlns:a="http://schemas.openxmlformats.org/drawingml/2006/main" noGrp="1"/>
          </p:cNvSpPr>
          <p:nvPr/>
        </p:nvSpPr>
        <p:spPr>
          <a:xfrm xmlns:a="http://schemas.openxmlformats.org/drawingml/2006/main">
            <a:off x="3638550" y="15430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5E6C78"/>
                </a:solidFill>
                <a:latin typeface="Helvetica Neue"/>
                <a:ea typeface="Helvetica Neue"/>
                <a:cs typeface="Helvetica Neue"/>
              </a:defRPr>
            </a:pPr>
            <a:r>
              <a:rPr sz="1350" b="1">
                <a:solidFill>
                  <a:srgbClr val="5E6C78"/>
                </a:solidFill>
                <a:latin typeface="Helvetica Neue"/>
                <a:ea typeface="Helvetica Neue"/>
                <a:cs typeface="Helvetica Neue"/>
              </a:rPr>
              <a:t>Score</a:t>
            </a:r>
          </a:p>
        </p:txBody>
      </p:sp>
      <p:sp>
        <p:nvSpPr>
          <p:cNvPr id="6" name="">
            <a:extLst xmlns:a="http://schemas.openxmlformats.org/drawingml/2006/main">
              <a:ext uri="{FF2B5EF4-FFF2-40B4-BE49-F238E27FC236}">
                <a16:creationId xmlns:a16="http://schemas.microsoft.com/office/drawing/2014/main" id="{CD06FEAE-28F9-42CE-9226-A8700309BFE9}"/>
              </a:ext>
            </a:extLst>
          </p:cNvPr>
          <p:cNvSpPr>
            <a:spLocks xmlns:a="http://schemas.openxmlformats.org/drawingml/2006/main" noGrp="1"/>
          </p:cNvSpPr>
          <p:nvPr/>
        </p:nvSpPr>
        <p:spPr>
          <a:xfrm xmlns:a="http://schemas.openxmlformats.org/drawingml/2006/main">
            <a:off x="5486400" y="1543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5E6C78"/>
                </a:solidFill>
                <a:latin typeface="Helvetica Neue"/>
                <a:ea typeface="Helvetica Neue"/>
                <a:cs typeface="Helvetica Neue"/>
              </a:defRPr>
            </a:pPr>
            <a:r>
              <a:rPr sz="1350" b="1">
                <a:solidFill>
                  <a:srgbClr val="5E6C78"/>
                </a:solidFill>
                <a:latin typeface="Helvetica Neue"/>
                <a:ea typeface="Helvetica Neue"/>
                <a:cs typeface="Helvetica Neue"/>
              </a:rPr>
              <a:t>Interpretation</a:t>
            </a:r>
          </a:p>
        </p:txBody>
      </p:sp>
      <p:sp>
        <p:nvSpPr>
          <p:cNvPr id="7" name="">
            <a:extLst xmlns:a="http://schemas.openxmlformats.org/drawingml/2006/main">
              <a:ext uri="{FF2B5EF4-FFF2-40B4-BE49-F238E27FC236}">
                <a16:creationId xmlns:a16="http://schemas.microsoft.com/office/drawing/2014/main" id="{756ADB19-B2FD-487B-BD98-A55B699A7D30}"/>
              </a:ext>
            </a:extLst>
          </p:cNvPr>
          <p:cNvSpPr>
            <a:spLocks xmlns:a="http://schemas.openxmlformats.org/drawingml/2006/main" noGrp="1"/>
          </p:cNvSpPr>
          <p:nvPr/>
        </p:nvSpPr>
        <p:spPr>
          <a:xfrm xmlns:a="http://schemas.openxmlformats.org/drawingml/2006/main">
            <a:off x="685800" y="199072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8" name="">
            <a:extLst xmlns:a="http://schemas.openxmlformats.org/drawingml/2006/main">
              <a:ext uri="{FF2B5EF4-FFF2-40B4-BE49-F238E27FC236}">
                <a16:creationId xmlns:a16="http://schemas.microsoft.com/office/drawing/2014/main" id="{941E31A0-D624-432A-BD77-E6AE9662AE60}"/>
              </a:ext>
            </a:extLst>
          </p:cNvPr>
          <p:cNvSpPr>
            <a:spLocks xmlns:a="http://schemas.openxmlformats.org/drawingml/2006/main" noGrp="1"/>
          </p:cNvSpPr>
          <p:nvPr/>
        </p:nvSpPr>
        <p:spPr>
          <a:xfrm xmlns:a="http://schemas.openxmlformats.org/drawingml/2006/main">
            <a:off x="819150" y="2171700"/>
            <a:ext cx="133350" cy="304800"/>
          </a:xfrm>
          <a:prstGeom xmlns:a="http://schemas.openxmlformats.org/drawingml/2006/main" prst="roundRect">
            <a:avLst>
              <a:gd name="adj" fmla="val 50000"/>
            </a:avLst>
          </a:prstGeom>
          <a:solidFill xmlns:a="http://schemas.openxmlformats.org/drawingml/2006/main">
            <a:srgbClr val="2A9D6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D1A378C-8702-4122-8BCA-BF5C0D6E47BE}"/>
              </a:ext>
            </a:extLst>
          </p:cNvPr>
          <p:cNvSpPr>
            <a:spLocks xmlns:a="http://schemas.openxmlformats.org/drawingml/2006/main" noGrp="1"/>
          </p:cNvSpPr>
          <p:nvPr/>
        </p:nvSpPr>
        <p:spPr>
          <a:xfrm xmlns:a="http://schemas.openxmlformats.org/drawingml/2006/main">
            <a:off x="1123950" y="21717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Complete</a:t>
            </a:r>
          </a:p>
        </p:txBody>
      </p:sp>
      <p:sp>
        <p:nvSpPr>
          <p:cNvPr id="10" name="">
            <a:extLst xmlns:a="http://schemas.openxmlformats.org/drawingml/2006/main">
              <a:ext uri="{FF2B5EF4-FFF2-40B4-BE49-F238E27FC236}">
                <a16:creationId xmlns:a16="http://schemas.microsoft.com/office/drawing/2014/main" id="{A680AED0-21BD-4614-AD89-F3B0762C460F}"/>
              </a:ext>
            </a:extLst>
          </p:cNvPr>
          <p:cNvSpPr>
            <a:spLocks xmlns:a="http://schemas.openxmlformats.org/drawingml/2006/main" noGrp="1"/>
          </p:cNvSpPr>
          <p:nvPr/>
        </p:nvSpPr>
        <p:spPr>
          <a:xfrm xmlns:a="http://schemas.openxmlformats.org/drawingml/2006/main">
            <a:off x="3638550" y="21621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2A9D63"/>
                </a:solidFill>
                <a:latin typeface="Helvetica Neue"/>
                <a:ea typeface="Helvetica Neue"/>
                <a:cs typeface="Helvetica Neue"/>
              </a:defRPr>
            </a:pPr>
            <a:r>
              <a:rPr sz="1725" b="1">
                <a:solidFill>
                  <a:srgbClr val="2A9D63"/>
                </a:solidFill>
                <a:latin typeface="Helvetica Neue"/>
                <a:ea typeface="Helvetica Neue"/>
                <a:cs typeface="Helvetica Neue"/>
              </a:rPr>
              <a:t>1.00</a:t>
            </a:r>
          </a:p>
        </p:txBody>
      </p:sp>
      <p:sp>
        <p:nvSpPr>
          <p:cNvPr id="11" name="">
            <a:extLst xmlns:a="http://schemas.openxmlformats.org/drawingml/2006/main">
              <a:ext uri="{FF2B5EF4-FFF2-40B4-BE49-F238E27FC236}">
                <a16:creationId xmlns:a16="http://schemas.microsoft.com/office/drawing/2014/main" id="{F1BCD64F-96E9-45E5-BFB0-85D65AAC5B2A}"/>
              </a:ext>
            </a:extLst>
          </p:cNvPr>
          <p:cNvSpPr>
            <a:spLocks xmlns:a="http://schemas.openxmlformats.org/drawingml/2006/main" noGrp="1"/>
          </p:cNvSpPr>
          <p:nvPr/>
        </p:nvSpPr>
        <p:spPr>
          <a:xfrm xmlns:a="http://schemas.openxmlformats.org/drawingml/2006/main">
            <a:off x="5486400" y="21812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Task completed</a:t>
            </a:r>
          </a:p>
        </p:txBody>
      </p:sp>
      <p:sp>
        <p:nvSpPr>
          <p:cNvPr id="12" name="">
            <a:extLst xmlns:a="http://schemas.openxmlformats.org/drawingml/2006/main">
              <a:ext uri="{FF2B5EF4-FFF2-40B4-BE49-F238E27FC236}">
                <a16:creationId xmlns:a16="http://schemas.microsoft.com/office/drawing/2014/main" id="{050AF559-8AC2-4E1D-8B3D-9C4ECBE995F0}"/>
              </a:ext>
            </a:extLst>
          </p:cNvPr>
          <p:cNvSpPr>
            <a:spLocks xmlns:a="http://schemas.openxmlformats.org/drawingml/2006/main" noGrp="1"/>
          </p:cNvSpPr>
          <p:nvPr/>
        </p:nvSpPr>
        <p:spPr>
          <a:xfrm xmlns:a="http://schemas.openxmlformats.org/drawingml/2006/main">
            <a:off x="685800" y="277177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13" name="">
            <a:extLst xmlns:a="http://schemas.openxmlformats.org/drawingml/2006/main">
              <a:ext uri="{FF2B5EF4-FFF2-40B4-BE49-F238E27FC236}">
                <a16:creationId xmlns:a16="http://schemas.microsoft.com/office/drawing/2014/main" id="{E49CEED7-AF47-4671-9DE4-949333DE52B7}"/>
              </a:ext>
            </a:extLst>
          </p:cNvPr>
          <p:cNvSpPr>
            <a:spLocks xmlns:a="http://schemas.openxmlformats.org/drawingml/2006/main" noGrp="1"/>
          </p:cNvSpPr>
          <p:nvPr/>
        </p:nvSpPr>
        <p:spPr>
          <a:xfrm xmlns:a="http://schemas.openxmlformats.org/drawingml/2006/main">
            <a:off x="819150" y="2952750"/>
            <a:ext cx="133350" cy="30480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2C63FBB-11B7-48CA-9467-2F3EE4011371}"/>
              </a:ext>
            </a:extLst>
          </p:cNvPr>
          <p:cNvSpPr>
            <a:spLocks xmlns:a="http://schemas.openxmlformats.org/drawingml/2006/main" noGrp="1"/>
          </p:cNvSpPr>
          <p:nvPr/>
        </p:nvSpPr>
        <p:spPr>
          <a:xfrm xmlns:a="http://schemas.openxmlformats.org/drawingml/2006/main">
            <a:off x="1123950" y="29527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No-Show</a:t>
            </a:r>
          </a:p>
        </p:txBody>
      </p:sp>
      <p:sp>
        <p:nvSpPr>
          <p:cNvPr id="15" name="">
            <a:extLst xmlns:a="http://schemas.openxmlformats.org/drawingml/2006/main">
              <a:ext uri="{FF2B5EF4-FFF2-40B4-BE49-F238E27FC236}">
                <a16:creationId xmlns:a16="http://schemas.microsoft.com/office/drawing/2014/main" id="{F720D74E-C144-4846-AB46-B52ACDC5C7C1}"/>
              </a:ext>
            </a:extLst>
          </p:cNvPr>
          <p:cNvSpPr>
            <a:spLocks xmlns:a="http://schemas.openxmlformats.org/drawingml/2006/main" noGrp="1"/>
          </p:cNvSpPr>
          <p:nvPr/>
        </p:nvSpPr>
        <p:spPr>
          <a:xfrm xmlns:a="http://schemas.openxmlformats.org/drawingml/2006/main">
            <a:off x="3638550" y="29432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E76F51"/>
                </a:solidFill>
                <a:latin typeface="Helvetica Neue"/>
                <a:ea typeface="Helvetica Neue"/>
                <a:cs typeface="Helvetica Neue"/>
              </a:defRPr>
            </a:pPr>
            <a:r>
              <a:rPr sz="1725" b="1">
                <a:solidFill>
                  <a:srgbClr val="E76F51"/>
                </a:solidFill>
                <a:latin typeface="Helvetica Neue"/>
                <a:ea typeface="Helvetica Neue"/>
                <a:cs typeface="Helvetica Neue"/>
              </a:rPr>
              <a:t>0.25</a:t>
            </a:r>
          </a:p>
        </p:txBody>
      </p:sp>
      <p:sp>
        <p:nvSpPr>
          <p:cNvPr id="16" name="">
            <a:extLst xmlns:a="http://schemas.openxmlformats.org/drawingml/2006/main">
              <a:ext uri="{FF2B5EF4-FFF2-40B4-BE49-F238E27FC236}">
                <a16:creationId xmlns:a16="http://schemas.microsoft.com/office/drawing/2014/main" id="{7C7A9B68-ADE8-4519-92D8-61208F0E81B9}"/>
              </a:ext>
            </a:extLst>
          </p:cNvPr>
          <p:cNvSpPr>
            <a:spLocks xmlns:a="http://schemas.openxmlformats.org/drawingml/2006/main" noGrp="1"/>
          </p:cNvSpPr>
          <p:nvPr/>
        </p:nvSpPr>
        <p:spPr>
          <a:xfrm xmlns:a="http://schemas.openxmlformats.org/drawingml/2006/main">
            <a:off x="5486400" y="296227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Calendly marked no-show</a:t>
            </a:r>
          </a:p>
        </p:txBody>
      </p:sp>
      <p:sp>
        <p:nvSpPr>
          <p:cNvPr id="17" name="">
            <a:extLst xmlns:a="http://schemas.openxmlformats.org/drawingml/2006/main">
              <a:ext uri="{FF2B5EF4-FFF2-40B4-BE49-F238E27FC236}">
                <a16:creationId xmlns:a16="http://schemas.microsoft.com/office/drawing/2014/main" id="{2DC3ED90-F54C-4E21-8C9E-46AE9D359AD2}"/>
              </a:ext>
            </a:extLst>
          </p:cNvPr>
          <p:cNvSpPr>
            <a:spLocks xmlns:a="http://schemas.openxmlformats.org/drawingml/2006/main" noGrp="1"/>
          </p:cNvSpPr>
          <p:nvPr/>
        </p:nvSpPr>
        <p:spPr>
          <a:xfrm xmlns:a="http://schemas.openxmlformats.org/drawingml/2006/main">
            <a:off x="685800" y="355282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18" name="">
            <a:extLst xmlns:a="http://schemas.openxmlformats.org/drawingml/2006/main">
              <a:ext uri="{FF2B5EF4-FFF2-40B4-BE49-F238E27FC236}">
                <a16:creationId xmlns:a16="http://schemas.microsoft.com/office/drawing/2014/main" id="{7FF083FE-699E-4A76-A18A-B8C609DE59B5}"/>
              </a:ext>
            </a:extLst>
          </p:cNvPr>
          <p:cNvSpPr>
            <a:spLocks xmlns:a="http://schemas.openxmlformats.org/drawingml/2006/main" noGrp="1"/>
          </p:cNvSpPr>
          <p:nvPr/>
        </p:nvSpPr>
        <p:spPr>
          <a:xfrm xmlns:a="http://schemas.openxmlformats.org/drawingml/2006/main">
            <a:off x="819150" y="3733800"/>
            <a:ext cx="133350" cy="304800"/>
          </a:xfrm>
          <a:prstGeom xmlns:a="http://schemas.openxmlformats.org/drawingml/2006/main" prst="roundRect">
            <a:avLst>
              <a:gd name="adj" fmla="val 50000"/>
            </a:avLst>
          </a:prstGeom>
          <a:solidFill xmlns:a="http://schemas.openxmlformats.org/drawingml/2006/main">
            <a:srgbClr val="F2C14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01FB70-4DC6-430E-B4F2-6AC462E7AE0D}"/>
              </a:ext>
            </a:extLst>
          </p:cNvPr>
          <p:cNvSpPr>
            <a:spLocks xmlns:a="http://schemas.openxmlformats.org/drawingml/2006/main" noGrp="1"/>
          </p:cNvSpPr>
          <p:nvPr/>
        </p:nvSpPr>
        <p:spPr>
          <a:xfrm xmlns:a="http://schemas.openxmlformats.org/drawingml/2006/main">
            <a:off x="1123950" y="37338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Incomplete</a:t>
            </a:r>
          </a:p>
        </p:txBody>
      </p:sp>
      <p:sp>
        <p:nvSpPr>
          <p:cNvPr id="20" name="">
            <a:extLst xmlns:a="http://schemas.openxmlformats.org/drawingml/2006/main">
              <a:ext uri="{FF2B5EF4-FFF2-40B4-BE49-F238E27FC236}">
                <a16:creationId xmlns:a16="http://schemas.microsoft.com/office/drawing/2014/main" id="{A2F81AF8-0713-4401-AB0F-962A88D6192D}"/>
              </a:ext>
            </a:extLst>
          </p:cNvPr>
          <p:cNvSpPr>
            <a:spLocks xmlns:a="http://schemas.openxmlformats.org/drawingml/2006/main" noGrp="1"/>
          </p:cNvSpPr>
          <p:nvPr/>
        </p:nvSpPr>
        <p:spPr>
          <a:xfrm xmlns:a="http://schemas.openxmlformats.org/drawingml/2006/main">
            <a:off x="3638550" y="37242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F2C14E"/>
                </a:solidFill>
                <a:latin typeface="Helvetica Neue"/>
                <a:ea typeface="Helvetica Neue"/>
                <a:cs typeface="Helvetica Neue"/>
              </a:defRPr>
            </a:pPr>
            <a:r>
              <a:rPr sz="1725" b="1">
                <a:solidFill>
                  <a:srgbClr val="F2C14E"/>
                </a:solidFill>
                <a:latin typeface="Helvetica Neue"/>
                <a:ea typeface="Helvetica Neue"/>
                <a:cs typeface="Helvetica Neue"/>
              </a:rPr>
              <a:t>0.00</a:t>
            </a:r>
          </a:p>
        </p:txBody>
      </p:sp>
      <p:sp>
        <p:nvSpPr>
          <p:cNvPr id="21" name="">
            <a:extLst xmlns:a="http://schemas.openxmlformats.org/drawingml/2006/main">
              <a:ext uri="{FF2B5EF4-FFF2-40B4-BE49-F238E27FC236}">
                <a16:creationId xmlns:a16="http://schemas.microsoft.com/office/drawing/2014/main" id="{86C9D5F6-8E7E-4E30-BCBD-469778E45B33}"/>
              </a:ext>
            </a:extLst>
          </p:cNvPr>
          <p:cNvSpPr>
            <a:spLocks xmlns:a="http://schemas.openxmlformats.org/drawingml/2006/main" noGrp="1"/>
          </p:cNvSpPr>
          <p:nvPr/>
        </p:nvSpPr>
        <p:spPr>
          <a:xfrm xmlns:a="http://schemas.openxmlformats.org/drawingml/2006/main">
            <a:off x="5486400" y="37433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Applicable task not complete</a:t>
            </a:r>
          </a:p>
        </p:txBody>
      </p:sp>
      <p:sp>
        <p:nvSpPr>
          <p:cNvPr id="22" name="">
            <a:extLst xmlns:a="http://schemas.openxmlformats.org/drawingml/2006/main">
              <a:ext uri="{FF2B5EF4-FFF2-40B4-BE49-F238E27FC236}">
                <a16:creationId xmlns:a16="http://schemas.microsoft.com/office/drawing/2014/main" id="{7847FC42-39BF-472B-94FD-D26AB3D5470F}"/>
              </a:ext>
            </a:extLst>
          </p:cNvPr>
          <p:cNvSpPr>
            <a:spLocks xmlns:a="http://schemas.openxmlformats.org/drawingml/2006/main" noGrp="1"/>
          </p:cNvSpPr>
          <p:nvPr/>
        </p:nvSpPr>
        <p:spPr>
          <a:xfrm xmlns:a="http://schemas.openxmlformats.org/drawingml/2006/main">
            <a:off x="685800" y="433387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23" name="">
            <a:extLst xmlns:a="http://schemas.openxmlformats.org/drawingml/2006/main">
              <a:ext uri="{FF2B5EF4-FFF2-40B4-BE49-F238E27FC236}">
                <a16:creationId xmlns:a16="http://schemas.microsoft.com/office/drawing/2014/main" id="{D3A1D8D8-02D9-4162-A3E3-14C128F3F3EF}"/>
              </a:ext>
            </a:extLst>
          </p:cNvPr>
          <p:cNvSpPr>
            <a:spLocks xmlns:a="http://schemas.openxmlformats.org/drawingml/2006/main" noGrp="1"/>
          </p:cNvSpPr>
          <p:nvPr/>
        </p:nvSpPr>
        <p:spPr>
          <a:xfrm xmlns:a="http://schemas.openxmlformats.org/drawingml/2006/main">
            <a:off x="819150" y="4514850"/>
            <a:ext cx="133350" cy="304800"/>
          </a:xfrm>
          <a:prstGeom xmlns:a="http://schemas.openxmlformats.org/drawingml/2006/main" prst="roundRect">
            <a:avLst>
              <a:gd name="adj" fmla="val 50000"/>
            </a:avLst>
          </a:prstGeom>
          <a:solidFill xmlns:a="http://schemas.openxmlformats.org/drawingml/2006/main">
            <a:srgbClr val="5E6C7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6F7E772-C52F-4648-B15F-59642648A39A}"/>
              </a:ext>
            </a:extLst>
          </p:cNvPr>
          <p:cNvSpPr>
            <a:spLocks xmlns:a="http://schemas.openxmlformats.org/drawingml/2006/main" noGrp="1"/>
          </p:cNvSpPr>
          <p:nvPr/>
        </p:nvSpPr>
        <p:spPr>
          <a:xfrm xmlns:a="http://schemas.openxmlformats.org/drawingml/2006/main">
            <a:off x="1123950" y="45148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No record</a:t>
            </a:r>
          </a:p>
        </p:txBody>
      </p:sp>
      <p:sp>
        <p:nvSpPr>
          <p:cNvPr id="25" name="">
            <a:extLst xmlns:a="http://schemas.openxmlformats.org/drawingml/2006/main">
              <a:ext uri="{FF2B5EF4-FFF2-40B4-BE49-F238E27FC236}">
                <a16:creationId xmlns:a16="http://schemas.microsoft.com/office/drawing/2014/main" id="{4A61ABF6-A790-41CB-ABD5-37E7C5EAEC03}"/>
              </a:ext>
            </a:extLst>
          </p:cNvPr>
          <p:cNvSpPr>
            <a:spLocks xmlns:a="http://schemas.openxmlformats.org/drawingml/2006/main" noGrp="1"/>
          </p:cNvSpPr>
          <p:nvPr/>
        </p:nvSpPr>
        <p:spPr>
          <a:xfrm xmlns:a="http://schemas.openxmlformats.org/drawingml/2006/main">
            <a:off x="3638550" y="45053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5E6C78"/>
                </a:solidFill>
                <a:latin typeface="Helvetica Neue"/>
                <a:ea typeface="Helvetica Neue"/>
                <a:cs typeface="Helvetica Neue"/>
              </a:defRPr>
            </a:pPr>
            <a:r>
              <a:rPr sz="1725" b="1">
                <a:solidFill>
                  <a:srgbClr val="5E6C78"/>
                </a:solidFill>
                <a:latin typeface="Helvetica Neue"/>
                <a:ea typeface="Helvetica Neue"/>
                <a:cs typeface="Helvetica Neue"/>
              </a:rPr>
              <a:t>NA → 0</a:t>
            </a:r>
          </a:p>
        </p:txBody>
      </p:sp>
      <p:sp>
        <p:nvSpPr>
          <p:cNvPr id="26" name="">
            <a:extLst xmlns:a="http://schemas.openxmlformats.org/drawingml/2006/main">
              <a:ext uri="{FF2B5EF4-FFF2-40B4-BE49-F238E27FC236}">
                <a16:creationId xmlns:a16="http://schemas.microsoft.com/office/drawing/2014/main" id="{0D3CC986-7EFC-4A7B-A39D-EDD994F13827}"/>
              </a:ext>
            </a:extLst>
          </p:cNvPr>
          <p:cNvSpPr>
            <a:spLocks xmlns:a="http://schemas.openxmlformats.org/drawingml/2006/main" noGrp="1"/>
          </p:cNvSpPr>
          <p:nvPr/>
        </p:nvSpPr>
        <p:spPr>
          <a:xfrm xmlns:a="http://schemas.openxmlformats.org/drawingml/2006/main">
            <a:off x="5486400" y="452437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Missing raw score; zero in progress denominator</a:t>
            </a:r>
          </a:p>
        </p:txBody>
      </p:sp>
      <p:sp>
        <p:nvSpPr>
          <p:cNvPr id="27" name="">
            <a:extLst xmlns:a="http://schemas.openxmlformats.org/drawingml/2006/main">
              <a:ext uri="{FF2B5EF4-FFF2-40B4-BE49-F238E27FC236}">
                <a16:creationId xmlns:a16="http://schemas.microsoft.com/office/drawing/2014/main" id="{DC8C2C8A-3031-4BBB-8ADA-4D2713B432AA}"/>
              </a:ext>
            </a:extLst>
          </p:cNvPr>
          <p:cNvSpPr>
            <a:spLocks xmlns:a="http://schemas.openxmlformats.org/drawingml/2006/main" noGrp="1"/>
          </p:cNvSpPr>
          <p:nvPr/>
        </p:nvSpPr>
        <p:spPr>
          <a:xfrm xmlns:a="http://schemas.openxmlformats.org/drawingml/2006/main">
            <a:off x="685800" y="5391150"/>
            <a:ext cx="10172700" cy="876300"/>
          </a:xfrm>
          <a:prstGeom xmlns:a="http://schemas.openxmlformats.org/drawingml/2006/main" prst="roundRect">
            <a:avLst>
              <a:gd name="adj" fmla="val 15217"/>
            </a:avLst>
          </a:prstGeom>
          <a:solidFill xmlns:a="http://schemas.openxmlformats.org/drawingml/2006/main">
            <a:srgbClr val="0B1F3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E2B7F40-4846-4807-9423-B7E02628457D}"/>
              </a:ext>
            </a:extLst>
          </p:cNvPr>
          <p:cNvSpPr>
            <a:spLocks xmlns:a="http://schemas.openxmlformats.org/drawingml/2006/main" noGrp="1"/>
          </p:cNvSpPr>
          <p:nvPr/>
        </p:nvSpPr>
        <p:spPr>
          <a:xfrm xmlns:a="http://schemas.openxmlformats.org/drawingml/2006/main">
            <a:off x="914400" y="55721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A9C3D3"/>
                </a:solidFill>
                <a:latin typeface="Helvetica Neue"/>
                <a:ea typeface="Helvetica Neue"/>
                <a:cs typeface="Helvetica Neue"/>
              </a:defRPr>
            </a:pPr>
            <a:r>
              <a:rPr sz="1500" b="1">
                <a:solidFill>
                  <a:srgbClr val="A9C3D3"/>
                </a:solidFill>
                <a:latin typeface="Helvetica Neue"/>
                <a:ea typeface="Helvetica Neue"/>
                <a:cs typeface="Helvetica Neue"/>
              </a:rPr>
              <a:t>Weighted progress</a:t>
            </a:r>
          </a:p>
        </p:txBody>
      </p:sp>
      <p:sp>
        <p:nvSpPr>
          <p:cNvPr id="29" name="">
            <a:extLst xmlns:a="http://schemas.openxmlformats.org/drawingml/2006/main">
              <a:ext uri="{FF2B5EF4-FFF2-40B4-BE49-F238E27FC236}">
                <a16:creationId xmlns:a16="http://schemas.microsoft.com/office/drawing/2014/main" id="{DA773FAA-F3FE-4C59-BED0-63C6D0E4B4B3}"/>
              </a:ext>
            </a:extLst>
          </p:cNvPr>
          <p:cNvSpPr>
            <a:spLocks xmlns:a="http://schemas.openxmlformats.org/drawingml/2006/main" noGrp="1"/>
          </p:cNvSpPr>
          <p:nvPr/>
        </p:nvSpPr>
        <p:spPr>
          <a:xfrm xmlns:a="http://schemas.openxmlformats.org/drawingml/2006/main">
            <a:off x="3524250" y="5581650"/>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Σ task scores  ÷  number of applicable participant–task rows</a:t>
            </a:r>
          </a:p>
        </p:txBody>
      </p:sp>
      <p:sp>
        <p:nvSpPr>
          <p:cNvPr id="30" name="">
            <a:extLst xmlns:a="http://schemas.openxmlformats.org/drawingml/2006/main">
              <a:ext uri="{FF2B5EF4-FFF2-40B4-BE49-F238E27FC236}">
                <a16:creationId xmlns:a16="http://schemas.microsoft.com/office/drawing/2014/main" id="{1BDBAF3F-6317-41C3-9D6A-8E9A5AFEA65F}"/>
              </a:ext>
            </a:extLst>
          </p:cNvPr>
          <p:cNvSpPr>
            <a:spLocks xmlns:a="http://schemas.openxmlformats.org/drawingml/2006/main" noGrp="1"/>
          </p:cNvSpPr>
          <p:nvPr/>
        </p:nvSpPr>
        <p:spPr>
          <a:xfrm xmlns:a="http://schemas.openxmlformats.org/drawingml/2006/main">
            <a:off x="3524250" y="5953125"/>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BCD0DD"/>
                </a:solidFill>
                <a:latin typeface="Helvetica Neue"/>
                <a:ea typeface="Helvetica Neue"/>
                <a:cs typeface="Helvetica Neue"/>
              </a:defRPr>
            </a:pPr>
            <a:r>
              <a:rPr sz="1200" b="0">
                <a:solidFill>
                  <a:srgbClr val="BCD0DD"/>
                </a:solidFill>
                <a:latin typeface="Helvetica Neue"/>
                <a:ea typeface="Helvetica Neue"/>
                <a:cs typeface="Helvetica Neue"/>
              </a:rPr>
              <a:t>IPA status uses Ripple + Calendly. All other task outcomes use Ripple only.</a:t>
            </a:r>
          </a:p>
        </p:txBody>
      </p:sp>
    </p:spTree>
    <p:extLst>
      <p:ext uri="{BB962C8B-B14F-4D97-AF65-F5344CB8AC3E}">
        <p14:creationId xmlns:p14="http://schemas.microsoft.com/office/powerpoint/2010/main" val="1124523111"/>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18AA16C-933A-4203-9839-3A0FC6699EDC}"/>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F33"/>
                </a:solidFill>
                <a:latin typeface="Helvetica Neue"/>
                <a:ea typeface="Helvetica Neue"/>
                <a:cs typeface="Helvetica Neue"/>
              </a:defRPr>
            </a:pPr>
            <a:r>
              <a:rPr sz="2550" b="1">
                <a:solidFill>
                  <a:srgbClr val="0B1F33"/>
                </a:solidFill>
                <a:latin typeface="Helvetica Neue"/>
                <a:ea typeface="Helvetica Neue"/>
                <a:cs typeface="Helvetica Neue"/>
              </a:rPr>
              <a:t>Responsibility is effective-dated and locked at the age-band task level</a:t>
            </a:r>
          </a:p>
        </p:txBody>
      </p:sp>
      <p:sp>
        <p:nvSpPr>
          <p:cNvPr id="2" name="">
            <a:extLst xmlns:a="http://schemas.openxmlformats.org/drawingml/2006/main">
              <a:ext uri="{FF2B5EF4-FFF2-40B4-BE49-F238E27FC236}">
                <a16:creationId xmlns:a16="http://schemas.microsoft.com/office/drawing/2014/main" id="{51B7117A-0345-4A74-B594-6C1C2D7F9946}"/>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66EE7BF2-96F7-4F46-B71A-93DC29602E0F}"/>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41B286E0-731D-4EF8-94CA-05C65FEFA06D}"/>
              </a:ext>
            </a:extLst>
          </p:cNvPr>
          <p:cNvSpPr>
            <a:spLocks xmlns:a="http://schemas.openxmlformats.org/drawingml/2006/main" noGrp="1"/>
          </p:cNvSpPr>
          <p:nvPr/>
        </p:nvSpPr>
        <p:spPr>
          <a:xfrm xmlns:a="http://schemas.openxmlformats.org/drawingml/2006/main">
            <a:off x="704850" y="13335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78C8C"/>
                </a:solidFill>
                <a:latin typeface="Helvetica Neue"/>
                <a:ea typeface="Helvetica Neue"/>
                <a:cs typeface="Helvetica Neue"/>
              </a:defRPr>
            </a:pPr>
            <a:r>
              <a:rPr sz="1500" b="1">
                <a:solidFill>
                  <a:srgbClr val="178C8C"/>
                </a:solidFill>
                <a:latin typeface="Helvetica Neue"/>
                <a:ea typeface="Helvetica Neue"/>
                <a:cs typeface="Helvetica Neue"/>
              </a:rPr>
              <a:t>Current FTM source</a:t>
            </a:r>
          </a:p>
        </p:txBody>
      </p:sp>
      <p:sp>
        <p:nvSpPr>
          <p:cNvPr id="5" name="">
            <a:extLst xmlns:a="http://schemas.openxmlformats.org/drawingml/2006/main">
              <a:ext uri="{FF2B5EF4-FFF2-40B4-BE49-F238E27FC236}">
                <a16:creationId xmlns:a16="http://schemas.microsoft.com/office/drawing/2014/main" id="{C45255ED-C8E3-4D5F-9892-17DF262A72DD}"/>
              </a:ext>
            </a:extLst>
          </p:cNvPr>
          <p:cNvSpPr>
            <a:spLocks xmlns:a="http://schemas.openxmlformats.org/drawingml/2006/main" noGrp="1"/>
          </p:cNvSpPr>
          <p:nvPr/>
        </p:nvSpPr>
        <p:spPr>
          <a:xfrm xmlns:a="http://schemas.openxmlformats.org/drawingml/2006/main">
            <a:off x="685800" y="1724025"/>
            <a:ext cx="295275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6" name="">
            <a:extLst xmlns:a="http://schemas.openxmlformats.org/drawingml/2006/main">
              <a:ext uri="{FF2B5EF4-FFF2-40B4-BE49-F238E27FC236}">
                <a16:creationId xmlns:a16="http://schemas.microsoft.com/office/drawing/2014/main" id="{6F18C45E-4895-4514-95DE-D49D02E07E0E}"/>
              </a:ext>
            </a:extLst>
          </p:cNvPr>
          <p:cNvSpPr>
            <a:spLocks xmlns:a="http://schemas.openxmlformats.org/drawingml/2006/main" noGrp="1"/>
          </p:cNvSpPr>
          <p:nvPr/>
        </p:nvSpPr>
        <p:spPr>
          <a:xfrm xmlns:a="http://schemas.openxmlformats.org/drawingml/2006/main">
            <a:off x="685800" y="1724025"/>
            <a:ext cx="85725" cy="1352550"/>
          </a:xfrm>
          <a:prstGeom xmlns:a="http://schemas.openxmlformats.org/drawingml/2006/main" prst="roundRect">
            <a:avLst>
              <a:gd name="adj" fmla="val 44444"/>
            </a:avLst>
          </a:prstGeom>
          <a:solidFill xmlns:a="http://schemas.openxmlformats.org/drawingml/2006/main">
            <a:srgbClr val="178C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44BAC06-043E-4E77-BEB2-B2681BFA51B8}"/>
              </a:ext>
            </a:extLst>
          </p:cNvPr>
          <p:cNvSpPr>
            <a:spLocks xmlns:a="http://schemas.openxmlformats.org/drawingml/2006/main" noGrp="1"/>
          </p:cNvSpPr>
          <p:nvPr/>
        </p:nvSpPr>
        <p:spPr>
          <a:xfrm xmlns:a="http://schemas.openxmlformats.org/drawingml/2006/main">
            <a:off x="952500" y="19335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6–35 months</a:t>
            </a:r>
          </a:p>
        </p:txBody>
      </p:sp>
      <p:sp>
        <p:nvSpPr>
          <p:cNvPr id="8" name="">
            <a:extLst xmlns:a="http://schemas.openxmlformats.org/drawingml/2006/main">
              <a:ext uri="{FF2B5EF4-FFF2-40B4-BE49-F238E27FC236}">
                <a16:creationId xmlns:a16="http://schemas.microsoft.com/office/drawing/2014/main" id="{9010EB2B-DD18-42A4-BE46-12A693FBC7EB}"/>
              </a:ext>
            </a:extLst>
          </p:cNvPr>
          <p:cNvSpPr>
            <a:spLocks xmlns:a="http://schemas.openxmlformats.org/drawingml/2006/main" noGrp="1"/>
          </p:cNvSpPr>
          <p:nvPr/>
        </p:nvSpPr>
        <p:spPr>
          <a:xfrm xmlns:a="http://schemas.openxmlformats.org/drawingml/2006/main">
            <a:off x="952500" y="235267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Current assignment comes from Ripple.</a:t>
            </a:r>
          </a:p>
        </p:txBody>
      </p:sp>
      <p:sp>
        <p:nvSpPr>
          <p:cNvPr id="9" name="">
            <a:extLst xmlns:a="http://schemas.openxmlformats.org/drawingml/2006/main">
              <a:ext uri="{FF2B5EF4-FFF2-40B4-BE49-F238E27FC236}">
                <a16:creationId xmlns:a16="http://schemas.microsoft.com/office/drawing/2014/main" id="{7EBEF6BF-D659-4E5B-B8FE-013CB6DE0727}"/>
              </a:ext>
            </a:extLst>
          </p:cNvPr>
          <p:cNvSpPr>
            <a:spLocks xmlns:a="http://schemas.openxmlformats.org/drawingml/2006/main" noGrp="1"/>
          </p:cNvSpPr>
          <p:nvPr/>
        </p:nvSpPr>
        <p:spPr>
          <a:xfrm xmlns:a="http://schemas.openxmlformats.org/drawingml/2006/main">
            <a:off x="685800" y="3286125"/>
            <a:ext cx="295275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10" name="">
            <a:extLst xmlns:a="http://schemas.openxmlformats.org/drawingml/2006/main">
              <a:ext uri="{FF2B5EF4-FFF2-40B4-BE49-F238E27FC236}">
                <a16:creationId xmlns:a16="http://schemas.microsoft.com/office/drawing/2014/main" id="{AF6426C3-EBEF-4B93-AB65-A90D22D25D0C}"/>
              </a:ext>
            </a:extLst>
          </p:cNvPr>
          <p:cNvSpPr>
            <a:spLocks xmlns:a="http://schemas.openxmlformats.org/drawingml/2006/main" noGrp="1"/>
          </p:cNvSpPr>
          <p:nvPr/>
        </p:nvSpPr>
        <p:spPr>
          <a:xfrm xmlns:a="http://schemas.openxmlformats.org/drawingml/2006/main">
            <a:off x="685800" y="3286125"/>
            <a:ext cx="85725" cy="1352550"/>
          </a:xfrm>
          <a:prstGeom xmlns:a="http://schemas.openxmlformats.org/drawingml/2006/main" prst="roundRect">
            <a:avLst>
              <a:gd name="adj" fmla="val 44444"/>
            </a:avLst>
          </a:prstGeom>
          <a:solidFill xmlns:a="http://schemas.openxmlformats.org/drawingml/2006/main">
            <a:srgbClr val="E76F5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D949922-699C-43DF-9761-F190274D2321}"/>
              </a:ext>
            </a:extLst>
          </p:cNvPr>
          <p:cNvSpPr>
            <a:spLocks xmlns:a="http://schemas.openxmlformats.org/drawingml/2006/main" noGrp="1"/>
          </p:cNvSpPr>
          <p:nvPr/>
        </p:nvSpPr>
        <p:spPr>
          <a:xfrm xmlns:a="http://schemas.openxmlformats.org/drawingml/2006/main">
            <a:off x="952500" y="34956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3–20 years</a:t>
            </a:r>
          </a:p>
        </p:txBody>
      </p:sp>
      <p:sp>
        <p:nvSpPr>
          <p:cNvPr id="12" name="">
            <a:extLst xmlns:a="http://schemas.openxmlformats.org/drawingml/2006/main">
              <a:ext uri="{FF2B5EF4-FFF2-40B4-BE49-F238E27FC236}">
                <a16:creationId xmlns:a16="http://schemas.microsoft.com/office/drawing/2014/main" id="{5582F8CA-077D-4D5F-982E-38A69E81B0A6}"/>
              </a:ext>
            </a:extLst>
          </p:cNvPr>
          <p:cNvSpPr>
            <a:spLocks xmlns:a="http://schemas.openxmlformats.org/drawingml/2006/main" noGrp="1"/>
          </p:cNvSpPr>
          <p:nvPr/>
        </p:nvSpPr>
        <p:spPr>
          <a:xfrm xmlns:a="http://schemas.openxmlformats.org/drawingml/2006/main">
            <a:off x="952500" y="391477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Current assignment comes from the manually maintained call list.</a:t>
            </a:r>
          </a:p>
        </p:txBody>
      </p:sp>
      <p:sp>
        <p:nvSpPr>
          <p:cNvPr id="13" name="">
            <a:extLst xmlns:a="http://schemas.openxmlformats.org/drawingml/2006/main">
              <a:ext uri="{FF2B5EF4-FFF2-40B4-BE49-F238E27FC236}">
                <a16:creationId xmlns:a16="http://schemas.microsoft.com/office/drawing/2014/main" id="{230F50FC-EC42-4F5F-B04A-DA12844E56C1}"/>
              </a:ext>
            </a:extLst>
          </p:cNvPr>
          <p:cNvSpPr>
            <a:spLocks xmlns:a="http://schemas.openxmlformats.org/drawingml/2006/main" noGrp="1"/>
          </p:cNvSpPr>
          <p:nvPr/>
        </p:nvSpPr>
        <p:spPr>
          <a:xfrm xmlns:a="http://schemas.openxmlformats.org/drawingml/2006/main">
            <a:off x="4229100" y="13335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78C8C"/>
                </a:solidFill>
                <a:latin typeface="Helvetica Neue"/>
                <a:ea typeface="Helvetica Neue"/>
                <a:cs typeface="Helvetica Neue"/>
              </a:defRPr>
            </a:pPr>
            <a:r>
              <a:rPr sz="1500" b="1">
                <a:solidFill>
                  <a:srgbClr val="178C8C"/>
                </a:solidFill>
                <a:latin typeface="Helvetica Neue"/>
                <a:ea typeface="Helvetica Neue"/>
                <a:cs typeface="Helvetica Neue"/>
              </a:rPr>
              <a:t>Assignment history</a:t>
            </a:r>
          </a:p>
        </p:txBody>
      </p:sp>
      <p:sp>
        <p:nvSpPr>
          <p:cNvPr id="14" name="">
            <a:extLst xmlns:a="http://schemas.openxmlformats.org/drawingml/2006/main">
              <a:ext uri="{FF2B5EF4-FFF2-40B4-BE49-F238E27FC236}">
                <a16:creationId xmlns:a16="http://schemas.microsoft.com/office/drawing/2014/main" id="{E624A6AC-585D-4A91-AB99-BF7025CD6A4A}"/>
              </a:ext>
            </a:extLst>
          </p:cNvPr>
          <p:cNvSpPr>
            <a:spLocks xmlns:a="http://schemas.openxmlformats.org/drawingml/2006/main" noGrp="1"/>
          </p:cNvSpPr>
          <p:nvPr/>
        </p:nvSpPr>
        <p:spPr>
          <a:xfrm xmlns:a="http://schemas.openxmlformats.org/drawingml/2006/main">
            <a:off x="4267200" y="1762125"/>
            <a:ext cx="361950" cy="3619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FCFFD3B-A2B8-4E21-B2AF-A3C27DA04ED2}"/>
              </a:ext>
            </a:extLst>
          </p:cNvPr>
          <p:cNvSpPr>
            <a:spLocks xmlns:a="http://schemas.openxmlformats.org/drawingml/2006/main" noGrp="1"/>
          </p:cNvSpPr>
          <p:nvPr/>
        </p:nvSpPr>
        <p:spPr>
          <a:xfrm xmlns:a="http://schemas.openxmlformats.org/drawingml/2006/main">
            <a:off x="4267200" y="1790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16" name="">
            <a:extLst xmlns:a="http://schemas.openxmlformats.org/drawingml/2006/main">
              <a:ext uri="{FF2B5EF4-FFF2-40B4-BE49-F238E27FC236}">
                <a16:creationId xmlns:a16="http://schemas.microsoft.com/office/drawing/2014/main" id="{E7D79C3E-8ECF-4379-BF22-B9A19252D19A}"/>
              </a:ext>
            </a:extLst>
          </p:cNvPr>
          <p:cNvSpPr>
            <a:spLocks xmlns:a="http://schemas.openxmlformats.org/drawingml/2006/main" noGrp="1"/>
          </p:cNvSpPr>
          <p:nvPr/>
        </p:nvSpPr>
        <p:spPr>
          <a:xfrm xmlns:a="http://schemas.openxmlformats.org/drawingml/2006/main">
            <a:off x="4838700" y="17621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Start</a:t>
            </a:r>
          </a:p>
        </p:txBody>
      </p:sp>
      <p:sp>
        <p:nvSpPr>
          <p:cNvPr id="17" name="">
            <a:extLst xmlns:a="http://schemas.openxmlformats.org/drawingml/2006/main">
              <a:ext uri="{FF2B5EF4-FFF2-40B4-BE49-F238E27FC236}">
                <a16:creationId xmlns:a16="http://schemas.microsoft.com/office/drawing/2014/main" id="{F10796EB-74E0-4BDB-BB41-ECEF224C1769}"/>
              </a:ext>
            </a:extLst>
          </p:cNvPr>
          <p:cNvSpPr>
            <a:spLocks xmlns:a="http://schemas.openxmlformats.org/drawingml/2006/main" noGrp="1"/>
          </p:cNvSpPr>
          <p:nvPr/>
        </p:nvSpPr>
        <p:spPr>
          <a:xfrm xmlns:a="http://schemas.openxmlformats.org/drawingml/2006/main">
            <a:off x="4838700" y="2057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Record FTM + effective date + age band at start</a:t>
            </a:r>
          </a:p>
        </p:txBody>
      </p:sp>
      <p:sp>
        <p:nvSpPr>
          <p:cNvPr id="18" name="">
            <a:extLst xmlns:a="http://schemas.openxmlformats.org/drawingml/2006/main">
              <a:ext uri="{FF2B5EF4-FFF2-40B4-BE49-F238E27FC236}">
                <a16:creationId xmlns:a16="http://schemas.microsoft.com/office/drawing/2014/main" id="{1C26C499-7864-460E-B6B0-A754B75FA003}"/>
              </a:ext>
            </a:extLst>
          </p:cNvPr>
          <p:cNvSpPr>
            <a:spLocks xmlns:a="http://schemas.openxmlformats.org/drawingml/2006/main" noGrp="1"/>
          </p:cNvSpPr>
          <p:nvPr/>
        </p:nvSpPr>
        <p:spPr>
          <a:xfrm xmlns:a="http://schemas.openxmlformats.org/drawingml/2006/main">
            <a:off x="4448175" y="2152650"/>
            <a:ext cx="0" cy="619125"/>
          </a:xfrm>
          <a:prstGeom xmlns:a="http://schemas.openxmlformats.org/drawingml/2006/main" prst="line">
            <a:avLst/>
          </a:prstGeom>
          <a:noFill xmlns:a="http://schemas.openxmlformats.org/drawingml/2006/main"/>
          <a:ln xmlns:a="http://schemas.openxmlformats.org/drawingml/2006/main" w="28575">
            <a:solidFill>
              <a:srgbClr val="67B7B7"/>
            </a:solidFill>
            <a:prstDash val="solid"/>
          </a:ln>
        </p:spPr>
      </p:sp>
      <p:sp>
        <p:nvSpPr>
          <p:cNvPr id="19" name="">
            <a:extLst xmlns:a="http://schemas.openxmlformats.org/drawingml/2006/main">
              <a:ext uri="{FF2B5EF4-FFF2-40B4-BE49-F238E27FC236}">
                <a16:creationId xmlns:a16="http://schemas.microsoft.com/office/drawing/2014/main" id="{A0ABF140-1EB4-4440-8993-162078EC3F76}"/>
              </a:ext>
            </a:extLst>
          </p:cNvPr>
          <p:cNvSpPr>
            <a:spLocks xmlns:a="http://schemas.openxmlformats.org/drawingml/2006/main" noGrp="1"/>
          </p:cNvSpPr>
          <p:nvPr/>
        </p:nvSpPr>
        <p:spPr>
          <a:xfrm xmlns:a="http://schemas.openxmlformats.org/drawingml/2006/main">
            <a:off x="4267200" y="2905125"/>
            <a:ext cx="361950" cy="3619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453E4DA-6337-4980-A67B-A3A67BB1D000}"/>
              </a:ext>
            </a:extLst>
          </p:cNvPr>
          <p:cNvSpPr>
            <a:spLocks xmlns:a="http://schemas.openxmlformats.org/drawingml/2006/main" noGrp="1"/>
          </p:cNvSpPr>
          <p:nvPr/>
        </p:nvSpPr>
        <p:spPr>
          <a:xfrm xmlns:a="http://schemas.openxmlformats.org/drawingml/2006/main">
            <a:off x="4267200" y="2933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21" name="">
            <a:extLst xmlns:a="http://schemas.openxmlformats.org/drawingml/2006/main">
              <a:ext uri="{FF2B5EF4-FFF2-40B4-BE49-F238E27FC236}">
                <a16:creationId xmlns:a16="http://schemas.microsoft.com/office/drawing/2014/main" id="{198B1FD3-9A00-4A7A-83E9-66863BD3F9C2}"/>
              </a:ext>
            </a:extLst>
          </p:cNvPr>
          <p:cNvSpPr>
            <a:spLocks xmlns:a="http://schemas.openxmlformats.org/drawingml/2006/main" noGrp="1"/>
          </p:cNvSpPr>
          <p:nvPr/>
        </p:nvSpPr>
        <p:spPr>
          <a:xfrm xmlns:a="http://schemas.openxmlformats.org/drawingml/2006/main">
            <a:off x="4838700" y="29051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Observe</a:t>
            </a:r>
          </a:p>
        </p:txBody>
      </p:sp>
      <p:sp>
        <p:nvSpPr>
          <p:cNvPr id="22" name="">
            <a:extLst xmlns:a="http://schemas.openxmlformats.org/drawingml/2006/main">
              <a:ext uri="{FF2B5EF4-FFF2-40B4-BE49-F238E27FC236}">
                <a16:creationId xmlns:a16="http://schemas.microsoft.com/office/drawing/2014/main" id="{2C592AA5-BB07-4E20-8AA6-9B04134BF4A5}"/>
              </a:ext>
            </a:extLst>
          </p:cNvPr>
          <p:cNvSpPr>
            <a:spLocks xmlns:a="http://schemas.openxmlformats.org/drawingml/2006/main" noGrp="1"/>
          </p:cNvSpPr>
          <p:nvPr/>
        </p:nvSpPr>
        <p:spPr>
          <a:xfrm xmlns:a="http://schemas.openxmlformats.org/drawingml/2006/main">
            <a:off x="4838700" y="3200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Update age band at last observation</a:t>
            </a:r>
          </a:p>
        </p:txBody>
      </p:sp>
      <p:sp>
        <p:nvSpPr>
          <p:cNvPr id="23" name="">
            <a:extLst xmlns:a="http://schemas.openxmlformats.org/drawingml/2006/main">
              <a:ext uri="{FF2B5EF4-FFF2-40B4-BE49-F238E27FC236}">
                <a16:creationId xmlns:a16="http://schemas.microsoft.com/office/drawing/2014/main" id="{BF478E21-E52A-4C1A-99D1-DF209E697792}"/>
              </a:ext>
            </a:extLst>
          </p:cNvPr>
          <p:cNvSpPr>
            <a:spLocks xmlns:a="http://schemas.openxmlformats.org/drawingml/2006/main" noGrp="1"/>
          </p:cNvSpPr>
          <p:nvPr/>
        </p:nvSpPr>
        <p:spPr>
          <a:xfrm xmlns:a="http://schemas.openxmlformats.org/drawingml/2006/main">
            <a:off x="4448175" y="3295650"/>
            <a:ext cx="0" cy="619125"/>
          </a:xfrm>
          <a:prstGeom xmlns:a="http://schemas.openxmlformats.org/drawingml/2006/main" prst="line">
            <a:avLst/>
          </a:prstGeom>
          <a:noFill xmlns:a="http://schemas.openxmlformats.org/drawingml/2006/main"/>
          <a:ln xmlns:a="http://schemas.openxmlformats.org/drawingml/2006/main" w="28575">
            <a:solidFill>
              <a:srgbClr val="67B7B7"/>
            </a:solidFill>
            <a:prstDash val="solid"/>
          </a:ln>
        </p:spPr>
      </p:sp>
      <p:sp>
        <p:nvSpPr>
          <p:cNvPr id="24" name="">
            <a:extLst xmlns:a="http://schemas.openxmlformats.org/drawingml/2006/main">
              <a:ext uri="{FF2B5EF4-FFF2-40B4-BE49-F238E27FC236}">
                <a16:creationId xmlns:a16="http://schemas.microsoft.com/office/drawing/2014/main" id="{862E5042-DFF1-4D2B-875B-CF75BC004876}"/>
              </a:ext>
            </a:extLst>
          </p:cNvPr>
          <p:cNvSpPr>
            <a:spLocks xmlns:a="http://schemas.openxmlformats.org/drawingml/2006/main" noGrp="1"/>
          </p:cNvSpPr>
          <p:nvPr/>
        </p:nvSpPr>
        <p:spPr>
          <a:xfrm xmlns:a="http://schemas.openxmlformats.org/drawingml/2006/main">
            <a:off x="4267200" y="4048125"/>
            <a:ext cx="361950" cy="36195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EF799F7-1D6B-480D-9547-E941E45F9C47}"/>
              </a:ext>
            </a:extLst>
          </p:cNvPr>
          <p:cNvSpPr>
            <a:spLocks xmlns:a="http://schemas.openxmlformats.org/drawingml/2006/main" noGrp="1"/>
          </p:cNvSpPr>
          <p:nvPr/>
        </p:nvSpPr>
        <p:spPr>
          <a:xfrm xmlns:a="http://schemas.openxmlformats.org/drawingml/2006/main">
            <a:off x="4267200" y="4076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72FEB0A5-D76D-4602-801E-9E50EB70383E}"/>
              </a:ext>
            </a:extLst>
          </p:cNvPr>
          <p:cNvSpPr>
            <a:spLocks xmlns:a="http://schemas.openxmlformats.org/drawingml/2006/main" noGrp="1"/>
          </p:cNvSpPr>
          <p:nvPr/>
        </p:nvSpPr>
        <p:spPr>
          <a:xfrm xmlns:a="http://schemas.openxmlformats.org/drawingml/2006/main">
            <a:off x="4838700" y="40481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Change</a:t>
            </a:r>
          </a:p>
        </p:txBody>
      </p:sp>
      <p:sp>
        <p:nvSpPr>
          <p:cNvPr id="27" name="">
            <a:extLst xmlns:a="http://schemas.openxmlformats.org/drawingml/2006/main">
              <a:ext uri="{FF2B5EF4-FFF2-40B4-BE49-F238E27FC236}">
                <a16:creationId xmlns:a16="http://schemas.microsoft.com/office/drawing/2014/main" id="{74EFDE33-BEB8-4E29-847E-13536EFD08A6}"/>
              </a:ext>
            </a:extLst>
          </p:cNvPr>
          <p:cNvSpPr>
            <a:spLocks xmlns:a="http://schemas.openxmlformats.org/drawingml/2006/main" noGrp="1"/>
          </p:cNvSpPr>
          <p:nvPr/>
        </p:nvSpPr>
        <p:spPr>
          <a:xfrm xmlns:a="http://schemas.openxmlformats.org/drawingml/2006/main">
            <a:off x="4838700" y="4343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Only an administrator’s FTM change closes and opens assignments</a:t>
            </a:r>
          </a:p>
        </p:txBody>
      </p:sp>
      <p:sp>
        <p:nvSpPr>
          <p:cNvPr id="28" name="">
            <a:extLst xmlns:a="http://schemas.openxmlformats.org/drawingml/2006/main">
              <a:ext uri="{FF2B5EF4-FFF2-40B4-BE49-F238E27FC236}">
                <a16:creationId xmlns:a16="http://schemas.microsoft.com/office/drawing/2014/main" id="{5F524202-6D5A-464F-9D23-9B63FE7C9280}"/>
              </a:ext>
            </a:extLst>
          </p:cNvPr>
          <p:cNvSpPr>
            <a:spLocks xmlns:a="http://schemas.openxmlformats.org/drawingml/2006/main" noGrp="1"/>
          </p:cNvSpPr>
          <p:nvPr/>
        </p:nvSpPr>
        <p:spPr>
          <a:xfrm xmlns:a="http://schemas.openxmlformats.org/drawingml/2006/main">
            <a:off x="8286750" y="1600200"/>
            <a:ext cx="3143250" cy="3276600"/>
          </a:xfrm>
          <a:prstGeom xmlns:a="http://schemas.openxmlformats.org/drawingml/2006/main" prst="roundRect">
            <a:avLst>
              <a:gd name="adj" fmla="val 5455"/>
            </a:avLst>
          </a:prstGeom>
          <a:solidFill xmlns:a="http://schemas.openxmlformats.org/drawingml/2006/main">
            <a:srgbClr val="0B1F3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2656605-EBA7-4E38-A80C-5A7FE58F9C39}"/>
              </a:ext>
            </a:extLst>
          </p:cNvPr>
          <p:cNvSpPr>
            <a:spLocks xmlns:a="http://schemas.openxmlformats.org/drawingml/2006/main" noGrp="1"/>
          </p:cNvSpPr>
          <p:nvPr/>
        </p:nvSpPr>
        <p:spPr>
          <a:xfrm xmlns:a="http://schemas.openxmlformats.org/drawingml/2006/main">
            <a:off x="8543925" y="1838325"/>
            <a:ext cx="2619375" cy="323850"/>
          </a:xfrm>
          <a:prstGeom xmlns:a="http://schemas.openxmlformats.org/drawingml/2006/main" prst="roundRect">
            <a:avLst>
              <a:gd name="adj" fmla="val 50000"/>
            </a:avLst>
          </a:prstGeom>
          <a:solidFill xmlns:a="http://schemas.openxmlformats.org/drawingml/2006/main">
            <a:srgbClr val="183B55"/>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TASK RESPONSIBILITY LEDGER</a:t>
            </a:r>
          </a:p>
        </p:txBody>
      </p:sp>
      <p:sp>
        <p:nvSpPr>
          <p:cNvPr id="30" name="">
            <a:extLst xmlns:a="http://schemas.openxmlformats.org/drawingml/2006/main">
              <a:ext uri="{FF2B5EF4-FFF2-40B4-BE49-F238E27FC236}">
                <a16:creationId xmlns:a16="http://schemas.microsoft.com/office/drawing/2014/main" id="{BA5C9416-193B-4698-A6AE-62BB259D0C97}"/>
              </a:ext>
            </a:extLst>
          </p:cNvPr>
          <p:cNvSpPr>
            <a:spLocks xmlns:a="http://schemas.openxmlformats.org/drawingml/2006/main" noGrp="1"/>
          </p:cNvSpPr>
          <p:nvPr/>
        </p:nvSpPr>
        <p:spPr>
          <a:xfrm xmlns:a="http://schemas.openxmlformats.org/drawingml/2006/main">
            <a:off x="8591550" y="2371725"/>
            <a:ext cx="2552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3000"/>
              </a:lnSpc>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Every applicable task is locked to the FTM responsible at that stage.</a:t>
            </a:r>
          </a:p>
        </p:txBody>
      </p:sp>
      <p:sp>
        <p:nvSpPr>
          <p:cNvPr id="31" name="">
            <a:extLst xmlns:a="http://schemas.openxmlformats.org/drawingml/2006/main">
              <a:ext uri="{FF2B5EF4-FFF2-40B4-BE49-F238E27FC236}">
                <a16:creationId xmlns:a16="http://schemas.microsoft.com/office/drawing/2014/main" id="{3E2C5F51-E770-474C-8F30-681B4FD17C70}"/>
              </a:ext>
            </a:extLst>
          </p:cNvPr>
          <p:cNvSpPr>
            <a:spLocks xmlns:a="http://schemas.openxmlformats.org/drawingml/2006/main" noGrp="1"/>
          </p:cNvSpPr>
          <p:nvPr/>
        </p:nvSpPr>
        <p:spPr>
          <a:xfrm xmlns:a="http://schemas.openxmlformats.org/drawingml/2006/main">
            <a:off x="8686800" y="3286125"/>
            <a:ext cx="2362200" cy="0"/>
          </a:xfrm>
          <a:prstGeom xmlns:a="http://schemas.openxmlformats.org/drawingml/2006/main" prst="line">
            <a:avLst/>
          </a:prstGeom>
          <a:noFill xmlns:a="http://schemas.openxmlformats.org/drawingml/2006/main"/>
          <a:ln xmlns:a="http://schemas.openxmlformats.org/drawingml/2006/main" w="9525">
            <a:solidFill>
              <a:srgbClr val="527089"/>
            </a:solidFill>
            <a:prstDash val="solid"/>
          </a:ln>
        </p:spPr>
      </p:sp>
      <p:sp>
        <p:nvSpPr>
          <p:cNvPr id="32" name="">
            <a:extLst xmlns:a="http://schemas.openxmlformats.org/drawingml/2006/main">
              <a:ext uri="{FF2B5EF4-FFF2-40B4-BE49-F238E27FC236}">
                <a16:creationId xmlns:a16="http://schemas.microsoft.com/office/drawing/2014/main" id="{5FA93E38-D654-4B2E-8861-A5A5BC5D5CC1}"/>
              </a:ext>
            </a:extLst>
          </p:cNvPr>
          <p:cNvSpPr>
            <a:spLocks xmlns:a="http://schemas.openxmlformats.org/drawingml/2006/main" noGrp="1"/>
          </p:cNvSpPr>
          <p:nvPr/>
        </p:nvSpPr>
        <p:spPr>
          <a:xfrm xmlns:a="http://schemas.openxmlformats.org/drawingml/2006/main">
            <a:off x="8829675" y="3524250"/>
            <a:ext cx="2095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Participant ID</a:t>
            </a:r>
          </a:p>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 Cohort</a:t>
            </a:r>
          </a:p>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 IPA age band</a:t>
            </a:r>
          </a:p>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 Task</a:t>
            </a:r>
          </a:p>
        </p:txBody>
      </p:sp>
      <p:sp>
        <p:nvSpPr>
          <p:cNvPr id="33" name="">
            <a:extLst xmlns:a="http://schemas.openxmlformats.org/drawingml/2006/main">
              <a:ext uri="{FF2B5EF4-FFF2-40B4-BE49-F238E27FC236}">
                <a16:creationId xmlns:a16="http://schemas.microsoft.com/office/drawing/2014/main" id="{599ACAF1-6A86-4B36-86D3-DFE1F60A34E5}"/>
              </a:ext>
            </a:extLst>
          </p:cNvPr>
          <p:cNvSpPr>
            <a:spLocks xmlns:a="http://schemas.openxmlformats.org/drawingml/2006/main" noGrp="1"/>
          </p:cNvSpPr>
          <p:nvPr/>
        </p:nvSpPr>
        <p:spPr>
          <a:xfrm xmlns:a="http://schemas.openxmlformats.org/drawingml/2006/main">
            <a:off x="685800" y="5362575"/>
            <a:ext cx="10744200" cy="704850"/>
          </a:xfrm>
          <a:prstGeom xmlns:a="http://schemas.openxmlformats.org/drawingml/2006/main" prst="roundRect">
            <a:avLst>
              <a:gd name="adj" fmla="val 16216"/>
            </a:avLst>
          </a:prstGeom>
          <a:solidFill xmlns:a="http://schemas.openxmlformats.org/drawingml/2006/main">
            <a:srgbClr val="E7F3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4EF9D00-8F64-4B43-9AAE-EC2D4963B84D}"/>
              </a:ext>
            </a:extLst>
          </p:cNvPr>
          <p:cNvSpPr>
            <a:spLocks xmlns:a="http://schemas.openxmlformats.org/drawingml/2006/main" noGrp="1"/>
          </p:cNvSpPr>
          <p:nvPr/>
        </p:nvSpPr>
        <p:spPr>
          <a:xfrm xmlns:a="http://schemas.openxmlformats.org/drawingml/2006/main">
            <a:off x="971550" y="5553075"/>
            <a:ext cx="1017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Age-band changes are recorded, but they do not change the FTM assignment. Only an actual manual FTM reassignment does.</a:t>
            </a:r>
          </a:p>
        </p:txBody>
      </p:sp>
    </p:spTree>
    <p:extLst>
      <p:ext uri="{BB962C8B-B14F-4D97-AF65-F5344CB8AC3E}">
        <p14:creationId xmlns:p14="http://schemas.microsoft.com/office/powerpoint/2010/main" val="3344219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A0A4843-5CCE-4315-A1FA-1C143C6023DF}"/>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F33"/>
                </a:solidFill>
                <a:latin typeface="Helvetica Neue"/>
                <a:ea typeface="Helvetica Neue"/>
                <a:cs typeface="Helvetica Neue"/>
              </a:defRPr>
            </a:pPr>
            <a:r>
              <a:rPr sz="2550" b="1">
                <a:solidFill>
                  <a:srgbClr val="0B1F33"/>
                </a:solidFill>
                <a:latin typeface="Helvetica Neue"/>
                <a:ea typeface="Helvetica Neue"/>
                <a:cs typeface="Helvetica Neue"/>
              </a:rPr>
              <a:t>Each successful update becomes an FTM trend data point</a:t>
            </a:r>
          </a:p>
        </p:txBody>
      </p:sp>
      <p:sp>
        <p:nvSpPr>
          <p:cNvPr id="2" name="">
            <a:extLst xmlns:a="http://schemas.openxmlformats.org/drawingml/2006/main">
              <a:ext uri="{FF2B5EF4-FFF2-40B4-BE49-F238E27FC236}">
                <a16:creationId xmlns:a16="http://schemas.microsoft.com/office/drawing/2014/main" id="{F9AC7CEE-36E1-403C-A4F6-311E8A02EBF6}"/>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E714598D-EBE4-4B72-ABCD-E302E62276EF}"/>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EC3F95BA-6407-4E41-93CE-8ED5BAF49C03}"/>
              </a:ext>
            </a:extLst>
          </p:cNvPr>
          <p:cNvSpPr>
            <a:spLocks xmlns:a="http://schemas.openxmlformats.org/drawingml/2006/main" noGrp="1"/>
          </p:cNvSpPr>
          <p:nvPr/>
        </p:nvSpPr>
        <p:spPr>
          <a:xfrm xmlns:a="http://schemas.openxmlformats.org/drawingml/2006/main">
            <a:off x="1238250" y="2381250"/>
            <a:ext cx="8858250" cy="0"/>
          </a:xfrm>
          <a:prstGeom xmlns:a="http://schemas.openxmlformats.org/drawingml/2006/main" prst="line">
            <a:avLst/>
          </a:prstGeom>
          <a:noFill xmlns:a="http://schemas.openxmlformats.org/drawingml/2006/main"/>
          <a:ln xmlns:a="http://schemas.openxmlformats.org/drawingml/2006/main" w="47625">
            <a:solidFill>
              <a:srgbClr val="D4DEE5"/>
            </a:solidFill>
            <a:prstDash val="solid"/>
          </a:ln>
        </p:spPr>
      </p:sp>
      <p:sp>
        <p:nvSpPr>
          <p:cNvPr id="5" name="">
            <a:extLst xmlns:a="http://schemas.openxmlformats.org/drawingml/2006/main">
              <a:ext uri="{FF2B5EF4-FFF2-40B4-BE49-F238E27FC236}">
                <a16:creationId xmlns:a16="http://schemas.microsoft.com/office/drawing/2014/main" id="{600C9D38-B4E1-45AE-AD47-2B01BAD9BAF4}"/>
              </a:ext>
            </a:extLst>
          </p:cNvPr>
          <p:cNvSpPr>
            <a:spLocks xmlns:a="http://schemas.openxmlformats.org/drawingml/2006/main" noGrp="1"/>
          </p:cNvSpPr>
          <p:nvPr/>
        </p:nvSpPr>
        <p:spPr>
          <a:xfrm xmlns:a="http://schemas.openxmlformats.org/drawingml/2006/main">
            <a:off x="1143000" y="2152650"/>
            <a:ext cx="457200" cy="45720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FCD39CA-93C0-469C-A34C-DBD375C54020}"/>
              </a:ext>
            </a:extLst>
          </p:cNvPr>
          <p:cNvSpPr>
            <a:spLocks xmlns:a="http://schemas.openxmlformats.org/drawingml/2006/main" noGrp="1"/>
          </p:cNvSpPr>
          <p:nvPr/>
        </p:nvSpPr>
        <p:spPr>
          <a:xfrm xmlns:a="http://schemas.openxmlformats.org/drawingml/2006/main">
            <a:off x="114300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AFE7E8D6-D164-4994-A35C-C214C071087D}"/>
              </a:ext>
            </a:extLst>
          </p:cNvPr>
          <p:cNvSpPr>
            <a:spLocks xmlns:a="http://schemas.openxmlformats.org/drawingml/2006/main" noGrp="1"/>
          </p:cNvSpPr>
          <p:nvPr/>
        </p:nvSpPr>
        <p:spPr>
          <a:xfrm xmlns:a="http://schemas.openxmlformats.org/drawingml/2006/main">
            <a:off x="66675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Refresh 1</a:t>
            </a:r>
          </a:p>
        </p:txBody>
      </p:sp>
      <p:sp>
        <p:nvSpPr>
          <p:cNvPr id="8" name="">
            <a:extLst xmlns:a="http://schemas.openxmlformats.org/drawingml/2006/main">
              <a:ext uri="{FF2B5EF4-FFF2-40B4-BE49-F238E27FC236}">
                <a16:creationId xmlns:a16="http://schemas.microsoft.com/office/drawing/2014/main" id="{BE713674-5863-40EC-A398-63FAB9AE92F1}"/>
              </a:ext>
            </a:extLst>
          </p:cNvPr>
          <p:cNvSpPr>
            <a:spLocks xmlns:a="http://schemas.openxmlformats.org/drawingml/2006/main" noGrp="1"/>
          </p:cNvSpPr>
          <p:nvPr/>
        </p:nvSpPr>
        <p:spPr>
          <a:xfrm xmlns:a="http://schemas.openxmlformats.org/drawingml/2006/main">
            <a:off x="68580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9" name="">
            <a:extLst xmlns:a="http://schemas.openxmlformats.org/drawingml/2006/main">
              <a:ext uri="{FF2B5EF4-FFF2-40B4-BE49-F238E27FC236}">
                <a16:creationId xmlns:a16="http://schemas.microsoft.com/office/drawing/2014/main" id="{77F63A05-D86C-43B5-A474-88E37E37CADD}"/>
              </a:ext>
            </a:extLst>
          </p:cNvPr>
          <p:cNvSpPr>
            <a:spLocks xmlns:a="http://schemas.openxmlformats.org/drawingml/2006/main" noGrp="1"/>
          </p:cNvSpPr>
          <p:nvPr/>
        </p:nvSpPr>
        <p:spPr>
          <a:xfrm xmlns:a="http://schemas.openxmlformats.org/drawingml/2006/main">
            <a:off x="3714750" y="2152650"/>
            <a:ext cx="457200" cy="45720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15987A-792A-4168-8791-4A86782922EA}"/>
              </a:ext>
            </a:extLst>
          </p:cNvPr>
          <p:cNvSpPr>
            <a:spLocks xmlns:a="http://schemas.openxmlformats.org/drawingml/2006/main" noGrp="1"/>
          </p:cNvSpPr>
          <p:nvPr/>
        </p:nvSpPr>
        <p:spPr>
          <a:xfrm xmlns:a="http://schemas.openxmlformats.org/drawingml/2006/main">
            <a:off x="371475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00B2CD20-EA6F-4458-9FBD-EA817F84F1AF}"/>
              </a:ext>
            </a:extLst>
          </p:cNvPr>
          <p:cNvSpPr>
            <a:spLocks xmlns:a="http://schemas.openxmlformats.org/drawingml/2006/main" noGrp="1"/>
          </p:cNvSpPr>
          <p:nvPr/>
        </p:nvSpPr>
        <p:spPr>
          <a:xfrm xmlns:a="http://schemas.openxmlformats.org/drawingml/2006/main">
            <a:off x="323850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Refresh 2</a:t>
            </a:r>
          </a:p>
        </p:txBody>
      </p:sp>
      <p:sp>
        <p:nvSpPr>
          <p:cNvPr id="12" name="">
            <a:extLst xmlns:a="http://schemas.openxmlformats.org/drawingml/2006/main">
              <a:ext uri="{FF2B5EF4-FFF2-40B4-BE49-F238E27FC236}">
                <a16:creationId xmlns:a16="http://schemas.microsoft.com/office/drawing/2014/main" id="{B03A3CDD-B70C-4F41-A195-4472FAF6C407}"/>
              </a:ext>
            </a:extLst>
          </p:cNvPr>
          <p:cNvSpPr>
            <a:spLocks xmlns:a="http://schemas.openxmlformats.org/drawingml/2006/main" noGrp="1"/>
          </p:cNvSpPr>
          <p:nvPr/>
        </p:nvSpPr>
        <p:spPr>
          <a:xfrm xmlns:a="http://schemas.openxmlformats.org/drawingml/2006/main">
            <a:off x="325755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13" name="">
            <a:extLst xmlns:a="http://schemas.openxmlformats.org/drawingml/2006/main">
              <a:ext uri="{FF2B5EF4-FFF2-40B4-BE49-F238E27FC236}">
                <a16:creationId xmlns:a16="http://schemas.microsoft.com/office/drawing/2014/main" id="{2A5962BC-389C-4FED-A59F-3E2917857D37}"/>
              </a:ext>
            </a:extLst>
          </p:cNvPr>
          <p:cNvSpPr>
            <a:spLocks xmlns:a="http://schemas.openxmlformats.org/drawingml/2006/main" noGrp="1"/>
          </p:cNvSpPr>
          <p:nvPr/>
        </p:nvSpPr>
        <p:spPr>
          <a:xfrm xmlns:a="http://schemas.openxmlformats.org/drawingml/2006/main">
            <a:off x="6286500" y="2152650"/>
            <a:ext cx="457200" cy="45720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C9489AA-C2E7-455C-8847-EDFAD06DDA8F}"/>
              </a:ext>
            </a:extLst>
          </p:cNvPr>
          <p:cNvSpPr>
            <a:spLocks xmlns:a="http://schemas.openxmlformats.org/drawingml/2006/main" noGrp="1"/>
          </p:cNvSpPr>
          <p:nvPr/>
        </p:nvSpPr>
        <p:spPr>
          <a:xfrm xmlns:a="http://schemas.openxmlformats.org/drawingml/2006/main">
            <a:off x="628650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675B6002-64AC-48A8-9BFC-983E9E4850DD}"/>
              </a:ext>
            </a:extLst>
          </p:cNvPr>
          <p:cNvSpPr>
            <a:spLocks xmlns:a="http://schemas.openxmlformats.org/drawingml/2006/main" noGrp="1"/>
          </p:cNvSpPr>
          <p:nvPr/>
        </p:nvSpPr>
        <p:spPr>
          <a:xfrm xmlns:a="http://schemas.openxmlformats.org/drawingml/2006/main">
            <a:off x="581025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Refresh 3</a:t>
            </a:r>
          </a:p>
        </p:txBody>
      </p:sp>
      <p:sp>
        <p:nvSpPr>
          <p:cNvPr id="16" name="">
            <a:extLst xmlns:a="http://schemas.openxmlformats.org/drawingml/2006/main">
              <a:ext uri="{FF2B5EF4-FFF2-40B4-BE49-F238E27FC236}">
                <a16:creationId xmlns:a16="http://schemas.microsoft.com/office/drawing/2014/main" id="{27E41991-EEC1-4E0E-B481-B063530CAA4B}"/>
              </a:ext>
            </a:extLst>
          </p:cNvPr>
          <p:cNvSpPr>
            <a:spLocks xmlns:a="http://schemas.openxmlformats.org/drawingml/2006/main" noGrp="1"/>
          </p:cNvSpPr>
          <p:nvPr/>
        </p:nvSpPr>
        <p:spPr>
          <a:xfrm xmlns:a="http://schemas.openxmlformats.org/drawingml/2006/main">
            <a:off x="582930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17" name="">
            <a:extLst xmlns:a="http://schemas.openxmlformats.org/drawingml/2006/main">
              <a:ext uri="{FF2B5EF4-FFF2-40B4-BE49-F238E27FC236}">
                <a16:creationId xmlns:a16="http://schemas.microsoft.com/office/drawing/2014/main" id="{B20E6905-6B32-40EB-9BA6-20CD4F4D6A42}"/>
              </a:ext>
            </a:extLst>
          </p:cNvPr>
          <p:cNvSpPr>
            <a:spLocks xmlns:a="http://schemas.openxmlformats.org/drawingml/2006/main" noGrp="1"/>
          </p:cNvSpPr>
          <p:nvPr/>
        </p:nvSpPr>
        <p:spPr>
          <a:xfrm xmlns:a="http://schemas.openxmlformats.org/drawingml/2006/main">
            <a:off x="8858250" y="2152650"/>
            <a:ext cx="457200" cy="457200"/>
          </a:xfrm>
          <a:prstGeom xmlns:a="http://schemas.openxmlformats.org/drawingml/2006/main" prst="roundRect">
            <a:avLst>
              <a:gd name="adj" fmla="val 50000"/>
            </a:avLst>
          </a:prstGeom>
          <a:solidFill xmlns:a="http://schemas.openxmlformats.org/drawingml/2006/main">
            <a:srgbClr val="F2C14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3D7B82F-9BFD-4E07-93A3-D801EAD2DF69}"/>
              </a:ext>
            </a:extLst>
          </p:cNvPr>
          <p:cNvSpPr>
            <a:spLocks xmlns:a="http://schemas.openxmlformats.org/drawingml/2006/main" noGrp="1"/>
          </p:cNvSpPr>
          <p:nvPr/>
        </p:nvSpPr>
        <p:spPr>
          <a:xfrm xmlns:a="http://schemas.openxmlformats.org/drawingml/2006/main">
            <a:off x="885825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9489F18E-07EF-495C-8493-466948798BB5}"/>
              </a:ext>
            </a:extLst>
          </p:cNvPr>
          <p:cNvSpPr>
            <a:spLocks xmlns:a="http://schemas.openxmlformats.org/drawingml/2006/main" noGrp="1"/>
          </p:cNvSpPr>
          <p:nvPr/>
        </p:nvSpPr>
        <p:spPr>
          <a:xfrm xmlns:a="http://schemas.openxmlformats.org/drawingml/2006/main">
            <a:off x="838200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Future refreshes</a:t>
            </a:r>
          </a:p>
        </p:txBody>
      </p:sp>
      <p:sp>
        <p:nvSpPr>
          <p:cNvPr id="20" name="">
            <a:extLst xmlns:a="http://schemas.openxmlformats.org/drawingml/2006/main">
              <a:ext uri="{FF2B5EF4-FFF2-40B4-BE49-F238E27FC236}">
                <a16:creationId xmlns:a16="http://schemas.microsoft.com/office/drawing/2014/main" id="{48D71341-DEBB-4402-8182-5EE606411C34}"/>
              </a:ext>
            </a:extLst>
          </p:cNvPr>
          <p:cNvSpPr>
            <a:spLocks xmlns:a="http://schemas.openxmlformats.org/drawingml/2006/main" noGrp="1"/>
          </p:cNvSpPr>
          <p:nvPr/>
        </p:nvSpPr>
        <p:spPr>
          <a:xfrm xmlns:a="http://schemas.openxmlformats.org/drawingml/2006/main">
            <a:off x="840105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21" name="">
            <a:extLst xmlns:a="http://schemas.openxmlformats.org/drawingml/2006/main">
              <a:ext uri="{FF2B5EF4-FFF2-40B4-BE49-F238E27FC236}">
                <a16:creationId xmlns:a16="http://schemas.microsoft.com/office/drawing/2014/main" id="{7BE2C8A0-4E9D-4659-BC29-67401B7154B9}"/>
              </a:ext>
            </a:extLst>
          </p:cNvPr>
          <p:cNvSpPr>
            <a:spLocks xmlns:a="http://schemas.openxmlformats.org/drawingml/2006/main" noGrp="1"/>
          </p:cNvSpPr>
          <p:nvPr/>
        </p:nvSpPr>
        <p:spPr>
          <a:xfrm xmlns:a="http://schemas.openxmlformats.org/drawingml/2006/main">
            <a:off x="685800" y="3943350"/>
            <a:ext cx="4991100" cy="1752600"/>
          </a:xfrm>
          <a:prstGeom xmlns:a="http://schemas.openxmlformats.org/drawingml/2006/main" prst="roundRect">
            <a:avLst>
              <a:gd name="adj" fmla="val 8696"/>
            </a:avLst>
          </a:prstGeom>
          <a:solidFill xmlns:a="http://schemas.openxmlformats.org/drawingml/2006/main">
            <a:srgbClr val="F4F7F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C100361-17D5-4916-881A-00A136091D80}"/>
              </a:ext>
            </a:extLst>
          </p:cNvPr>
          <p:cNvSpPr>
            <a:spLocks xmlns:a="http://schemas.openxmlformats.org/drawingml/2006/main" noGrp="1"/>
          </p:cNvSpPr>
          <p:nvPr/>
        </p:nvSpPr>
        <p:spPr>
          <a:xfrm xmlns:a="http://schemas.openxmlformats.org/drawingml/2006/main">
            <a:off x="933450" y="41814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78C8C"/>
                </a:solidFill>
                <a:latin typeface="Helvetica Neue"/>
                <a:ea typeface="Helvetica Neue"/>
                <a:cs typeface="Helvetica Neue"/>
              </a:defRPr>
            </a:pPr>
            <a:r>
              <a:rPr sz="1650" b="1">
                <a:solidFill>
                  <a:srgbClr val="178C8C"/>
                </a:solidFill>
                <a:latin typeface="Helvetica Neue"/>
                <a:ea typeface="Helvetica Neue"/>
                <a:cs typeface="Helvetica Neue"/>
              </a:rPr>
              <a:t>Trend filters</a:t>
            </a:r>
          </a:p>
        </p:txBody>
      </p:sp>
      <p:sp>
        <p:nvSpPr>
          <p:cNvPr id="23" name="">
            <a:extLst xmlns:a="http://schemas.openxmlformats.org/drawingml/2006/main">
              <a:ext uri="{FF2B5EF4-FFF2-40B4-BE49-F238E27FC236}">
                <a16:creationId xmlns:a16="http://schemas.microsoft.com/office/drawing/2014/main" id="{80D83C60-B05D-4438-AF82-8DE93E47A24D}"/>
              </a:ext>
            </a:extLst>
          </p:cNvPr>
          <p:cNvSpPr>
            <a:spLocks xmlns:a="http://schemas.openxmlformats.org/drawingml/2006/main" noGrp="1"/>
          </p:cNvSpPr>
          <p:nvPr/>
        </p:nvSpPr>
        <p:spPr>
          <a:xfrm xmlns:a="http://schemas.openxmlformats.org/drawingml/2006/main">
            <a:off x="933450" y="4667250"/>
            <a:ext cx="4343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FTM  •  Task  •  Age group</a:t>
            </a:r>
          </a:p>
          <a:p xmlns:a="http://schemas.openxmlformats.org/drawingml/2006/main">
            <a:pPr algn="l">
              <a:lnSpc>
                <a:spcPct val="112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Outcome  •  Cohort  •  FTM view</a:t>
            </a:r>
          </a:p>
        </p:txBody>
      </p:sp>
      <p:sp>
        <p:nvSpPr>
          <p:cNvPr id="24" name="">
            <a:extLst xmlns:a="http://schemas.openxmlformats.org/drawingml/2006/main">
              <a:ext uri="{FF2B5EF4-FFF2-40B4-BE49-F238E27FC236}">
                <a16:creationId xmlns:a16="http://schemas.microsoft.com/office/drawing/2014/main" id="{056AF5DC-82F6-4A87-95C5-21ED9305A329}"/>
              </a:ext>
            </a:extLst>
          </p:cNvPr>
          <p:cNvSpPr>
            <a:spLocks xmlns:a="http://schemas.openxmlformats.org/drawingml/2006/main" noGrp="1"/>
          </p:cNvSpPr>
          <p:nvPr/>
        </p:nvSpPr>
        <p:spPr>
          <a:xfrm xmlns:a="http://schemas.openxmlformats.org/drawingml/2006/main">
            <a:off x="5962650" y="3943350"/>
            <a:ext cx="5467350" cy="1752600"/>
          </a:xfrm>
          <a:prstGeom xmlns:a="http://schemas.openxmlformats.org/drawingml/2006/main" prst="roundRect">
            <a:avLst>
              <a:gd name="adj" fmla="val 8696"/>
            </a:avLst>
          </a:prstGeom>
          <a:solidFill xmlns:a="http://schemas.openxmlformats.org/drawingml/2006/main">
            <a:srgbClr val="EDF7F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5830F38-6523-4F56-BEE1-DCEAE8F41E56}"/>
              </a:ext>
            </a:extLst>
          </p:cNvPr>
          <p:cNvSpPr>
            <a:spLocks xmlns:a="http://schemas.openxmlformats.org/drawingml/2006/main" noGrp="1"/>
          </p:cNvSpPr>
          <p:nvPr/>
        </p:nvSpPr>
        <p:spPr>
          <a:xfrm xmlns:a="http://schemas.openxmlformats.org/drawingml/2006/main">
            <a:off x="6210300" y="41814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78C8C"/>
                </a:solidFill>
                <a:latin typeface="Helvetica Neue"/>
                <a:ea typeface="Helvetica Neue"/>
                <a:cs typeface="Helvetica Neue"/>
              </a:defRPr>
            </a:pPr>
            <a:r>
              <a:rPr sz="1650" b="1">
                <a:solidFill>
                  <a:srgbClr val="178C8C"/>
                </a:solidFill>
                <a:latin typeface="Helvetica Neue"/>
                <a:ea typeface="Helvetica Neue"/>
                <a:cs typeface="Helvetica Neue"/>
              </a:rPr>
              <a:t>Displayed metrics</a:t>
            </a:r>
          </a:p>
        </p:txBody>
      </p:sp>
      <p:sp>
        <p:nvSpPr>
          <p:cNvPr id="26" name="">
            <a:extLst xmlns:a="http://schemas.openxmlformats.org/drawingml/2006/main">
              <a:ext uri="{FF2B5EF4-FFF2-40B4-BE49-F238E27FC236}">
                <a16:creationId xmlns:a16="http://schemas.microsoft.com/office/drawing/2014/main" id="{DD26A7F4-23F7-4F71-8923-D9F4FF11A196}"/>
              </a:ext>
            </a:extLst>
          </p:cNvPr>
          <p:cNvSpPr>
            <a:spLocks xmlns:a="http://schemas.openxmlformats.org/drawingml/2006/main" noGrp="1"/>
          </p:cNvSpPr>
          <p:nvPr/>
        </p:nvSpPr>
        <p:spPr>
          <a:xfrm xmlns:a="http://schemas.openxmlformats.org/drawingml/2006/main">
            <a:off x="6210300" y="4638675"/>
            <a:ext cx="4800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Weighted progress  •  Completion rate</a:t>
            </a:r>
          </a:p>
          <a:p xmlns:a="http://schemas.openxmlformats.org/drawingml/2006/main">
            <a:pPr algn="l">
              <a:lnSpc>
                <a:spcPct val="108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Complete  •  No-show  •  Needs follow-up</a:t>
            </a:r>
          </a:p>
          <a:p xmlns:a="http://schemas.openxmlformats.org/drawingml/2006/main">
            <a:pPr algn="l">
              <a:lnSpc>
                <a:spcPct val="108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Participants  •  Task records</a:t>
            </a:r>
          </a:p>
        </p:txBody>
      </p:sp>
      <p:sp>
        <p:nvSpPr>
          <p:cNvPr id="27" name="">
            <a:extLst xmlns:a="http://schemas.openxmlformats.org/drawingml/2006/main">
              <a:ext uri="{FF2B5EF4-FFF2-40B4-BE49-F238E27FC236}">
                <a16:creationId xmlns:a16="http://schemas.microsoft.com/office/drawing/2014/main" id="{22DAE84D-F531-4C41-828E-9A648EDED0A2}"/>
              </a:ext>
            </a:extLst>
          </p:cNvPr>
          <p:cNvSpPr>
            <a:spLocks xmlns:a="http://schemas.openxmlformats.org/drawingml/2006/main" noGrp="1"/>
          </p:cNvSpPr>
          <p:nvPr/>
        </p:nvSpPr>
        <p:spPr>
          <a:xfrm xmlns:a="http://schemas.openxmlformats.org/drawingml/2006/main">
            <a:off x="685800" y="60007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Operational result: the dashboard can show current status, any saved snapshot, and how each FTM changes over time.</a:t>
            </a:r>
          </a:p>
        </p:txBody>
      </p:sp>
    </p:spTree>
    <p:extLst>
      <p:ext uri="{BB962C8B-B14F-4D97-AF65-F5344CB8AC3E}">
        <p14:creationId xmlns:p14="http://schemas.microsoft.com/office/powerpoint/2010/main" val="12051676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2026-09-10T03:06:11.1640000Z</dcterms:created>
  <dcterms:modified xsi:type="dcterms:W3CDTF">2026-09-10T03:06:11.1640000Z</dcterms:modified>
</coreProperties>
</file>