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c051f29b374843" /><Relationship Type="http://schemas.openxmlformats.org/officeDocument/2006/relationships/extended-properties" Target="/docProps/app.xml" Id="Rb25073a4a3844305" /><Relationship Type="http://schemas.openxmlformats.org/officeDocument/2006/relationships/officeDocument" Target="/ppt/presentation.xml" Id="Re48952a7e9174039" /></Relationships>
</file>

<file path=ppt/presentation.xml><?xml version="1.0" encoding="utf-8"?>
<p:presentation xmlns:p="http://schemas.openxmlformats.org/presentationml/2006/main">
  <p:sldMasterIdLst>
    <p:sldMasterId xmlns:r="http://schemas.openxmlformats.org/officeDocument/2006/relationships" id="2147483648" r:id="R1bf7ef0a2f2743f1"/>
  </p:sldMasterIdLst>
  <p:notesMasterIdLst>
    <p:notesMasterId xmlns:r="http://schemas.openxmlformats.org/officeDocument/2006/relationships" r:id="R3a9226aff35940ad"/>
  </p:notesMasterIdLst>
  <p:sldIdLst>
    <p:sldId xmlns:r="http://schemas.openxmlformats.org/officeDocument/2006/relationships" id="256" r:id="R99d9ba4482d443be"/>
    <p:sldId xmlns:r="http://schemas.openxmlformats.org/officeDocument/2006/relationships" id="257" r:id="R9e75a4956ea140ca"/>
    <p:sldId xmlns:r="http://schemas.openxmlformats.org/officeDocument/2006/relationships" id="258" r:id="Rf51f26ad3f904ad8"/>
    <p:sldId xmlns:r="http://schemas.openxmlformats.org/officeDocument/2006/relationships" id="259" r:id="R687ce638ad52427a"/>
    <p:sldId xmlns:r="http://schemas.openxmlformats.org/officeDocument/2006/relationships" id="260" r:id="Re6dbe0e908874d64"/>
    <p:sldId xmlns:r="http://schemas.openxmlformats.org/officeDocument/2006/relationships" id="261" r:id="Rbced48b9e8c24d9b"/>
    <p:sldId xmlns:r="http://schemas.openxmlformats.org/officeDocument/2006/relationships" id="262" r:id="Rd45c65e6a0fb4b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220f491d49494b" /><Relationship Type="http://schemas.openxmlformats.org/officeDocument/2006/relationships/slideMaster" Target="/ppt/slideMasters/slideMaster1.xml" Id="R1bf7ef0a2f2743f1" /><Relationship Type="http://schemas.openxmlformats.org/officeDocument/2006/relationships/notesMaster" Target="/ppt/notesMasters/notesMaster1.xml" Id="R3a9226aff35940ad" /><Relationship Type="http://schemas.openxmlformats.org/officeDocument/2006/relationships/presProps" Target="/ppt/presProps.xml" Id="Rb24125bad6c34b45" /><Relationship Type="http://schemas.openxmlformats.org/officeDocument/2006/relationships/tableStyles" Target="/ppt/tableStyles.xml" Id="Re058d7da11b3431b" /><Relationship Type="http://schemas.openxmlformats.org/officeDocument/2006/relationships/slide" Target="/ppt/slides/slide1.xml" Id="R99d9ba4482d443be" /><Relationship Type="http://schemas.openxmlformats.org/officeDocument/2006/relationships/slide" Target="/ppt/slides/slide2.xml" Id="R9e75a4956ea140ca" /><Relationship Type="http://schemas.openxmlformats.org/officeDocument/2006/relationships/slide" Target="/ppt/slides/slide3.xml" Id="Rf51f26ad3f904ad8" /><Relationship Type="http://schemas.openxmlformats.org/officeDocument/2006/relationships/slide" Target="/ppt/slides/slide4.xml" Id="R687ce638ad52427a" /><Relationship Type="http://schemas.openxmlformats.org/officeDocument/2006/relationships/slide" Target="/ppt/slides/slide5.xml" Id="Re6dbe0e908874d64" /><Relationship Type="http://schemas.openxmlformats.org/officeDocument/2006/relationships/slide" Target="/ppt/slides/slide6.xml" Id="Rbced48b9e8c24d9b" /><Relationship Type="http://schemas.openxmlformats.org/officeDocument/2006/relationships/slide" Target="/ppt/slides/slide7.xml" Id="Rd45c65e6a0fb4b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042e47c7c34e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48ee7ec53f4c03" /><Relationship Type="http://schemas.openxmlformats.org/officeDocument/2006/relationships/notesMaster" Target="/ppt/notesMasters/notesMaster1.xml" Id="Rffa3794440494d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6fc22c994a466f" /><Relationship Type="http://schemas.openxmlformats.org/officeDocument/2006/relationships/notesMaster" Target="/ppt/notesMasters/notesMaster1.xml" Id="R3ff26ba260cc41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3b4ca8f1cd4a96" /><Relationship Type="http://schemas.openxmlformats.org/officeDocument/2006/relationships/notesMaster" Target="/ppt/notesMasters/notesMaster1.xml" Id="Ra80516632e6145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b9ca5c08e44a23" /><Relationship Type="http://schemas.openxmlformats.org/officeDocument/2006/relationships/notesMaster" Target="/ppt/notesMasters/notesMaster1.xml" Id="R0910d327cfc343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508a77dd9b4e7f" /><Relationship Type="http://schemas.openxmlformats.org/officeDocument/2006/relationships/notesMaster" Target="/ppt/notesMasters/notesMaster1.xml" Id="R66d1c32685ec47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55ed7fd68242e9" /><Relationship Type="http://schemas.openxmlformats.org/officeDocument/2006/relationships/notesMaster" Target="/ppt/notesMasters/notesMaster1.xml" Id="R984ad623626d4e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f18d6af69147f7" /><Relationship Type="http://schemas.openxmlformats.org/officeDocument/2006/relationships/notesMaster" Target="/ppt/notesMasters/notesMaster1.xml" Id="Radc462b7a40f4d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current IPA dashboard calculation logic and the repeatable update process. Sources: local Ripple exports, Calendly exports, call lists, and CHARM cohort crosswalk.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supports two complementary views: locked task responsibility for fair credit and current caseload for day-to-day follow-up.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Crosswalk path is built from BASE_PATH: Data/Miscellaneous/Global Crosswalk/CHARM_Cohort_List.xlsx. Mother custom IDs are supporting evidence only and never override child-name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 retain the latest Calendly record for each participant-age-band pair. A previous no-show does not override a later completed IPA.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record remains NA in the detailed raw score field, but contributes zero when calculating weighted progress over applicable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task states—including Complete, No-Show, Incomplete, and No record—remain credited to the FTM responsible for that age-band task. Future assignments receive credit only for work in their own responsible period/stage.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snapshot is written after every successful update using the actual refresh timestamp. Failed or incomplete snapshot folders are ignored. The dashboard supports Latest, historical snapshot selection, and filtered FTM trend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53b42ab6a64b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1f4abbebbc413e" /><Relationship Type="http://schemas.openxmlformats.org/officeDocument/2006/relationships/slideLayout" Target="/ppt/slideLayouts/slideLayout1.xml" Id="R0948bf883a6745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48bf883a6745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1c9f9b387a498a" /><Relationship Type="http://schemas.openxmlformats.org/officeDocument/2006/relationships/notesSlide" Target="/ppt/notesSlides/notesSlide1.xml" Id="Rd0d8fff4cb9447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882d862fa14fc2" /><Relationship Type="http://schemas.openxmlformats.org/officeDocument/2006/relationships/notesSlide" Target="/ppt/notesSlides/notesSlide2.xml" Id="Rf99803718928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94ec72e5eb4ea1" /><Relationship Type="http://schemas.openxmlformats.org/officeDocument/2006/relationships/notesSlide" Target="/ppt/notesSlides/notesSlide3.xml" Id="R5ab0641c3c0644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56e5a23dbd4734" /><Relationship Type="http://schemas.openxmlformats.org/officeDocument/2006/relationships/notesSlide" Target="/ppt/notesSlides/notesSlide4.xml" Id="Re19de63f28e14c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274eed82a04d72" /><Relationship Type="http://schemas.openxmlformats.org/officeDocument/2006/relationships/notesSlide" Target="/ppt/notesSlides/notesSlide5.xml" Id="R213a348806d945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fcaec1c0104740" /><Relationship Type="http://schemas.openxmlformats.org/officeDocument/2006/relationships/notesSlide" Target="/ppt/notesSlides/notesSlide6.xml" Id="Rc66dfe28674247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8661c88c9244da" /><Relationship Type="http://schemas.openxmlformats.org/officeDocument/2006/relationships/notesSlide" Target="/ppt/notesSlides/notesSlide7.xml" Id="Rff1435c590ee451f"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F94009-709A-4326-AF96-C981AAA564B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A40C9D-EC79-4F6C-A7A4-04A5166AE752}"/>
              </a:ext>
            </a:extLst>
          </p:cNvPr>
          <p:cNvSpPr>
            <a:spLocks xmlns:a="http://schemas.openxmlformats.org/drawingml/2006/main" noGrp="1"/>
          </p:cNvSpPr>
          <p:nvPr/>
        </p:nvSpPr>
        <p:spPr>
          <a:xfrm xmlns:a="http://schemas.openxmlformats.org/drawingml/2006/main">
            <a:off x="8343900" y="0"/>
            <a:ext cx="3848100" cy="68580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B3259B3-DBC2-4F89-B747-68B4FBC824BB}"/>
              </a:ext>
            </a:extLst>
          </p:cNvPr>
          <p:cNvSpPr>
            <a:spLocks xmlns:a="http://schemas.openxmlformats.org/drawingml/2006/main" noGrp="1"/>
          </p:cNvSpPr>
          <p:nvPr/>
        </p:nvSpPr>
        <p:spPr>
          <a:xfrm xmlns:a="http://schemas.openxmlformats.org/drawingml/2006/main">
            <a:off x="8934450" y="971550"/>
            <a:ext cx="2266950" cy="22669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B6BAF8-B1E8-4641-9622-E0EE2A979313}"/>
              </a:ext>
            </a:extLst>
          </p:cNvPr>
          <p:cNvSpPr>
            <a:spLocks xmlns:a="http://schemas.openxmlformats.org/drawingml/2006/main" noGrp="1"/>
          </p:cNvSpPr>
          <p:nvPr/>
        </p:nvSpPr>
        <p:spPr>
          <a:xfrm xmlns:a="http://schemas.openxmlformats.org/drawingml/2006/main">
            <a:off x="9534525" y="1571625"/>
            <a:ext cx="1066800" cy="106680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E6261E-04A1-4695-8565-C134211E70F2}"/>
              </a:ext>
            </a:extLst>
          </p:cNvPr>
          <p:cNvSpPr>
            <a:spLocks xmlns:a="http://schemas.openxmlformats.org/drawingml/2006/main" noGrp="1"/>
          </p:cNvSpPr>
          <p:nvPr/>
        </p:nvSpPr>
        <p:spPr>
          <a:xfrm xmlns:a="http://schemas.openxmlformats.org/drawingml/2006/main">
            <a:off x="8715375" y="3867150"/>
            <a:ext cx="2619375" cy="0"/>
          </a:xfrm>
          <a:prstGeom xmlns:a="http://schemas.openxmlformats.org/drawingml/2006/main" prst="line">
            <a:avLst/>
          </a:prstGeom>
          <a:noFill xmlns:a="http://schemas.openxmlformats.org/drawingml/2006/main"/>
          <a:ln xmlns:a="http://schemas.openxmlformats.org/drawingml/2006/main" w="38100">
            <a:solidFill>
              <a:srgbClr val="F2C14E"/>
            </a:solidFill>
            <a:prstDash val="solid"/>
          </a:ln>
        </p:spPr>
      </p:sp>
      <p:sp>
        <p:nvSpPr>
          <p:cNvPr id="6" name="">
            <a:extLst xmlns:a="http://schemas.openxmlformats.org/drawingml/2006/main">
              <a:ext uri="{FF2B5EF4-FFF2-40B4-BE49-F238E27FC236}">
                <a16:creationId xmlns:a16="http://schemas.microsoft.com/office/drawing/2014/main" id="{16F64DF0-00B7-45E2-84F8-26A0F474CC1E}"/>
              </a:ext>
            </a:extLst>
          </p:cNvPr>
          <p:cNvSpPr>
            <a:spLocks xmlns:a="http://schemas.openxmlformats.org/drawingml/2006/main" noGrp="1"/>
          </p:cNvSpPr>
          <p:nvPr/>
        </p:nvSpPr>
        <p:spPr>
          <a:xfrm xmlns:a="http://schemas.openxmlformats.org/drawingml/2006/main">
            <a:off x="742950" y="1714500"/>
            <a:ext cx="695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CHARM IPA Dashboard</a:t>
            </a:r>
          </a:p>
        </p:txBody>
      </p:sp>
      <p:sp>
        <p:nvSpPr>
          <p:cNvPr id="7" name="">
            <a:extLst xmlns:a="http://schemas.openxmlformats.org/drawingml/2006/main">
              <a:ext uri="{FF2B5EF4-FFF2-40B4-BE49-F238E27FC236}">
                <a16:creationId xmlns:a16="http://schemas.microsoft.com/office/drawing/2014/main" id="{E6ADF6F5-CA4D-4DCE-8AAA-7368F747A5E0}"/>
              </a:ext>
            </a:extLst>
          </p:cNvPr>
          <p:cNvSpPr>
            <a:spLocks xmlns:a="http://schemas.openxmlformats.org/drawingml/2006/main" noGrp="1"/>
          </p:cNvSpPr>
          <p:nvPr/>
        </p:nvSpPr>
        <p:spPr>
          <a:xfrm xmlns:a="http://schemas.openxmlformats.org/drawingml/2006/main">
            <a:off x="762000" y="26003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0">
                <a:solidFill>
                  <a:srgbClr val="C8D7E3"/>
                </a:solidFill>
                <a:latin typeface="Helvetica Neue"/>
                <a:ea typeface="Helvetica Neue"/>
                <a:cs typeface="Helvetica Neue"/>
              </a:defRPr>
            </a:pPr>
            <a:r>
              <a:rPr sz="2325" b="0">
                <a:solidFill>
                  <a:srgbClr val="C8D7E3"/>
                </a:solidFill>
                <a:latin typeface="Helvetica Neue"/>
                <a:ea typeface="Helvetica Neue"/>
                <a:cs typeface="Helvetica Neue"/>
              </a:rPr>
              <a:t>Calculation Logic &amp; Update Workflow</a:t>
            </a:r>
          </a:p>
        </p:txBody>
      </p:sp>
      <p:sp>
        <p:nvSpPr>
          <p:cNvPr id="8" name="">
            <a:extLst xmlns:a="http://schemas.openxmlformats.org/drawingml/2006/main">
              <a:ext uri="{FF2B5EF4-FFF2-40B4-BE49-F238E27FC236}">
                <a16:creationId xmlns:a16="http://schemas.microsoft.com/office/drawing/2014/main" id="{497A3026-F4CB-485F-8B13-8DE20099B6E7}"/>
              </a:ext>
            </a:extLst>
          </p:cNvPr>
          <p:cNvSpPr>
            <a:spLocks xmlns:a="http://schemas.openxmlformats.org/drawingml/2006/main" noGrp="1"/>
          </p:cNvSpPr>
          <p:nvPr/>
        </p:nvSpPr>
        <p:spPr>
          <a:xfrm xmlns:a="http://schemas.openxmlformats.org/drawingml/2006/main">
            <a:off x="762000" y="34099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From Calendly and Ripple records to fair, time-based FTM performance tracking</a:t>
            </a:r>
          </a:p>
        </p:txBody>
      </p:sp>
      <p:sp>
        <p:nvSpPr>
          <p:cNvPr id="9" name="">
            <a:extLst xmlns:a="http://schemas.openxmlformats.org/drawingml/2006/main">
              <a:ext uri="{FF2B5EF4-FFF2-40B4-BE49-F238E27FC236}">
                <a16:creationId xmlns:a16="http://schemas.microsoft.com/office/drawing/2014/main" id="{A853930F-1042-4FCB-84A3-95C75B304DD4}"/>
              </a:ext>
            </a:extLst>
          </p:cNvPr>
          <p:cNvSpPr>
            <a:spLocks xmlns:a="http://schemas.openxmlformats.org/drawingml/2006/main" noGrp="1"/>
          </p:cNvSpPr>
          <p:nvPr/>
        </p:nvSpPr>
        <p:spPr>
          <a:xfrm xmlns:a="http://schemas.openxmlformats.org/drawingml/2006/main">
            <a:off x="762000" y="59055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FB2C1"/>
                </a:solidFill>
                <a:latin typeface="Helvetica Neue"/>
                <a:ea typeface="Helvetica Neue"/>
                <a:cs typeface="Helvetica Neue"/>
              </a:defRPr>
            </a:pPr>
            <a:r>
              <a:rPr sz="1200" b="0">
                <a:solidFill>
                  <a:srgbClr val="9FB2C1"/>
                </a:solidFill>
                <a:latin typeface="Helvetica Neue"/>
                <a:ea typeface="Helvetica Neue"/>
                <a:cs typeface="Helvetica Neue"/>
              </a:rPr>
              <a:t>Internal methods brief  |  September 2026</a:t>
            </a:r>
          </a:p>
        </p:txBody>
      </p:sp>
    </p:spTree>
    <p:extLst>
      <p:ext uri="{BB962C8B-B14F-4D97-AF65-F5344CB8AC3E}">
        <p14:creationId xmlns:p14="http://schemas.microsoft.com/office/powerpoint/2010/main" val="1202765145"/>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ADAC499-FBC2-4B86-B893-8127778579A0}"/>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One refresh turns four sources into two dashboard views</a:t>
            </a:r>
          </a:p>
        </p:txBody>
      </p:sp>
      <p:sp>
        <p:nvSpPr>
          <p:cNvPr id="2" name="">
            <a:extLst xmlns:a="http://schemas.openxmlformats.org/drawingml/2006/main">
              <a:ext uri="{FF2B5EF4-FFF2-40B4-BE49-F238E27FC236}">
                <a16:creationId xmlns:a16="http://schemas.microsoft.com/office/drawing/2014/main" id="{4B2CE8D9-6DFA-4CFB-9F1D-F78FC5F60FB4}"/>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B791FAF1-8AA4-424D-8FFA-F6F695473582}"/>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649362F0-59C2-4576-BFB6-0AC21C08E11F}"/>
              </a:ext>
            </a:extLst>
          </p:cNvPr>
          <p:cNvSpPr>
            <a:spLocks xmlns:a="http://schemas.openxmlformats.org/drawingml/2006/main" noGrp="1"/>
          </p:cNvSpPr>
          <p:nvPr/>
        </p:nvSpPr>
        <p:spPr>
          <a:xfrm xmlns:a="http://schemas.openxmlformats.org/drawingml/2006/main">
            <a:off x="66675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5" name="">
            <a:extLst xmlns:a="http://schemas.openxmlformats.org/drawingml/2006/main">
              <a:ext uri="{FF2B5EF4-FFF2-40B4-BE49-F238E27FC236}">
                <a16:creationId xmlns:a16="http://schemas.microsoft.com/office/drawing/2014/main" id="{DBFD962C-CF1C-4837-82E8-686687E0DBAD}"/>
              </a:ext>
            </a:extLst>
          </p:cNvPr>
          <p:cNvSpPr>
            <a:spLocks xmlns:a="http://schemas.openxmlformats.org/drawingml/2006/main" noGrp="1"/>
          </p:cNvSpPr>
          <p:nvPr/>
        </p:nvSpPr>
        <p:spPr>
          <a:xfrm xmlns:a="http://schemas.openxmlformats.org/drawingml/2006/main">
            <a:off x="666750" y="1752600"/>
            <a:ext cx="1952625" cy="952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94C433-5D2E-45C2-B225-7C80C9F1AA76}"/>
              </a:ext>
            </a:extLst>
          </p:cNvPr>
          <p:cNvSpPr>
            <a:spLocks xmlns:a="http://schemas.openxmlformats.org/drawingml/2006/main" noGrp="1"/>
          </p:cNvSpPr>
          <p:nvPr/>
        </p:nvSpPr>
        <p:spPr>
          <a:xfrm xmlns:a="http://schemas.openxmlformats.org/drawingml/2006/main">
            <a:off x="85725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1  Ingest</a:t>
            </a:r>
          </a:p>
        </p:txBody>
      </p:sp>
      <p:sp>
        <p:nvSpPr>
          <p:cNvPr id="7" name="">
            <a:extLst xmlns:a="http://schemas.openxmlformats.org/drawingml/2006/main">
              <a:ext uri="{FF2B5EF4-FFF2-40B4-BE49-F238E27FC236}">
                <a16:creationId xmlns:a16="http://schemas.microsoft.com/office/drawing/2014/main" id="{1A00EBCF-0D67-4060-8E32-02D2E834C1E2}"/>
              </a:ext>
            </a:extLst>
          </p:cNvPr>
          <p:cNvSpPr>
            <a:spLocks xmlns:a="http://schemas.openxmlformats.org/drawingml/2006/main" noGrp="1"/>
          </p:cNvSpPr>
          <p:nvPr/>
        </p:nvSpPr>
        <p:spPr>
          <a:xfrm xmlns:a="http://schemas.openxmlformats.org/drawingml/2006/main">
            <a:off x="85725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Ripple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3–20 call lists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Cohort crosswalk</a:t>
            </a:r>
          </a:p>
        </p:txBody>
      </p:sp>
      <p:sp>
        <p:nvSpPr>
          <p:cNvPr id="8" name="">
            <a:extLst xmlns:a="http://schemas.openxmlformats.org/drawingml/2006/main">
              <a:ext uri="{FF2B5EF4-FFF2-40B4-BE49-F238E27FC236}">
                <a16:creationId xmlns:a16="http://schemas.microsoft.com/office/drawing/2014/main" id="{AEB79DC0-F4A8-46B6-8E09-0820C5643EA5}"/>
              </a:ext>
            </a:extLst>
          </p:cNvPr>
          <p:cNvSpPr>
            <a:spLocks xmlns:a="http://schemas.openxmlformats.org/drawingml/2006/main" noGrp="1"/>
          </p:cNvSpPr>
          <p:nvPr/>
        </p:nvSpPr>
        <p:spPr>
          <a:xfrm xmlns:a="http://schemas.openxmlformats.org/drawingml/2006/main">
            <a:off x="267652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74F119-A066-4E26-B73B-732611BBA279}"/>
              </a:ext>
            </a:extLst>
          </p:cNvPr>
          <p:cNvSpPr>
            <a:spLocks xmlns:a="http://schemas.openxmlformats.org/drawingml/2006/main" noGrp="1"/>
          </p:cNvSpPr>
          <p:nvPr/>
        </p:nvSpPr>
        <p:spPr>
          <a:xfrm xmlns:a="http://schemas.openxmlformats.org/drawingml/2006/main">
            <a:off x="300037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9955098E-841A-48FE-B160-4C57618BDA40}"/>
              </a:ext>
            </a:extLst>
          </p:cNvPr>
          <p:cNvSpPr>
            <a:spLocks xmlns:a="http://schemas.openxmlformats.org/drawingml/2006/main" noGrp="1"/>
          </p:cNvSpPr>
          <p:nvPr/>
        </p:nvSpPr>
        <p:spPr>
          <a:xfrm xmlns:a="http://schemas.openxmlformats.org/drawingml/2006/main">
            <a:off x="3000375" y="1752600"/>
            <a:ext cx="1952625" cy="9525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82FD77-2094-41CE-8107-A82B98BCFCA3}"/>
              </a:ext>
            </a:extLst>
          </p:cNvPr>
          <p:cNvSpPr>
            <a:spLocks xmlns:a="http://schemas.openxmlformats.org/drawingml/2006/main" noGrp="1"/>
          </p:cNvSpPr>
          <p:nvPr/>
        </p:nvSpPr>
        <p:spPr>
          <a:xfrm xmlns:a="http://schemas.openxmlformats.org/drawingml/2006/main">
            <a:off x="319087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2  Standardize</a:t>
            </a:r>
          </a:p>
        </p:txBody>
      </p:sp>
      <p:sp>
        <p:nvSpPr>
          <p:cNvPr id="12" name="">
            <a:extLst xmlns:a="http://schemas.openxmlformats.org/drawingml/2006/main">
              <a:ext uri="{FF2B5EF4-FFF2-40B4-BE49-F238E27FC236}">
                <a16:creationId xmlns:a16="http://schemas.microsoft.com/office/drawing/2014/main" id="{6E9E31F3-E6ED-43F9-B709-4191A1AA942B}"/>
              </a:ext>
            </a:extLst>
          </p:cNvPr>
          <p:cNvSpPr>
            <a:spLocks xmlns:a="http://schemas.openxmlformats.org/drawingml/2006/main" noGrp="1"/>
          </p:cNvSpPr>
          <p:nvPr/>
        </p:nvSpPr>
        <p:spPr>
          <a:xfrm xmlns:a="http://schemas.openxmlformats.org/drawingml/2006/main">
            <a:off x="319087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Clean names and IDs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Convert age to years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Map age bands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Resolve duplicate bookings</a:t>
            </a:r>
          </a:p>
        </p:txBody>
      </p:sp>
      <p:sp>
        <p:nvSpPr>
          <p:cNvPr id="13" name="">
            <a:extLst xmlns:a="http://schemas.openxmlformats.org/drawingml/2006/main">
              <a:ext uri="{FF2B5EF4-FFF2-40B4-BE49-F238E27FC236}">
                <a16:creationId xmlns:a16="http://schemas.microsoft.com/office/drawing/2014/main" id="{7D033B9B-22B5-471B-A0F6-E0EF1F08E1D1}"/>
              </a:ext>
            </a:extLst>
          </p:cNvPr>
          <p:cNvSpPr>
            <a:spLocks xmlns:a="http://schemas.openxmlformats.org/drawingml/2006/main" noGrp="1"/>
          </p:cNvSpPr>
          <p:nvPr/>
        </p:nvSpPr>
        <p:spPr>
          <a:xfrm xmlns:a="http://schemas.openxmlformats.org/drawingml/2006/main">
            <a:off x="5010150"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314210-E66C-448C-99D3-F55167DA06BC}"/>
              </a:ext>
            </a:extLst>
          </p:cNvPr>
          <p:cNvSpPr>
            <a:spLocks xmlns:a="http://schemas.openxmlformats.org/drawingml/2006/main" noGrp="1"/>
          </p:cNvSpPr>
          <p:nvPr/>
        </p:nvSpPr>
        <p:spPr>
          <a:xfrm xmlns:a="http://schemas.openxmlformats.org/drawingml/2006/main">
            <a:off x="533400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5" name="">
            <a:extLst xmlns:a="http://schemas.openxmlformats.org/drawingml/2006/main">
              <a:ext uri="{FF2B5EF4-FFF2-40B4-BE49-F238E27FC236}">
                <a16:creationId xmlns:a16="http://schemas.microsoft.com/office/drawing/2014/main" id="{424C1010-3B06-4C7E-819C-FAA040CCF2B5}"/>
              </a:ext>
            </a:extLst>
          </p:cNvPr>
          <p:cNvSpPr>
            <a:spLocks xmlns:a="http://schemas.openxmlformats.org/drawingml/2006/main" noGrp="1"/>
          </p:cNvSpPr>
          <p:nvPr/>
        </p:nvSpPr>
        <p:spPr>
          <a:xfrm xmlns:a="http://schemas.openxmlformats.org/drawingml/2006/main">
            <a:off x="5334000" y="1752600"/>
            <a:ext cx="1952625" cy="952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DB98E31-51E8-4BE2-9915-F051BA2D89DD}"/>
              </a:ext>
            </a:extLst>
          </p:cNvPr>
          <p:cNvSpPr>
            <a:spLocks xmlns:a="http://schemas.openxmlformats.org/drawingml/2006/main" noGrp="1"/>
          </p:cNvSpPr>
          <p:nvPr/>
        </p:nvSpPr>
        <p:spPr>
          <a:xfrm xmlns:a="http://schemas.openxmlformats.org/drawingml/2006/main">
            <a:off x="552450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3  Assign &amp; score</a:t>
            </a:r>
          </a:p>
        </p:txBody>
      </p:sp>
      <p:sp>
        <p:nvSpPr>
          <p:cNvPr id="17" name="">
            <a:extLst xmlns:a="http://schemas.openxmlformats.org/drawingml/2006/main">
              <a:ext uri="{FF2B5EF4-FFF2-40B4-BE49-F238E27FC236}">
                <a16:creationId xmlns:a16="http://schemas.microsoft.com/office/drawing/2014/main" id="{1DDBCCF7-8BCC-4A67-A964-733BD21AFFED}"/>
              </a:ext>
            </a:extLst>
          </p:cNvPr>
          <p:cNvSpPr>
            <a:spLocks xmlns:a="http://schemas.openxmlformats.org/drawingml/2006/main" noGrp="1"/>
          </p:cNvSpPr>
          <p:nvPr/>
        </p:nvSpPr>
        <p:spPr>
          <a:xfrm xmlns:a="http://schemas.openxmlformats.org/drawingml/2006/main">
            <a:off x="552450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Choose latest IPA record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Derive task outcomes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Lock task responsibility</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Calculate progress</a:t>
            </a:r>
          </a:p>
        </p:txBody>
      </p:sp>
      <p:sp>
        <p:nvSpPr>
          <p:cNvPr id="18" name="">
            <a:extLst xmlns:a="http://schemas.openxmlformats.org/drawingml/2006/main">
              <a:ext uri="{FF2B5EF4-FFF2-40B4-BE49-F238E27FC236}">
                <a16:creationId xmlns:a16="http://schemas.microsoft.com/office/drawing/2014/main" id="{7BEABCA6-047F-4225-AACF-B550520F8FF0}"/>
              </a:ext>
            </a:extLst>
          </p:cNvPr>
          <p:cNvSpPr>
            <a:spLocks xmlns:a="http://schemas.openxmlformats.org/drawingml/2006/main" noGrp="1"/>
          </p:cNvSpPr>
          <p:nvPr/>
        </p:nvSpPr>
        <p:spPr>
          <a:xfrm xmlns:a="http://schemas.openxmlformats.org/drawingml/2006/main">
            <a:off x="734377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D182C57-0145-474B-ABA1-4C0CF74467DE}"/>
              </a:ext>
            </a:extLst>
          </p:cNvPr>
          <p:cNvSpPr>
            <a:spLocks xmlns:a="http://schemas.openxmlformats.org/drawingml/2006/main" noGrp="1"/>
          </p:cNvSpPr>
          <p:nvPr/>
        </p:nvSpPr>
        <p:spPr>
          <a:xfrm xmlns:a="http://schemas.openxmlformats.org/drawingml/2006/main">
            <a:off x="766762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20" name="">
            <a:extLst xmlns:a="http://schemas.openxmlformats.org/drawingml/2006/main">
              <a:ext uri="{FF2B5EF4-FFF2-40B4-BE49-F238E27FC236}">
                <a16:creationId xmlns:a16="http://schemas.microsoft.com/office/drawing/2014/main" id="{64E97959-3D37-4133-9A26-20ECB32DF5C2}"/>
              </a:ext>
            </a:extLst>
          </p:cNvPr>
          <p:cNvSpPr>
            <a:spLocks xmlns:a="http://schemas.openxmlformats.org/drawingml/2006/main" noGrp="1"/>
          </p:cNvSpPr>
          <p:nvPr/>
        </p:nvSpPr>
        <p:spPr>
          <a:xfrm xmlns:a="http://schemas.openxmlformats.org/drawingml/2006/main">
            <a:off x="7667625" y="1752600"/>
            <a:ext cx="1952625" cy="9525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E627225-2DE3-410D-99E7-228D2B36465F}"/>
              </a:ext>
            </a:extLst>
          </p:cNvPr>
          <p:cNvSpPr>
            <a:spLocks xmlns:a="http://schemas.openxmlformats.org/drawingml/2006/main" noGrp="1"/>
          </p:cNvSpPr>
          <p:nvPr/>
        </p:nvSpPr>
        <p:spPr>
          <a:xfrm xmlns:a="http://schemas.openxmlformats.org/drawingml/2006/main">
            <a:off x="785812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4  Publish</a:t>
            </a:r>
          </a:p>
        </p:txBody>
      </p:sp>
      <p:sp>
        <p:nvSpPr>
          <p:cNvPr id="22" name="">
            <a:extLst xmlns:a="http://schemas.openxmlformats.org/drawingml/2006/main">
              <a:ext uri="{FF2B5EF4-FFF2-40B4-BE49-F238E27FC236}">
                <a16:creationId xmlns:a16="http://schemas.microsoft.com/office/drawing/2014/main" id="{BED49DE6-D3BA-41E3-9728-647A7AEC8F1D}"/>
              </a:ext>
            </a:extLst>
          </p:cNvPr>
          <p:cNvSpPr>
            <a:spLocks xmlns:a="http://schemas.openxmlformats.org/drawingml/2006/main" noGrp="1"/>
          </p:cNvSpPr>
          <p:nvPr/>
        </p:nvSpPr>
        <p:spPr>
          <a:xfrm xmlns:a="http://schemas.openxmlformats.org/drawingml/2006/main">
            <a:off x="785812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Save latest dataset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Write timestamped snapshot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Refresh dashboard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Extend FTM trend lines</a:t>
            </a:r>
          </a:p>
        </p:txBody>
      </p:sp>
      <p:sp>
        <p:nvSpPr>
          <p:cNvPr id="23" name="">
            <a:extLst xmlns:a="http://schemas.openxmlformats.org/drawingml/2006/main">
              <a:ext uri="{FF2B5EF4-FFF2-40B4-BE49-F238E27FC236}">
                <a16:creationId xmlns:a16="http://schemas.microsoft.com/office/drawing/2014/main" id="{1E5CBD9D-549E-4C3A-8ACD-5A0A06946506}"/>
              </a:ext>
            </a:extLst>
          </p:cNvPr>
          <p:cNvSpPr>
            <a:spLocks xmlns:a="http://schemas.openxmlformats.org/drawingml/2006/main" noGrp="1"/>
          </p:cNvSpPr>
          <p:nvPr/>
        </p:nvSpPr>
        <p:spPr>
          <a:xfrm xmlns:a="http://schemas.openxmlformats.org/drawingml/2006/main">
            <a:off x="9877425" y="1752600"/>
            <a:ext cx="1666875" cy="1428750"/>
          </a:xfrm>
          <a:prstGeom xmlns:a="http://schemas.openxmlformats.org/drawingml/2006/main" prst="roundRect">
            <a:avLst>
              <a:gd name="adj" fmla="val 10667"/>
            </a:avLst>
          </a:prstGeom>
          <a:solidFill xmlns:a="http://schemas.openxmlformats.org/drawingml/2006/main">
            <a:srgbClr val="E5F3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AC507CD-277C-4670-8F0C-61F93DD538F1}"/>
              </a:ext>
            </a:extLst>
          </p:cNvPr>
          <p:cNvSpPr>
            <a:spLocks xmlns:a="http://schemas.openxmlformats.org/drawingml/2006/main" noGrp="1"/>
          </p:cNvSpPr>
          <p:nvPr/>
        </p:nvSpPr>
        <p:spPr>
          <a:xfrm xmlns:a="http://schemas.openxmlformats.org/drawingml/2006/main">
            <a:off x="10048875" y="20478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Task responsibility</a:t>
            </a:r>
          </a:p>
        </p:txBody>
      </p:sp>
      <p:sp>
        <p:nvSpPr>
          <p:cNvPr id="25" name="">
            <a:extLst xmlns:a="http://schemas.openxmlformats.org/drawingml/2006/main">
              <a:ext uri="{FF2B5EF4-FFF2-40B4-BE49-F238E27FC236}">
                <a16:creationId xmlns:a16="http://schemas.microsoft.com/office/drawing/2014/main" id="{0710C11C-B5C1-4051-BEB7-95DAA6FDA91E}"/>
              </a:ext>
            </a:extLst>
          </p:cNvPr>
          <p:cNvSpPr>
            <a:spLocks xmlns:a="http://schemas.openxmlformats.org/drawingml/2006/main" noGrp="1"/>
          </p:cNvSpPr>
          <p:nvPr/>
        </p:nvSpPr>
        <p:spPr>
          <a:xfrm xmlns:a="http://schemas.openxmlformats.org/drawingml/2006/main">
            <a:off x="10039350" y="25431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stays with the FTM responsible for that age-band task.</a:t>
            </a:r>
          </a:p>
        </p:txBody>
      </p:sp>
      <p:sp>
        <p:nvSpPr>
          <p:cNvPr id="26" name="">
            <a:extLst xmlns:a="http://schemas.openxmlformats.org/drawingml/2006/main">
              <a:ext uri="{FF2B5EF4-FFF2-40B4-BE49-F238E27FC236}">
                <a16:creationId xmlns:a16="http://schemas.microsoft.com/office/drawing/2014/main" id="{6087BFAA-F7B5-48C6-A0CB-E3A9F715B697}"/>
              </a:ext>
            </a:extLst>
          </p:cNvPr>
          <p:cNvSpPr>
            <a:spLocks xmlns:a="http://schemas.openxmlformats.org/drawingml/2006/main" noGrp="1"/>
          </p:cNvSpPr>
          <p:nvPr/>
        </p:nvSpPr>
        <p:spPr>
          <a:xfrm xmlns:a="http://schemas.openxmlformats.org/drawingml/2006/main">
            <a:off x="9877425" y="3429000"/>
            <a:ext cx="1666875" cy="1428750"/>
          </a:xfrm>
          <a:prstGeom xmlns:a="http://schemas.openxmlformats.org/drawingml/2006/main" prst="roundRect">
            <a:avLst>
              <a:gd name="adj" fmla="val 10667"/>
            </a:avLst>
          </a:prstGeom>
          <a:solidFill xmlns:a="http://schemas.openxmlformats.org/drawingml/2006/main">
            <a:srgbClr val="FFF2E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695A7D0-6D84-4FDC-AF69-8F68857260CA}"/>
              </a:ext>
            </a:extLst>
          </p:cNvPr>
          <p:cNvSpPr>
            <a:spLocks xmlns:a="http://schemas.openxmlformats.org/drawingml/2006/main" noGrp="1"/>
          </p:cNvSpPr>
          <p:nvPr/>
        </p:nvSpPr>
        <p:spPr>
          <a:xfrm xmlns:a="http://schemas.openxmlformats.org/drawingml/2006/main">
            <a:off x="10048875" y="37242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Current caseload</a:t>
            </a:r>
          </a:p>
        </p:txBody>
      </p:sp>
      <p:sp>
        <p:nvSpPr>
          <p:cNvPr id="28" name="">
            <a:extLst xmlns:a="http://schemas.openxmlformats.org/drawingml/2006/main">
              <a:ext uri="{FF2B5EF4-FFF2-40B4-BE49-F238E27FC236}">
                <a16:creationId xmlns:a16="http://schemas.microsoft.com/office/drawing/2014/main" id="{88FA7BA1-7024-45B3-90E5-9A2785B3340C}"/>
              </a:ext>
            </a:extLst>
          </p:cNvPr>
          <p:cNvSpPr>
            <a:spLocks xmlns:a="http://schemas.openxmlformats.org/drawingml/2006/main" noGrp="1"/>
          </p:cNvSpPr>
          <p:nvPr/>
        </p:nvSpPr>
        <p:spPr>
          <a:xfrm xmlns:a="http://schemas.openxmlformats.org/drawingml/2006/main">
            <a:off x="10039350" y="42195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Shows current-stage work under the participant’s current FTM.</a:t>
            </a:r>
          </a:p>
        </p:txBody>
      </p:sp>
      <p:sp>
        <p:nvSpPr>
          <p:cNvPr id="29" name="">
            <a:extLst xmlns:a="http://schemas.openxmlformats.org/drawingml/2006/main">
              <a:ext uri="{FF2B5EF4-FFF2-40B4-BE49-F238E27FC236}">
                <a16:creationId xmlns:a16="http://schemas.microsoft.com/office/drawing/2014/main" id="{21DF21A9-9EAD-4020-9495-001E3B6FDF91}"/>
              </a:ext>
            </a:extLst>
          </p:cNvPr>
          <p:cNvSpPr>
            <a:spLocks xmlns:a="http://schemas.openxmlformats.org/drawingml/2006/main" noGrp="1"/>
          </p:cNvSpPr>
          <p:nvPr/>
        </p:nvSpPr>
        <p:spPr>
          <a:xfrm xmlns:a="http://schemas.openxmlformats.org/drawingml/2006/main">
            <a:off x="666750" y="5410200"/>
            <a:ext cx="10877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0B1F33"/>
                </a:solidFill>
                <a:latin typeface="Helvetica Neue"/>
                <a:ea typeface="Helvetica Neue"/>
                <a:cs typeface="Helvetica Neue"/>
              </a:defRPr>
            </a:pPr>
            <a:r>
              <a:rPr sz="1800" b="1">
                <a:solidFill>
                  <a:srgbClr val="0B1F33"/>
                </a:solidFill>
                <a:latin typeface="Helvetica Neue"/>
                <a:ea typeface="Helvetica Neue"/>
                <a:cs typeface="Helvetica Neue"/>
              </a:rPr>
              <a:t>Core grain: Participant ID × Cohort × IPA age band × Task</a:t>
            </a:r>
          </a:p>
        </p:txBody>
      </p:sp>
    </p:spTree>
    <p:extLst>
      <p:ext uri="{BB962C8B-B14F-4D97-AF65-F5344CB8AC3E}">
        <p14:creationId xmlns:p14="http://schemas.microsoft.com/office/powerpoint/2010/main" val="6252448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BF4C065-B4D5-4F5F-905B-16BF01000583}"/>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Calendly matching prioritizes the child—not the booking text</a:t>
            </a:r>
          </a:p>
        </p:txBody>
      </p:sp>
      <p:sp>
        <p:nvSpPr>
          <p:cNvPr id="2" name="">
            <a:extLst xmlns:a="http://schemas.openxmlformats.org/drawingml/2006/main">
              <a:ext uri="{FF2B5EF4-FFF2-40B4-BE49-F238E27FC236}">
                <a16:creationId xmlns:a16="http://schemas.microsoft.com/office/drawing/2014/main" id="{DAA4012D-09EC-4597-96EC-24DA59553529}"/>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EB6C033B-6F34-4792-AFE5-D4E20384F250}"/>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4871C2C1-0E2A-43C1-89E3-59628D3D2C52}"/>
              </a:ext>
            </a:extLst>
          </p:cNvPr>
          <p:cNvSpPr>
            <a:spLocks xmlns:a="http://schemas.openxmlformats.org/drawingml/2006/main" noGrp="1"/>
          </p:cNvSpPr>
          <p:nvPr/>
        </p:nvSpPr>
        <p:spPr>
          <a:xfrm xmlns:a="http://schemas.openxmlformats.org/drawingml/2006/main">
            <a:off x="685800" y="13525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78C8C"/>
                </a:solidFill>
                <a:latin typeface="Helvetica Neue"/>
                <a:ea typeface="Helvetica Neue"/>
                <a:cs typeface="Helvetica Neue"/>
              </a:defRPr>
            </a:pPr>
            <a:r>
              <a:rPr sz="1875" b="1">
                <a:solidFill>
                  <a:srgbClr val="178C8C"/>
                </a:solidFill>
                <a:latin typeface="Helvetica Neue"/>
                <a:ea typeface="Helvetica Neue"/>
                <a:cs typeface="Helvetica Neue"/>
              </a:rPr>
              <a:t>Matching hierarchy</a:t>
            </a:r>
          </a:p>
        </p:txBody>
      </p:sp>
      <p:sp>
        <p:nvSpPr>
          <p:cNvPr id="5" name="">
            <a:extLst xmlns:a="http://schemas.openxmlformats.org/drawingml/2006/main">
              <a:ext uri="{FF2B5EF4-FFF2-40B4-BE49-F238E27FC236}">
                <a16:creationId xmlns:a16="http://schemas.microsoft.com/office/drawing/2014/main" id="{662AFCED-0DCC-4B99-AB3D-0B776B600F7B}"/>
              </a:ext>
            </a:extLst>
          </p:cNvPr>
          <p:cNvSpPr>
            <a:spLocks xmlns:a="http://schemas.openxmlformats.org/drawingml/2006/main" noGrp="1"/>
          </p:cNvSpPr>
          <p:nvPr/>
        </p:nvSpPr>
        <p:spPr>
          <a:xfrm xmlns:a="http://schemas.openxmlformats.org/drawingml/2006/main">
            <a:off x="704850" y="186690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8CE7CF-D4C1-4F8F-8E11-BD603C878DEE}"/>
              </a:ext>
            </a:extLst>
          </p:cNvPr>
          <p:cNvSpPr>
            <a:spLocks xmlns:a="http://schemas.openxmlformats.org/drawingml/2006/main" noGrp="1"/>
          </p:cNvSpPr>
          <p:nvPr/>
        </p:nvSpPr>
        <p:spPr>
          <a:xfrm xmlns:a="http://schemas.openxmlformats.org/drawingml/2006/main">
            <a:off x="704850" y="190500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a:t>
            </a:r>
          </a:p>
        </p:txBody>
      </p:sp>
      <p:sp>
        <p:nvSpPr>
          <p:cNvPr id="7" name="">
            <a:extLst xmlns:a="http://schemas.openxmlformats.org/drawingml/2006/main">
              <a:ext uri="{FF2B5EF4-FFF2-40B4-BE49-F238E27FC236}">
                <a16:creationId xmlns:a16="http://schemas.microsoft.com/office/drawing/2014/main" id="{F3B84BD0-15DC-46E0-A3F2-C49F79E1F9B0}"/>
              </a:ext>
            </a:extLst>
          </p:cNvPr>
          <p:cNvSpPr>
            <a:spLocks xmlns:a="http://schemas.openxmlformats.org/drawingml/2006/main" noGrp="1"/>
          </p:cNvSpPr>
          <p:nvPr/>
        </p:nvSpPr>
        <p:spPr>
          <a:xfrm xmlns:a="http://schemas.openxmlformats.org/drawingml/2006/main">
            <a:off x="1333500" y="1866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Extract participant IDs</a:t>
            </a:r>
          </a:p>
        </p:txBody>
      </p:sp>
      <p:sp>
        <p:nvSpPr>
          <p:cNvPr id="8" name="">
            <a:extLst xmlns:a="http://schemas.openxmlformats.org/drawingml/2006/main">
              <a:ext uri="{FF2B5EF4-FFF2-40B4-BE49-F238E27FC236}">
                <a16:creationId xmlns:a16="http://schemas.microsoft.com/office/drawing/2014/main" id="{E6C9E988-A941-4ACC-BEA1-476EBB3D8010}"/>
              </a:ext>
            </a:extLst>
          </p:cNvPr>
          <p:cNvSpPr>
            <a:spLocks xmlns:a="http://schemas.openxmlformats.org/drawingml/2006/main" noGrp="1"/>
          </p:cNvSpPr>
          <p:nvPr/>
        </p:nvSpPr>
        <p:spPr>
          <a:xfrm xmlns:a="http://schemas.openxmlformats.org/drawingml/2006/main">
            <a:off x="1333500" y="21907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Parse cleaned Meeting Notes Plain and normalize ID formats.</a:t>
            </a:r>
          </a:p>
        </p:txBody>
      </p:sp>
      <p:sp>
        <p:nvSpPr>
          <p:cNvPr id="9" name="">
            <a:extLst xmlns:a="http://schemas.openxmlformats.org/drawingml/2006/main">
              <a:ext uri="{FF2B5EF4-FFF2-40B4-BE49-F238E27FC236}">
                <a16:creationId xmlns:a16="http://schemas.microsoft.com/office/drawing/2014/main" id="{83B8C686-2C7E-49A6-895D-678F14CD095F}"/>
              </a:ext>
            </a:extLst>
          </p:cNvPr>
          <p:cNvSpPr>
            <a:spLocks xmlns:a="http://schemas.openxmlformats.org/drawingml/2006/main" noGrp="1"/>
          </p:cNvSpPr>
          <p:nvPr/>
        </p:nvSpPr>
        <p:spPr>
          <a:xfrm xmlns:a="http://schemas.openxmlformats.org/drawingml/2006/main">
            <a:off x="704850" y="286702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D356B0-5A86-429C-B25C-2EAAFA1BBFAF}"/>
              </a:ext>
            </a:extLst>
          </p:cNvPr>
          <p:cNvSpPr>
            <a:spLocks xmlns:a="http://schemas.openxmlformats.org/drawingml/2006/main" noGrp="1"/>
          </p:cNvSpPr>
          <p:nvPr/>
        </p:nvSpPr>
        <p:spPr>
          <a:xfrm xmlns:a="http://schemas.openxmlformats.org/drawingml/2006/main">
            <a:off x="704850" y="29051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a:t>
            </a:r>
          </a:p>
        </p:txBody>
      </p:sp>
      <p:sp>
        <p:nvSpPr>
          <p:cNvPr id="11" name="">
            <a:extLst xmlns:a="http://schemas.openxmlformats.org/drawingml/2006/main">
              <a:ext uri="{FF2B5EF4-FFF2-40B4-BE49-F238E27FC236}">
                <a16:creationId xmlns:a16="http://schemas.microsoft.com/office/drawing/2014/main" id="{90C6D796-C8E1-48C8-B79A-9BF904084F94}"/>
              </a:ext>
            </a:extLst>
          </p:cNvPr>
          <p:cNvSpPr>
            <a:spLocks xmlns:a="http://schemas.openxmlformats.org/drawingml/2006/main" noGrp="1"/>
          </p:cNvSpPr>
          <p:nvPr/>
        </p:nvSpPr>
        <p:spPr>
          <a:xfrm xmlns:a="http://schemas.openxmlformats.org/drawingml/2006/main">
            <a:off x="1333500" y="286702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Verify the child</a:t>
            </a:r>
          </a:p>
        </p:txBody>
      </p:sp>
      <p:sp>
        <p:nvSpPr>
          <p:cNvPr id="12" name="">
            <a:extLst xmlns:a="http://schemas.openxmlformats.org/drawingml/2006/main">
              <a:ext uri="{FF2B5EF4-FFF2-40B4-BE49-F238E27FC236}">
                <a16:creationId xmlns:a16="http://schemas.microsoft.com/office/drawing/2014/main" id="{6247782B-8B00-4D99-94EB-A9921C20ADDA}"/>
              </a:ext>
            </a:extLst>
          </p:cNvPr>
          <p:cNvSpPr>
            <a:spLocks xmlns:a="http://schemas.openxmlformats.org/drawingml/2006/main" noGrp="1"/>
          </p:cNvSpPr>
          <p:nvPr/>
        </p:nvSpPr>
        <p:spPr>
          <a:xfrm xmlns:a="http://schemas.openxmlformats.org/drawingml/2006/main">
            <a:off x="1333500" y="31908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Use exact cleaned child first and last name as the primary safeguard.</a:t>
            </a:r>
          </a:p>
        </p:txBody>
      </p:sp>
      <p:sp>
        <p:nvSpPr>
          <p:cNvPr id="13" name="">
            <a:extLst xmlns:a="http://schemas.openxmlformats.org/drawingml/2006/main">
              <a:ext uri="{FF2B5EF4-FFF2-40B4-BE49-F238E27FC236}">
                <a16:creationId xmlns:a16="http://schemas.microsoft.com/office/drawing/2014/main" id="{B20183D0-8ACC-4892-8CCB-6EB190985384}"/>
              </a:ext>
            </a:extLst>
          </p:cNvPr>
          <p:cNvSpPr>
            <a:spLocks xmlns:a="http://schemas.openxmlformats.org/drawingml/2006/main" noGrp="1"/>
          </p:cNvSpPr>
          <p:nvPr/>
        </p:nvSpPr>
        <p:spPr>
          <a:xfrm xmlns:a="http://schemas.openxmlformats.org/drawingml/2006/main">
            <a:off x="704850" y="386715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0477A1E-7B8D-42AF-9024-B311AF1D9663}"/>
              </a:ext>
            </a:extLst>
          </p:cNvPr>
          <p:cNvSpPr>
            <a:spLocks xmlns:a="http://schemas.openxmlformats.org/drawingml/2006/main" noGrp="1"/>
          </p:cNvSpPr>
          <p:nvPr/>
        </p:nvSpPr>
        <p:spPr>
          <a:xfrm xmlns:a="http://schemas.openxmlformats.org/drawingml/2006/main">
            <a:off x="704850" y="390525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a:t>
            </a:r>
          </a:p>
        </p:txBody>
      </p:sp>
      <p:sp>
        <p:nvSpPr>
          <p:cNvPr id="15" name="">
            <a:extLst xmlns:a="http://schemas.openxmlformats.org/drawingml/2006/main">
              <a:ext uri="{FF2B5EF4-FFF2-40B4-BE49-F238E27FC236}">
                <a16:creationId xmlns:a16="http://schemas.microsoft.com/office/drawing/2014/main" id="{2DDDB7FF-3FB1-4274-B439-0C08C28E585A}"/>
              </a:ext>
            </a:extLst>
          </p:cNvPr>
          <p:cNvSpPr>
            <a:spLocks xmlns:a="http://schemas.openxmlformats.org/drawingml/2006/main" noGrp="1"/>
          </p:cNvSpPr>
          <p:nvPr/>
        </p:nvSpPr>
        <p:spPr>
          <a:xfrm xmlns:a="http://schemas.openxmlformats.org/drawingml/2006/main">
            <a:off x="1333500" y="38671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Use the cohort crosswalk</a:t>
            </a:r>
          </a:p>
        </p:txBody>
      </p:sp>
      <p:sp>
        <p:nvSpPr>
          <p:cNvPr id="16" name="">
            <a:extLst xmlns:a="http://schemas.openxmlformats.org/drawingml/2006/main">
              <a:ext uri="{FF2B5EF4-FFF2-40B4-BE49-F238E27FC236}">
                <a16:creationId xmlns:a16="http://schemas.microsoft.com/office/drawing/2014/main" id="{44FA11D7-D9BE-49D3-88AA-8EA89EF95449}"/>
              </a:ext>
            </a:extLst>
          </p:cNvPr>
          <p:cNvSpPr>
            <a:spLocks xmlns:a="http://schemas.openxmlformats.org/drawingml/2006/main" noGrp="1"/>
          </p:cNvSpPr>
          <p:nvPr/>
        </p:nvSpPr>
        <p:spPr>
          <a:xfrm xmlns:a="http://schemas.openxmlformats.org/drawingml/2006/main">
            <a:off x="1333500" y="4191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Map mother and child IDs through CHARM_Cohort_List.xlsx.</a:t>
            </a:r>
          </a:p>
        </p:txBody>
      </p:sp>
      <p:sp>
        <p:nvSpPr>
          <p:cNvPr id="17" name="">
            <a:extLst xmlns:a="http://schemas.openxmlformats.org/drawingml/2006/main">
              <a:ext uri="{FF2B5EF4-FFF2-40B4-BE49-F238E27FC236}">
                <a16:creationId xmlns:a16="http://schemas.microsoft.com/office/drawing/2014/main" id="{8FD74CEC-04C4-42BD-AC3F-C9C4BDEF4AA3}"/>
              </a:ext>
            </a:extLst>
          </p:cNvPr>
          <p:cNvSpPr>
            <a:spLocks xmlns:a="http://schemas.openxmlformats.org/drawingml/2006/main" noGrp="1"/>
          </p:cNvSpPr>
          <p:nvPr/>
        </p:nvSpPr>
        <p:spPr>
          <a:xfrm xmlns:a="http://schemas.openxmlformats.org/drawingml/2006/main">
            <a:off x="704850" y="486727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1FB909-FFBC-456E-8270-A7685B07B79E}"/>
              </a:ext>
            </a:extLst>
          </p:cNvPr>
          <p:cNvSpPr>
            <a:spLocks xmlns:a="http://schemas.openxmlformats.org/drawingml/2006/main" noGrp="1"/>
          </p:cNvSpPr>
          <p:nvPr/>
        </p:nvSpPr>
        <p:spPr>
          <a:xfrm xmlns:a="http://schemas.openxmlformats.org/drawingml/2006/main">
            <a:off x="704850" y="490537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a:t>
            </a:r>
          </a:p>
        </p:txBody>
      </p:sp>
      <p:sp>
        <p:nvSpPr>
          <p:cNvPr id="19" name="">
            <a:extLst xmlns:a="http://schemas.openxmlformats.org/drawingml/2006/main">
              <a:ext uri="{FF2B5EF4-FFF2-40B4-BE49-F238E27FC236}">
                <a16:creationId xmlns:a16="http://schemas.microsoft.com/office/drawing/2014/main" id="{86ABBB17-6E62-45E0-9D5C-6DCA63D46A3B}"/>
              </a:ext>
            </a:extLst>
          </p:cNvPr>
          <p:cNvSpPr>
            <a:spLocks xmlns:a="http://schemas.openxmlformats.org/drawingml/2006/main" noGrp="1"/>
          </p:cNvSpPr>
          <p:nvPr/>
        </p:nvSpPr>
        <p:spPr>
          <a:xfrm xmlns:a="http://schemas.openxmlformats.org/drawingml/2006/main">
            <a:off x="1333500" y="486727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Normalize age</a:t>
            </a:r>
          </a:p>
        </p:txBody>
      </p:sp>
      <p:sp>
        <p:nvSpPr>
          <p:cNvPr id="20" name="">
            <a:extLst xmlns:a="http://schemas.openxmlformats.org/drawingml/2006/main">
              <a:ext uri="{FF2B5EF4-FFF2-40B4-BE49-F238E27FC236}">
                <a16:creationId xmlns:a16="http://schemas.microsoft.com/office/drawing/2014/main" id="{7CC08297-109E-4E33-8D77-9BEEA49D8CCD}"/>
              </a:ext>
            </a:extLst>
          </p:cNvPr>
          <p:cNvSpPr>
            <a:spLocks xmlns:a="http://schemas.openxmlformats.org/drawingml/2006/main" noGrp="1"/>
          </p:cNvSpPr>
          <p:nvPr/>
        </p:nvSpPr>
        <p:spPr>
          <a:xfrm xmlns:a="http://schemas.openxmlformats.org/drawingml/2006/main">
            <a:off x="1333500" y="5191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Convert Child Age to years, then assign the applicable IPA age band.</a:t>
            </a:r>
          </a:p>
        </p:txBody>
      </p:sp>
      <p:sp>
        <p:nvSpPr>
          <p:cNvPr id="21" name="">
            <a:extLst xmlns:a="http://schemas.openxmlformats.org/drawingml/2006/main">
              <a:ext uri="{FF2B5EF4-FFF2-40B4-BE49-F238E27FC236}">
                <a16:creationId xmlns:a16="http://schemas.microsoft.com/office/drawing/2014/main" id="{B618339B-54BC-408F-B4AC-DCA63AF0E453}"/>
              </a:ext>
            </a:extLst>
          </p:cNvPr>
          <p:cNvSpPr>
            <a:spLocks xmlns:a="http://schemas.openxmlformats.org/drawingml/2006/main" noGrp="1"/>
          </p:cNvSpPr>
          <p:nvPr/>
        </p:nvSpPr>
        <p:spPr>
          <a:xfrm xmlns:a="http://schemas.openxmlformats.org/drawingml/2006/main">
            <a:off x="5810250" y="1400175"/>
            <a:ext cx="5238750" cy="2038350"/>
          </a:xfrm>
          <a:prstGeom xmlns:a="http://schemas.openxmlformats.org/drawingml/2006/main" prst="roundRect">
            <a:avLst>
              <a:gd name="adj" fmla="val 8411"/>
            </a:avLst>
          </a:prstGeom>
          <a:solidFill xmlns:a="http://schemas.openxmlformats.org/drawingml/2006/main">
            <a:srgbClr val="EDF7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9D94C50-A8D2-443E-B8D3-5E4B494B4B3E}"/>
              </a:ext>
            </a:extLst>
          </p:cNvPr>
          <p:cNvSpPr>
            <a:spLocks xmlns:a="http://schemas.openxmlformats.org/drawingml/2006/main" noGrp="1"/>
          </p:cNvSpPr>
          <p:nvPr/>
        </p:nvSpPr>
        <p:spPr>
          <a:xfrm xmlns:a="http://schemas.openxmlformats.org/drawingml/2006/main">
            <a:off x="6076950" y="1638300"/>
            <a:ext cx="1762125" cy="323850"/>
          </a:xfrm>
          <a:prstGeom xmlns:a="http://schemas.openxmlformats.org/drawingml/2006/main" prst="roundRect">
            <a:avLst>
              <a:gd name="adj" fmla="val 50000"/>
            </a:avLst>
          </a:prstGeom>
          <a:solidFill xmlns:a="http://schemas.openxmlformats.org/drawingml/2006/main">
            <a:srgbClr val="CFEAE7"/>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178C8C"/>
                </a:solidFill>
                <a:latin typeface="Helvetica Neue"/>
                <a:ea typeface="Helvetica Neue"/>
                <a:cs typeface="Helvetica Neue"/>
              </a:defRPr>
            </a:pPr>
            <a:r>
              <a:rPr sz="1125" b="1">
                <a:solidFill>
                  <a:srgbClr val="178C8C"/>
                </a:solidFill>
                <a:latin typeface="Helvetica Neue"/>
                <a:ea typeface="Helvetica Neue"/>
                <a:cs typeface="Helvetica Neue"/>
              </a:rPr>
              <a:t>MULTIPLE CHILD IDs</a:t>
            </a:r>
          </a:p>
        </p:txBody>
      </p:sp>
      <p:sp>
        <p:nvSpPr>
          <p:cNvPr id="23" name="">
            <a:extLst xmlns:a="http://schemas.openxmlformats.org/drawingml/2006/main">
              <a:ext uri="{FF2B5EF4-FFF2-40B4-BE49-F238E27FC236}">
                <a16:creationId xmlns:a16="http://schemas.microsoft.com/office/drawing/2014/main" id="{9FC5BBEF-D489-4D4E-AD33-7DE4A980B1D8}"/>
              </a:ext>
            </a:extLst>
          </p:cNvPr>
          <p:cNvSpPr>
            <a:spLocks xmlns:a="http://schemas.openxmlformats.org/drawingml/2006/main" noGrp="1"/>
          </p:cNvSpPr>
          <p:nvPr/>
        </p:nvSpPr>
        <p:spPr>
          <a:xfrm xmlns:a="http://schemas.openxmlformats.org/drawingml/2006/main">
            <a:off x="6076950" y="21526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VDW899-01-A   VDW899-01-B</a:t>
            </a:r>
          </a:p>
        </p:txBody>
      </p:sp>
      <p:sp>
        <p:nvSpPr>
          <p:cNvPr id="24" name="">
            <a:extLst xmlns:a="http://schemas.openxmlformats.org/drawingml/2006/main">
              <a:ext uri="{FF2B5EF4-FFF2-40B4-BE49-F238E27FC236}">
                <a16:creationId xmlns:a16="http://schemas.microsoft.com/office/drawing/2014/main" id="{CED72F1E-30A0-41DD-BB13-90C02D74314A}"/>
              </a:ext>
            </a:extLst>
          </p:cNvPr>
          <p:cNvSpPr>
            <a:spLocks xmlns:a="http://schemas.openxmlformats.org/drawingml/2006/main" noGrp="1"/>
          </p:cNvSpPr>
          <p:nvPr/>
        </p:nvSpPr>
        <p:spPr>
          <a:xfrm xmlns:a="http://schemas.openxmlformats.org/drawingml/2006/main">
            <a:off x="6076950" y="2676525"/>
            <a:ext cx="885825"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26DDECA-4BA4-4CA5-B483-EEDE83152E08}"/>
              </a:ext>
            </a:extLst>
          </p:cNvPr>
          <p:cNvSpPr>
            <a:spLocks xmlns:a="http://schemas.openxmlformats.org/drawingml/2006/main" noGrp="1"/>
          </p:cNvSpPr>
          <p:nvPr/>
        </p:nvSpPr>
        <p:spPr>
          <a:xfrm xmlns:a="http://schemas.openxmlformats.org/drawingml/2006/main">
            <a:off x="7143750" y="26860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Create two booking rows</a:t>
            </a:r>
          </a:p>
        </p:txBody>
      </p:sp>
      <p:sp>
        <p:nvSpPr>
          <p:cNvPr id="26" name="">
            <a:extLst xmlns:a="http://schemas.openxmlformats.org/drawingml/2006/main">
              <a:ext uri="{FF2B5EF4-FFF2-40B4-BE49-F238E27FC236}">
                <a16:creationId xmlns:a16="http://schemas.microsoft.com/office/drawing/2014/main" id="{36A0655E-E519-46AD-A107-D3C9BBE84EEC}"/>
              </a:ext>
            </a:extLst>
          </p:cNvPr>
          <p:cNvSpPr>
            <a:spLocks xmlns:a="http://schemas.openxmlformats.org/drawingml/2006/main" noGrp="1"/>
          </p:cNvSpPr>
          <p:nvPr/>
        </p:nvSpPr>
        <p:spPr>
          <a:xfrm xmlns:a="http://schemas.openxmlformats.org/drawingml/2006/main">
            <a:off x="6076950" y="30670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Same Calendly content; one row per child ID.</a:t>
            </a:r>
          </a:p>
        </p:txBody>
      </p:sp>
      <p:sp>
        <p:nvSpPr>
          <p:cNvPr id="27" name="">
            <a:extLst xmlns:a="http://schemas.openxmlformats.org/drawingml/2006/main">
              <a:ext uri="{FF2B5EF4-FFF2-40B4-BE49-F238E27FC236}">
                <a16:creationId xmlns:a16="http://schemas.microsoft.com/office/drawing/2014/main" id="{785F50C4-17A7-4BCF-BCBB-44F74565E894}"/>
              </a:ext>
            </a:extLst>
          </p:cNvPr>
          <p:cNvSpPr>
            <a:spLocks xmlns:a="http://schemas.openxmlformats.org/drawingml/2006/main" noGrp="1"/>
          </p:cNvSpPr>
          <p:nvPr/>
        </p:nvSpPr>
        <p:spPr>
          <a:xfrm xmlns:a="http://schemas.openxmlformats.org/drawingml/2006/main">
            <a:off x="5810250" y="3695700"/>
            <a:ext cx="5238750" cy="2038350"/>
          </a:xfrm>
          <a:prstGeom xmlns:a="http://schemas.openxmlformats.org/drawingml/2006/main" prst="roundRect">
            <a:avLst>
              <a:gd name="adj" fmla="val 8411"/>
            </a:avLst>
          </a:prstGeom>
          <a:solidFill xmlns:a="http://schemas.openxmlformats.org/drawingml/2006/main">
            <a:srgbClr val="FFF3E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809D4A8-4C32-40AF-87B8-3440CFE10B76}"/>
              </a:ext>
            </a:extLst>
          </p:cNvPr>
          <p:cNvSpPr>
            <a:spLocks xmlns:a="http://schemas.openxmlformats.org/drawingml/2006/main" noGrp="1"/>
          </p:cNvSpPr>
          <p:nvPr/>
        </p:nvSpPr>
        <p:spPr>
          <a:xfrm xmlns:a="http://schemas.openxmlformats.org/drawingml/2006/main">
            <a:off x="6076950" y="3933825"/>
            <a:ext cx="1752600" cy="323850"/>
          </a:xfrm>
          <a:prstGeom xmlns:a="http://schemas.openxmlformats.org/drawingml/2006/main" prst="roundRect">
            <a:avLst>
              <a:gd name="adj" fmla="val 50000"/>
            </a:avLst>
          </a:prstGeom>
          <a:solidFill xmlns:a="http://schemas.openxmlformats.org/drawingml/2006/main">
            <a:srgbClr val="FADDD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E76F51"/>
                </a:solidFill>
                <a:latin typeface="Helvetica Neue"/>
                <a:ea typeface="Helvetica Neue"/>
                <a:cs typeface="Helvetica Neue"/>
              </a:defRPr>
            </a:pPr>
            <a:r>
              <a:rPr sz="1125" b="1">
                <a:solidFill>
                  <a:srgbClr val="E76F51"/>
                </a:solidFill>
                <a:latin typeface="Helvetica Neue"/>
                <a:ea typeface="Helvetica Neue"/>
                <a:cs typeface="Helvetica Neue"/>
              </a:rPr>
              <a:t>MOTHER CUSTOM ID</a:t>
            </a:r>
          </a:p>
        </p:txBody>
      </p:sp>
      <p:sp>
        <p:nvSpPr>
          <p:cNvPr id="29" name="">
            <a:extLst xmlns:a="http://schemas.openxmlformats.org/drawingml/2006/main">
              <a:ext uri="{FF2B5EF4-FFF2-40B4-BE49-F238E27FC236}">
                <a16:creationId xmlns:a16="http://schemas.microsoft.com/office/drawing/2014/main" id="{76D9147F-F619-49B8-9192-17B6B1995E0E}"/>
              </a:ext>
            </a:extLst>
          </p:cNvPr>
          <p:cNvSpPr>
            <a:spLocks xmlns:a="http://schemas.openxmlformats.org/drawingml/2006/main" noGrp="1"/>
          </p:cNvSpPr>
          <p:nvPr/>
        </p:nvSpPr>
        <p:spPr>
          <a:xfrm xmlns:a="http://schemas.openxmlformats.org/drawingml/2006/main">
            <a:off x="6076950" y="44577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Do not match on the mother ID alone</a:t>
            </a:r>
          </a:p>
        </p:txBody>
      </p:sp>
      <p:sp>
        <p:nvSpPr>
          <p:cNvPr id="30" name="">
            <a:extLst xmlns:a="http://schemas.openxmlformats.org/drawingml/2006/main">
              <a:ext uri="{FF2B5EF4-FFF2-40B4-BE49-F238E27FC236}">
                <a16:creationId xmlns:a16="http://schemas.microsoft.com/office/drawing/2014/main" id="{9FA35A00-9D97-4DA7-B873-29D9828D0A1A}"/>
              </a:ext>
            </a:extLst>
          </p:cNvPr>
          <p:cNvSpPr>
            <a:spLocks xmlns:a="http://schemas.openxmlformats.org/drawingml/2006/main" noGrp="1"/>
          </p:cNvSpPr>
          <p:nvPr/>
        </p:nvSpPr>
        <p:spPr>
          <a:xfrm xmlns:a="http://schemas.openxmlformats.org/drawingml/2006/main">
            <a:off x="6076950" y="4943475"/>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Require the child’s exact cleaned name before accepting the mapped child ID. This avoids assigning one mother’s booking to multiple children.</a:t>
            </a:r>
          </a:p>
        </p:txBody>
      </p:sp>
    </p:spTree>
    <p:extLst>
      <p:ext uri="{BB962C8B-B14F-4D97-AF65-F5344CB8AC3E}">
        <p14:creationId xmlns:p14="http://schemas.microsoft.com/office/powerpoint/2010/main" val="70216130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D579836-4051-4E9E-A679-0FB3C339A48B}"/>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The latest booking within each age band determines IPA status</a:t>
            </a:r>
          </a:p>
        </p:txBody>
      </p:sp>
      <p:sp>
        <p:nvSpPr>
          <p:cNvPr id="2" name="">
            <a:extLst xmlns:a="http://schemas.openxmlformats.org/drawingml/2006/main">
              <a:ext uri="{FF2B5EF4-FFF2-40B4-BE49-F238E27FC236}">
                <a16:creationId xmlns:a16="http://schemas.microsoft.com/office/drawing/2014/main" id="{B329D7B0-4BBD-4843-B5DA-40A080A22CD9}"/>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EAA8D0A3-A103-408C-8F68-476E0DD100C2}"/>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23539ED5-86DC-422D-8845-ABDFBF77F4E8}"/>
              </a:ext>
            </a:extLst>
          </p:cNvPr>
          <p:cNvSpPr>
            <a:spLocks xmlns:a="http://schemas.openxmlformats.org/drawingml/2006/main" noGrp="1"/>
          </p:cNvSpPr>
          <p:nvPr/>
        </p:nvSpPr>
        <p:spPr>
          <a:xfrm xmlns:a="http://schemas.openxmlformats.org/drawingml/2006/main">
            <a:off x="685800" y="12573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a:solidFill>
                  <a:srgbClr val="5E6C78"/>
                </a:solidFill>
                <a:latin typeface="Helvetica Neue"/>
                <a:ea typeface="Helvetica Neue"/>
                <a:cs typeface="Helvetica Neue"/>
              </a:defRPr>
            </a:pPr>
            <a:r>
              <a:rPr sz="1800" b="0">
                <a:solidFill>
                  <a:srgbClr val="5E6C78"/>
                </a:solidFill>
                <a:latin typeface="Helvetica Neue"/>
                <a:ea typeface="Helvetica Neue"/>
                <a:cs typeface="Helvetica Neue"/>
              </a:rPr>
              <a:t>Records are grouped by participant and IPA age band—not participant alone.</a:t>
            </a:r>
          </a:p>
        </p:txBody>
      </p:sp>
      <p:sp>
        <p:nvSpPr>
          <p:cNvPr id="5" name="">
            <a:extLst xmlns:a="http://schemas.openxmlformats.org/drawingml/2006/main">
              <a:ext uri="{FF2B5EF4-FFF2-40B4-BE49-F238E27FC236}">
                <a16:creationId xmlns:a16="http://schemas.microsoft.com/office/drawing/2014/main" id="{3094CD6F-D215-4439-BCC4-FC11E71EBC6F}"/>
              </a:ext>
            </a:extLst>
          </p:cNvPr>
          <p:cNvSpPr>
            <a:spLocks xmlns:a="http://schemas.openxmlformats.org/drawingml/2006/main" noGrp="1"/>
          </p:cNvSpPr>
          <p:nvPr/>
        </p:nvSpPr>
        <p:spPr>
          <a:xfrm xmlns:a="http://schemas.openxmlformats.org/drawingml/2006/main">
            <a:off x="685800" y="1847850"/>
            <a:ext cx="2762250" cy="323850"/>
          </a:xfrm>
          <a:prstGeom xmlns:a="http://schemas.openxmlformats.org/drawingml/2006/main" prst="roundRect">
            <a:avLst>
              <a:gd name="adj" fmla="val 50000"/>
            </a:avLst>
          </a:prstGeom>
          <a:solidFill xmlns:a="http://schemas.openxmlformats.org/drawingml/2006/main">
            <a:srgbClr val="E8EF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EXAMPLE: SAME CHILD, SAME AGE BAND</a:t>
            </a:r>
          </a:p>
        </p:txBody>
      </p:sp>
      <p:sp>
        <p:nvSpPr>
          <p:cNvPr id="6" name="">
            <a:extLst xmlns:a="http://schemas.openxmlformats.org/drawingml/2006/main">
              <a:ext uri="{FF2B5EF4-FFF2-40B4-BE49-F238E27FC236}">
                <a16:creationId xmlns:a16="http://schemas.microsoft.com/office/drawing/2014/main" id="{EE1DF249-BE2C-4744-8C8F-6CF468D6EA18}"/>
              </a:ext>
            </a:extLst>
          </p:cNvPr>
          <p:cNvSpPr>
            <a:spLocks xmlns:a="http://schemas.openxmlformats.org/drawingml/2006/main" noGrp="1"/>
          </p:cNvSpPr>
          <p:nvPr/>
        </p:nvSpPr>
        <p:spPr>
          <a:xfrm xmlns:a="http://schemas.openxmlformats.org/drawingml/2006/main">
            <a:off x="70485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7" name="">
            <a:extLst xmlns:a="http://schemas.openxmlformats.org/drawingml/2006/main">
              <a:ext uri="{FF2B5EF4-FFF2-40B4-BE49-F238E27FC236}">
                <a16:creationId xmlns:a16="http://schemas.microsoft.com/office/drawing/2014/main" id="{E9FFF060-AC8A-4727-817E-30AF6802DF73}"/>
              </a:ext>
            </a:extLst>
          </p:cNvPr>
          <p:cNvSpPr>
            <a:spLocks xmlns:a="http://schemas.openxmlformats.org/drawingml/2006/main" noGrp="1"/>
          </p:cNvSpPr>
          <p:nvPr/>
        </p:nvSpPr>
        <p:spPr>
          <a:xfrm xmlns:a="http://schemas.openxmlformats.org/drawingml/2006/main">
            <a:off x="93345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Earlier appointment</a:t>
            </a:r>
          </a:p>
        </p:txBody>
      </p:sp>
      <p:sp>
        <p:nvSpPr>
          <p:cNvPr id="8" name="">
            <a:extLst xmlns:a="http://schemas.openxmlformats.org/drawingml/2006/main">
              <a:ext uri="{FF2B5EF4-FFF2-40B4-BE49-F238E27FC236}">
                <a16:creationId xmlns:a16="http://schemas.microsoft.com/office/drawing/2014/main" id="{4067CBB5-9CBD-406B-882F-54789CB638B5}"/>
              </a:ext>
            </a:extLst>
          </p:cNvPr>
          <p:cNvSpPr>
            <a:spLocks xmlns:a="http://schemas.openxmlformats.org/drawingml/2006/main" noGrp="1"/>
          </p:cNvSpPr>
          <p:nvPr/>
        </p:nvSpPr>
        <p:spPr>
          <a:xfrm xmlns:a="http://schemas.openxmlformats.org/drawingml/2006/main">
            <a:off x="93345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Marked as No Show</a:t>
            </a:r>
          </a:p>
        </p:txBody>
      </p:sp>
      <p:sp>
        <p:nvSpPr>
          <p:cNvPr id="9" name="">
            <a:extLst xmlns:a="http://schemas.openxmlformats.org/drawingml/2006/main">
              <a:ext uri="{FF2B5EF4-FFF2-40B4-BE49-F238E27FC236}">
                <a16:creationId xmlns:a16="http://schemas.microsoft.com/office/drawing/2014/main" id="{61577BAB-3C24-401C-9E45-BF58CB16208B}"/>
              </a:ext>
            </a:extLst>
          </p:cNvPr>
          <p:cNvSpPr>
            <a:spLocks xmlns:a="http://schemas.openxmlformats.org/drawingml/2006/main" noGrp="1"/>
          </p:cNvSpPr>
          <p:nvPr/>
        </p:nvSpPr>
        <p:spPr>
          <a:xfrm xmlns:a="http://schemas.openxmlformats.org/drawingml/2006/main">
            <a:off x="93345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May 12</a:t>
            </a:r>
          </a:p>
        </p:txBody>
      </p:sp>
      <p:sp>
        <p:nvSpPr>
          <p:cNvPr id="10" name="">
            <a:extLst xmlns:a="http://schemas.openxmlformats.org/drawingml/2006/main">
              <a:ext uri="{FF2B5EF4-FFF2-40B4-BE49-F238E27FC236}">
                <a16:creationId xmlns:a16="http://schemas.microsoft.com/office/drawing/2014/main" id="{6494EA16-F01C-4ECD-82A8-A3B353A2DA61}"/>
              </a:ext>
            </a:extLst>
          </p:cNvPr>
          <p:cNvSpPr>
            <a:spLocks xmlns:a="http://schemas.openxmlformats.org/drawingml/2006/main" noGrp="1"/>
          </p:cNvSpPr>
          <p:nvPr/>
        </p:nvSpPr>
        <p:spPr>
          <a:xfrm xmlns:a="http://schemas.openxmlformats.org/drawingml/2006/main">
            <a:off x="3800475" y="2962275"/>
            <a:ext cx="1181100"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3F1B36-CCC4-448F-98BF-ADB93B0968D4}"/>
              </a:ext>
            </a:extLst>
          </p:cNvPr>
          <p:cNvSpPr>
            <a:spLocks xmlns:a="http://schemas.openxmlformats.org/drawingml/2006/main" noGrp="1"/>
          </p:cNvSpPr>
          <p:nvPr/>
        </p:nvSpPr>
        <p:spPr>
          <a:xfrm xmlns:a="http://schemas.openxmlformats.org/drawingml/2006/main">
            <a:off x="529590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2" name="">
            <a:extLst xmlns:a="http://schemas.openxmlformats.org/drawingml/2006/main">
              <a:ext uri="{FF2B5EF4-FFF2-40B4-BE49-F238E27FC236}">
                <a16:creationId xmlns:a16="http://schemas.microsoft.com/office/drawing/2014/main" id="{07DDF0BA-4953-4D88-B216-B0B86F693F4B}"/>
              </a:ext>
            </a:extLst>
          </p:cNvPr>
          <p:cNvSpPr>
            <a:spLocks xmlns:a="http://schemas.openxmlformats.org/drawingml/2006/main" noGrp="1"/>
          </p:cNvSpPr>
          <p:nvPr/>
        </p:nvSpPr>
        <p:spPr>
          <a:xfrm xmlns:a="http://schemas.openxmlformats.org/drawingml/2006/main">
            <a:off x="552450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Latest appointment</a:t>
            </a:r>
          </a:p>
        </p:txBody>
      </p:sp>
      <p:sp>
        <p:nvSpPr>
          <p:cNvPr id="13" name="">
            <a:extLst xmlns:a="http://schemas.openxmlformats.org/drawingml/2006/main">
              <a:ext uri="{FF2B5EF4-FFF2-40B4-BE49-F238E27FC236}">
                <a16:creationId xmlns:a16="http://schemas.microsoft.com/office/drawing/2014/main" id="{C7B3EA52-5F15-4BAA-948B-A701379E5862}"/>
              </a:ext>
            </a:extLst>
          </p:cNvPr>
          <p:cNvSpPr>
            <a:spLocks xmlns:a="http://schemas.openxmlformats.org/drawingml/2006/main" noGrp="1"/>
          </p:cNvSpPr>
          <p:nvPr/>
        </p:nvSpPr>
        <p:spPr>
          <a:xfrm xmlns:a="http://schemas.openxmlformats.org/drawingml/2006/main">
            <a:off x="552450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Completed</a:t>
            </a:r>
          </a:p>
        </p:txBody>
      </p:sp>
      <p:sp>
        <p:nvSpPr>
          <p:cNvPr id="14" name="">
            <a:extLst xmlns:a="http://schemas.openxmlformats.org/drawingml/2006/main">
              <a:ext uri="{FF2B5EF4-FFF2-40B4-BE49-F238E27FC236}">
                <a16:creationId xmlns:a16="http://schemas.microsoft.com/office/drawing/2014/main" id="{468E3090-E867-4EDD-9DF0-64CFA4C30D9B}"/>
              </a:ext>
            </a:extLst>
          </p:cNvPr>
          <p:cNvSpPr>
            <a:spLocks xmlns:a="http://schemas.openxmlformats.org/drawingml/2006/main" noGrp="1"/>
          </p:cNvSpPr>
          <p:nvPr/>
        </p:nvSpPr>
        <p:spPr>
          <a:xfrm xmlns:a="http://schemas.openxmlformats.org/drawingml/2006/main">
            <a:off x="552450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June 03</a:t>
            </a:r>
          </a:p>
        </p:txBody>
      </p:sp>
      <p:sp>
        <p:nvSpPr>
          <p:cNvPr id="15" name="">
            <a:extLst xmlns:a="http://schemas.openxmlformats.org/drawingml/2006/main">
              <a:ext uri="{FF2B5EF4-FFF2-40B4-BE49-F238E27FC236}">
                <a16:creationId xmlns:a16="http://schemas.microsoft.com/office/drawing/2014/main" id="{89BDFE5B-B1FF-4344-A7E4-C09D493AF382}"/>
              </a:ext>
            </a:extLst>
          </p:cNvPr>
          <p:cNvSpPr>
            <a:spLocks xmlns:a="http://schemas.openxmlformats.org/drawingml/2006/main" noGrp="1"/>
          </p:cNvSpPr>
          <p:nvPr/>
        </p:nvSpPr>
        <p:spPr>
          <a:xfrm xmlns:a="http://schemas.openxmlformats.org/drawingml/2006/main">
            <a:off x="8391525" y="2962275"/>
            <a:ext cx="762000" cy="285750"/>
          </a:xfrm>
          <a:prstGeom xmlns:a="http://schemas.openxmlformats.org/drawingml/2006/main" prst="rightArrow">
            <a:avLst/>
          </a:prstGeom>
          <a:solidFill xmlns:a="http://schemas.openxmlformats.org/drawingml/2006/main">
            <a:srgbClr val="2A9D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103686D-0774-4EBE-AE70-42F8152F322B}"/>
              </a:ext>
            </a:extLst>
          </p:cNvPr>
          <p:cNvSpPr>
            <a:spLocks xmlns:a="http://schemas.openxmlformats.org/drawingml/2006/main" noGrp="1"/>
          </p:cNvSpPr>
          <p:nvPr/>
        </p:nvSpPr>
        <p:spPr>
          <a:xfrm xmlns:a="http://schemas.openxmlformats.org/drawingml/2006/main">
            <a:off x="9467850" y="2352675"/>
            <a:ext cx="2000250" cy="1562100"/>
          </a:xfrm>
          <a:prstGeom xmlns:a="http://schemas.openxmlformats.org/drawingml/2006/main" prst="roundRect">
            <a:avLst>
              <a:gd name="adj" fmla="val 10976"/>
            </a:avLst>
          </a:prstGeom>
          <a:solidFill xmlns:a="http://schemas.openxmlformats.org/drawingml/2006/main">
            <a:srgbClr val="DFF2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737546-A531-44B2-A668-C7C3D8BE3BEF}"/>
              </a:ext>
            </a:extLst>
          </p:cNvPr>
          <p:cNvSpPr>
            <a:spLocks xmlns:a="http://schemas.openxmlformats.org/drawingml/2006/main" noGrp="1"/>
          </p:cNvSpPr>
          <p:nvPr/>
        </p:nvSpPr>
        <p:spPr>
          <a:xfrm xmlns:a="http://schemas.openxmlformats.org/drawingml/2006/main">
            <a:off x="9686925" y="26098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Final IPA outcome</a:t>
            </a:r>
          </a:p>
        </p:txBody>
      </p:sp>
      <p:sp>
        <p:nvSpPr>
          <p:cNvPr id="18" name="">
            <a:extLst xmlns:a="http://schemas.openxmlformats.org/drawingml/2006/main">
              <a:ext uri="{FF2B5EF4-FFF2-40B4-BE49-F238E27FC236}">
                <a16:creationId xmlns:a16="http://schemas.microsoft.com/office/drawing/2014/main" id="{D6EF7D7C-BAE0-478F-AC8C-EE031F627FEC}"/>
              </a:ext>
            </a:extLst>
          </p:cNvPr>
          <p:cNvSpPr>
            <a:spLocks xmlns:a="http://schemas.openxmlformats.org/drawingml/2006/main" noGrp="1"/>
          </p:cNvSpPr>
          <p:nvPr/>
        </p:nvSpPr>
        <p:spPr>
          <a:xfrm xmlns:a="http://schemas.openxmlformats.org/drawingml/2006/main">
            <a:off x="9686925" y="311467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75" b="1">
                <a:solidFill>
                  <a:srgbClr val="2A9D63"/>
                </a:solidFill>
                <a:latin typeface="Helvetica Neue"/>
                <a:ea typeface="Helvetica Neue"/>
                <a:cs typeface="Helvetica Neue"/>
              </a:defRPr>
            </a:pPr>
            <a:r>
              <a:rPr sz="2175" b="1">
                <a:solidFill>
                  <a:srgbClr val="2A9D63"/>
                </a:solidFill>
                <a:latin typeface="Helvetica Neue"/>
                <a:ea typeface="Helvetica Neue"/>
                <a:cs typeface="Helvetica Neue"/>
              </a:rPr>
              <a:t>COMPLETE</a:t>
            </a:r>
          </a:p>
        </p:txBody>
      </p:sp>
      <p:sp>
        <p:nvSpPr>
          <p:cNvPr id="19" name="">
            <a:extLst xmlns:a="http://schemas.openxmlformats.org/drawingml/2006/main">
              <a:ext uri="{FF2B5EF4-FFF2-40B4-BE49-F238E27FC236}">
                <a16:creationId xmlns:a16="http://schemas.microsoft.com/office/drawing/2014/main" id="{2562E188-64AD-41D3-9CBA-F1A44D226412}"/>
              </a:ext>
            </a:extLst>
          </p:cNvPr>
          <p:cNvSpPr>
            <a:spLocks xmlns:a="http://schemas.openxmlformats.org/drawingml/2006/main" noGrp="1"/>
          </p:cNvSpPr>
          <p:nvPr/>
        </p:nvSpPr>
        <p:spPr>
          <a:xfrm xmlns:a="http://schemas.openxmlformats.org/drawingml/2006/main">
            <a:off x="9686925" y="3571875"/>
            <a:ext cx="1581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 1.00</a:t>
            </a:r>
          </a:p>
        </p:txBody>
      </p:sp>
      <p:sp>
        <p:nvSpPr>
          <p:cNvPr id="20" name="">
            <a:extLst xmlns:a="http://schemas.openxmlformats.org/drawingml/2006/main">
              <a:ext uri="{FF2B5EF4-FFF2-40B4-BE49-F238E27FC236}">
                <a16:creationId xmlns:a16="http://schemas.microsoft.com/office/drawing/2014/main" id="{825C8DE4-991B-4AD3-AAD8-4B7BA6FD0842}"/>
              </a:ext>
            </a:extLst>
          </p:cNvPr>
          <p:cNvSpPr>
            <a:spLocks xmlns:a="http://schemas.openxmlformats.org/drawingml/2006/main" noGrp="1"/>
          </p:cNvSpPr>
          <p:nvPr/>
        </p:nvSpPr>
        <p:spPr>
          <a:xfrm xmlns:a="http://schemas.openxmlformats.org/drawingml/2006/main">
            <a:off x="704850" y="4457700"/>
            <a:ext cx="1076325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21" name="">
            <a:extLst xmlns:a="http://schemas.openxmlformats.org/drawingml/2006/main">
              <a:ext uri="{FF2B5EF4-FFF2-40B4-BE49-F238E27FC236}">
                <a16:creationId xmlns:a16="http://schemas.microsoft.com/office/drawing/2014/main" id="{A9672424-53BC-4322-A2E2-3A56DD4DAB15}"/>
              </a:ext>
            </a:extLst>
          </p:cNvPr>
          <p:cNvSpPr>
            <a:spLocks xmlns:a="http://schemas.openxmlformats.org/drawingml/2006/main" noGrp="1"/>
          </p:cNvSpPr>
          <p:nvPr/>
        </p:nvSpPr>
        <p:spPr>
          <a:xfrm xmlns:a="http://schemas.openxmlformats.org/drawingml/2006/main">
            <a:off x="704850" y="4762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Supported IPA age bands</a:t>
            </a:r>
          </a:p>
        </p:txBody>
      </p:sp>
      <p:sp>
        <p:nvSpPr>
          <p:cNvPr id="22" name="">
            <a:extLst xmlns:a="http://schemas.openxmlformats.org/drawingml/2006/main">
              <a:ext uri="{FF2B5EF4-FFF2-40B4-BE49-F238E27FC236}">
                <a16:creationId xmlns:a16="http://schemas.microsoft.com/office/drawing/2014/main" id="{E211BA49-EEE3-4CF1-8E76-E9C8D5334104}"/>
              </a:ext>
            </a:extLst>
          </p:cNvPr>
          <p:cNvSpPr>
            <a:spLocks xmlns:a="http://schemas.openxmlformats.org/drawingml/2006/main" noGrp="1"/>
          </p:cNvSpPr>
          <p:nvPr/>
        </p:nvSpPr>
        <p:spPr>
          <a:xfrm xmlns:a="http://schemas.openxmlformats.org/drawingml/2006/main">
            <a:off x="7048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12–23 mo</a:t>
            </a:r>
          </a:p>
        </p:txBody>
      </p:sp>
      <p:sp>
        <p:nvSpPr>
          <p:cNvPr id="23" name="">
            <a:extLst xmlns:a="http://schemas.openxmlformats.org/drawingml/2006/main">
              <a:ext uri="{FF2B5EF4-FFF2-40B4-BE49-F238E27FC236}">
                <a16:creationId xmlns:a16="http://schemas.microsoft.com/office/drawing/2014/main" id="{6E5AF8F5-8CF9-4F8F-850B-E7CC0DA27A89}"/>
              </a:ext>
            </a:extLst>
          </p:cNvPr>
          <p:cNvSpPr>
            <a:spLocks xmlns:a="http://schemas.openxmlformats.org/drawingml/2006/main" noGrp="1"/>
          </p:cNvSpPr>
          <p:nvPr/>
        </p:nvSpPr>
        <p:spPr>
          <a:xfrm xmlns:a="http://schemas.openxmlformats.org/drawingml/2006/main">
            <a:off x="200977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24–35 mo</a:t>
            </a:r>
          </a:p>
        </p:txBody>
      </p:sp>
      <p:sp>
        <p:nvSpPr>
          <p:cNvPr id="24" name="">
            <a:extLst xmlns:a="http://schemas.openxmlformats.org/drawingml/2006/main">
              <a:ext uri="{FF2B5EF4-FFF2-40B4-BE49-F238E27FC236}">
                <a16:creationId xmlns:a16="http://schemas.microsoft.com/office/drawing/2014/main" id="{1FD948B7-020A-44B7-9DF5-D5E9E3D5F8EB}"/>
              </a:ext>
            </a:extLst>
          </p:cNvPr>
          <p:cNvSpPr>
            <a:spLocks xmlns:a="http://schemas.openxmlformats.org/drawingml/2006/main" noGrp="1"/>
          </p:cNvSpPr>
          <p:nvPr/>
        </p:nvSpPr>
        <p:spPr>
          <a:xfrm xmlns:a="http://schemas.openxmlformats.org/drawingml/2006/main">
            <a:off x="331470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3–5 yr</a:t>
            </a:r>
          </a:p>
        </p:txBody>
      </p:sp>
      <p:sp>
        <p:nvSpPr>
          <p:cNvPr id="25" name="">
            <a:extLst xmlns:a="http://schemas.openxmlformats.org/drawingml/2006/main">
              <a:ext uri="{FF2B5EF4-FFF2-40B4-BE49-F238E27FC236}">
                <a16:creationId xmlns:a16="http://schemas.microsoft.com/office/drawing/2014/main" id="{508B2A9B-D6AC-48D0-9C09-B59144B71127}"/>
              </a:ext>
            </a:extLst>
          </p:cNvPr>
          <p:cNvSpPr>
            <a:spLocks xmlns:a="http://schemas.openxmlformats.org/drawingml/2006/main" noGrp="1"/>
          </p:cNvSpPr>
          <p:nvPr/>
        </p:nvSpPr>
        <p:spPr>
          <a:xfrm xmlns:a="http://schemas.openxmlformats.org/drawingml/2006/main">
            <a:off x="461962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6–10 yr</a:t>
            </a:r>
          </a:p>
        </p:txBody>
      </p:sp>
      <p:sp>
        <p:nvSpPr>
          <p:cNvPr id="26" name="">
            <a:extLst xmlns:a="http://schemas.openxmlformats.org/drawingml/2006/main">
              <a:ext uri="{FF2B5EF4-FFF2-40B4-BE49-F238E27FC236}">
                <a16:creationId xmlns:a16="http://schemas.microsoft.com/office/drawing/2014/main" id="{19DAF47F-ECE0-4749-BE66-0279930226EA}"/>
              </a:ext>
            </a:extLst>
          </p:cNvPr>
          <p:cNvSpPr>
            <a:spLocks xmlns:a="http://schemas.openxmlformats.org/drawingml/2006/main" noGrp="1"/>
          </p:cNvSpPr>
          <p:nvPr/>
        </p:nvSpPr>
        <p:spPr>
          <a:xfrm xmlns:a="http://schemas.openxmlformats.org/drawingml/2006/main">
            <a:off x="5924550" y="5257800"/>
            <a:ext cx="1295400"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11–17 yr</a:t>
            </a:r>
          </a:p>
        </p:txBody>
      </p:sp>
      <p:sp>
        <p:nvSpPr>
          <p:cNvPr id="27" name="">
            <a:extLst xmlns:a="http://schemas.openxmlformats.org/drawingml/2006/main">
              <a:ext uri="{FF2B5EF4-FFF2-40B4-BE49-F238E27FC236}">
                <a16:creationId xmlns:a16="http://schemas.microsoft.com/office/drawing/2014/main" id="{9205066D-7329-460F-A323-D1DDC45707A8}"/>
              </a:ext>
            </a:extLst>
          </p:cNvPr>
          <p:cNvSpPr>
            <a:spLocks xmlns:a="http://schemas.openxmlformats.org/drawingml/2006/main" noGrp="1"/>
          </p:cNvSpPr>
          <p:nvPr/>
        </p:nvSpPr>
        <p:spPr>
          <a:xfrm xmlns:a="http://schemas.openxmlformats.org/drawingml/2006/main">
            <a:off x="73342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18–20 yr</a:t>
            </a:r>
          </a:p>
        </p:txBody>
      </p:sp>
      <p:sp>
        <p:nvSpPr>
          <p:cNvPr id="28" name="">
            <a:extLst xmlns:a="http://schemas.openxmlformats.org/drawingml/2006/main">
              <a:ext uri="{FF2B5EF4-FFF2-40B4-BE49-F238E27FC236}">
                <a16:creationId xmlns:a16="http://schemas.microsoft.com/office/drawing/2014/main" id="{74A205B1-BF87-4E1C-98DA-884D3AC1783B}"/>
              </a:ext>
            </a:extLst>
          </p:cNvPr>
          <p:cNvSpPr>
            <a:spLocks xmlns:a="http://schemas.openxmlformats.org/drawingml/2006/main" noGrp="1"/>
          </p:cNvSpPr>
          <p:nvPr/>
        </p:nvSpPr>
        <p:spPr>
          <a:xfrm xmlns:a="http://schemas.openxmlformats.org/drawingml/2006/main">
            <a:off x="704850" y="5905500"/>
            <a:ext cx="962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 participant can have a separate latest record in every age band.</a:t>
            </a:r>
          </a:p>
        </p:txBody>
      </p:sp>
    </p:spTree>
    <p:extLst>
      <p:ext uri="{BB962C8B-B14F-4D97-AF65-F5344CB8AC3E}">
        <p14:creationId xmlns:p14="http://schemas.microsoft.com/office/powerpoint/2010/main" val="20952125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B3A26AC-EC79-43C7-BDA0-22E77A4854C9}"/>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Outcomes roll up through a consistent score and denominator</a:t>
            </a:r>
          </a:p>
        </p:txBody>
      </p:sp>
      <p:sp>
        <p:nvSpPr>
          <p:cNvPr id="2" name="">
            <a:extLst xmlns:a="http://schemas.openxmlformats.org/drawingml/2006/main">
              <a:ext uri="{FF2B5EF4-FFF2-40B4-BE49-F238E27FC236}">
                <a16:creationId xmlns:a16="http://schemas.microsoft.com/office/drawing/2014/main" id="{512976E0-3FD2-4B39-A730-4F21084DA26E}"/>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14E0DDBE-97B4-46A5-9F7B-6269342E2715}"/>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177A0EF5-4325-46F6-A362-D2C0028AACD8}"/>
              </a:ext>
            </a:extLst>
          </p:cNvPr>
          <p:cNvSpPr>
            <a:spLocks xmlns:a="http://schemas.openxmlformats.org/drawingml/2006/main" noGrp="1"/>
          </p:cNvSpPr>
          <p:nvPr/>
        </p:nvSpPr>
        <p:spPr>
          <a:xfrm xmlns:a="http://schemas.openxmlformats.org/drawingml/2006/main">
            <a:off x="819150" y="1543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Outcome</a:t>
            </a:r>
          </a:p>
        </p:txBody>
      </p:sp>
      <p:sp>
        <p:nvSpPr>
          <p:cNvPr id="5" name="">
            <a:extLst xmlns:a="http://schemas.openxmlformats.org/drawingml/2006/main">
              <a:ext uri="{FF2B5EF4-FFF2-40B4-BE49-F238E27FC236}">
                <a16:creationId xmlns:a16="http://schemas.microsoft.com/office/drawing/2014/main" id="{1CDD68D2-7737-4AE2-B215-F98BC6B300F1}"/>
              </a:ext>
            </a:extLst>
          </p:cNvPr>
          <p:cNvSpPr>
            <a:spLocks xmlns:a="http://schemas.openxmlformats.org/drawingml/2006/main" noGrp="1"/>
          </p:cNvSpPr>
          <p:nvPr/>
        </p:nvSpPr>
        <p:spPr>
          <a:xfrm xmlns:a="http://schemas.openxmlformats.org/drawingml/2006/main">
            <a:off x="3638550" y="15430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Score</a:t>
            </a:r>
          </a:p>
        </p:txBody>
      </p:sp>
      <p:sp>
        <p:nvSpPr>
          <p:cNvPr id="6" name="">
            <a:extLst xmlns:a="http://schemas.openxmlformats.org/drawingml/2006/main">
              <a:ext uri="{FF2B5EF4-FFF2-40B4-BE49-F238E27FC236}">
                <a16:creationId xmlns:a16="http://schemas.microsoft.com/office/drawing/2014/main" id="{D6F0DFB6-5EBA-48A1-9733-EED93B0B4AA3}"/>
              </a:ext>
            </a:extLst>
          </p:cNvPr>
          <p:cNvSpPr>
            <a:spLocks xmlns:a="http://schemas.openxmlformats.org/drawingml/2006/main" noGrp="1"/>
          </p:cNvSpPr>
          <p:nvPr/>
        </p:nvSpPr>
        <p:spPr>
          <a:xfrm xmlns:a="http://schemas.openxmlformats.org/drawingml/2006/main">
            <a:off x="5486400" y="1543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Interpretation</a:t>
            </a:r>
          </a:p>
        </p:txBody>
      </p:sp>
      <p:sp>
        <p:nvSpPr>
          <p:cNvPr id="7" name="">
            <a:extLst xmlns:a="http://schemas.openxmlformats.org/drawingml/2006/main">
              <a:ext uri="{FF2B5EF4-FFF2-40B4-BE49-F238E27FC236}">
                <a16:creationId xmlns:a16="http://schemas.microsoft.com/office/drawing/2014/main" id="{4E156363-8FB1-4F10-8A7A-DF692B6CEE1A}"/>
              </a:ext>
            </a:extLst>
          </p:cNvPr>
          <p:cNvSpPr>
            <a:spLocks xmlns:a="http://schemas.openxmlformats.org/drawingml/2006/main" noGrp="1"/>
          </p:cNvSpPr>
          <p:nvPr/>
        </p:nvSpPr>
        <p:spPr>
          <a:xfrm xmlns:a="http://schemas.openxmlformats.org/drawingml/2006/main">
            <a:off x="685800" y="19907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8" name="">
            <a:extLst xmlns:a="http://schemas.openxmlformats.org/drawingml/2006/main">
              <a:ext uri="{FF2B5EF4-FFF2-40B4-BE49-F238E27FC236}">
                <a16:creationId xmlns:a16="http://schemas.microsoft.com/office/drawing/2014/main" id="{BC0C9607-A522-4FE6-87B0-17182F80E452}"/>
              </a:ext>
            </a:extLst>
          </p:cNvPr>
          <p:cNvSpPr>
            <a:spLocks xmlns:a="http://schemas.openxmlformats.org/drawingml/2006/main" noGrp="1"/>
          </p:cNvSpPr>
          <p:nvPr/>
        </p:nvSpPr>
        <p:spPr>
          <a:xfrm xmlns:a="http://schemas.openxmlformats.org/drawingml/2006/main">
            <a:off x="819150" y="2171700"/>
            <a:ext cx="133350" cy="30480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ED7877-C116-4868-B2E9-A9E024F4896D}"/>
              </a:ext>
            </a:extLst>
          </p:cNvPr>
          <p:cNvSpPr>
            <a:spLocks xmlns:a="http://schemas.openxmlformats.org/drawingml/2006/main" noGrp="1"/>
          </p:cNvSpPr>
          <p:nvPr/>
        </p:nvSpPr>
        <p:spPr>
          <a:xfrm xmlns:a="http://schemas.openxmlformats.org/drawingml/2006/main">
            <a:off x="1123950" y="21717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Complete</a:t>
            </a:r>
          </a:p>
        </p:txBody>
      </p:sp>
      <p:sp>
        <p:nvSpPr>
          <p:cNvPr id="10" name="">
            <a:extLst xmlns:a="http://schemas.openxmlformats.org/drawingml/2006/main">
              <a:ext uri="{FF2B5EF4-FFF2-40B4-BE49-F238E27FC236}">
                <a16:creationId xmlns:a16="http://schemas.microsoft.com/office/drawing/2014/main" id="{B46B1D76-447A-40D1-861B-5BBCB8910105}"/>
              </a:ext>
            </a:extLst>
          </p:cNvPr>
          <p:cNvSpPr>
            <a:spLocks xmlns:a="http://schemas.openxmlformats.org/drawingml/2006/main" noGrp="1"/>
          </p:cNvSpPr>
          <p:nvPr/>
        </p:nvSpPr>
        <p:spPr>
          <a:xfrm xmlns:a="http://schemas.openxmlformats.org/drawingml/2006/main">
            <a:off x="3638550" y="2162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1.00</a:t>
            </a:r>
          </a:p>
        </p:txBody>
      </p:sp>
      <p:sp>
        <p:nvSpPr>
          <p:cNvPr id="11" name="">
            <a:extLst xmlns:a="http://schemas.openxmlformats.org/drawingml/2006/main">
              <a:ext uri="{FF2B5EF4-FFF2-40B4-BE49-F238E27FC236}">
                <a16:creationId xmlns:a16="http://schemas.microsoft.com/office/drawing/2014/main" id="{0CFC575D-2C39-4875-9E48-ED2FF481C8DD}"/>
              </a:ext>
            </a:extLst>
          </p:cNvPr>
          <p:cNvSpPr>
            <a:spLocks xmlns:a="http://schemas.openxmlformats.org/drawingml/2006/main" noGrp="1"/>
          </p:cNvSpPr>
          <p:nvPr/>
        </p:nvSpPr>
        <p:spPr>
          <a:xfrm xmlns:a="http://schemas.openxmlformats.org/drawingml/2006/main">
            <a:off x="5486400" y="21812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Task completed</a:t>
            </a:r>
          </a:p>
        </p:txBody>
      </p:sp>
      <p:sp>
        <p:nvSpPr>
          <p:cNvPr id="12" name="">
            <a:extLst xmlns:a="http://schemas.openxmlformats.org/drawingml/2006/main">
              <a:ext uri="{FF2B5EF4-FFF2-40B4-BE49-F238E27FC236}">
                <a16:creationId xmlns:a16="http://schemas.microsoft.com/office/drawing/2014/main" id="{FB2A2616-97E3-47C0-BDCF-E79BF13A0E18}"/>
              </a:ext>
            </a:extLst>
          </p:cNvPr>
          <p:cNvSpPr>
            <a:spLocks xmlns:a="http://schemas.openxmlformats.org/drawingml/2006/main" noGrp="1"/>
          </p:cNvSpPr>
          <p:nvPr/>
        </p:nvSpPr>
        <p:spPr>
          <a:xfrm xmlns:a="http://schemas.openxmlformats.org/drawingml/2006/main">
            <a:off x="685800" y="27717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3" name="">
            <a:extLst xmlns:a="http://schemas.openxmlformats.org/drawingml/2006/main">
              <a:ext uri="{FF2B5EF4-FFF2-40B4-BE49-F238E27FC236}">
                <a16:creationId xmlns:a16="http://schemas.microsoft.com/office/drawing/2014/main" id="{FA6F36A0-267C-467B-9274-35502608B56D}"/>
              </a:ext>
            </a:extLst>
          </p:cNvPr>
          <p:cNvSpPr>
            <a:spLocks xmlns:a="http://schemas.openxmlformats.org/drawingml/2006/main" noGrp="1"/>
          </p:cNvSpPr>
          <p:nvPr/>
        </p:nvSpPr>
        <p:spPr>
          <a:xfrm xmlns:a="http://schemas.openxmlformats.org/drawingml/2006/main">
            <a:off x="819150" y="2952750"/>
            <a:ext cx="133350" cy="30480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E277888-1CDF-4EE1-8B4C-91A7436D4690}"/>
              </a:ext>
            </a:extLst>
          </p:cNvPr>
          <p:cNvSpPr>
            <a:spLocks xmlns:a="http://schemas.openxmlformats.org/drawingml/2006/main" noGrp="1"/>
          </p:cNvSpPr>
          <p:nvPr/>
        </p:nvSpPr>
        <p:spPr>
          <a:xfrm xmlns:a="http://schemas.openxmlformats.org/drawingml/2006/main">
            <a:off x="1123950" y="2952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No-Show</a:t>
            </a:r>
          </a:p>
        </p:txBody>
      </p:sp>
      <p:sp>
        <p:nvSpPr>
          <p:cNvPr id="15" name="">
            <a:extLst xmlns:a="http://schemas.openxmlformats.org/drawingml/2006/main">
              <a:ext uri="{FF2B5EF4-FFF2-40B4-BE49-F238E27FC236}">
                <a16:creationId xmlns:a16="http://schemas.microsoft.com/office/drawing/2014/main" id="{AAFFACC2-F126-4AC1-B8D1-304756709D67}"/>
              </a:ext>
            </a:extLst>
          </p:cNvPr>
          <p:cNvSpPr>
            <a:spLocks xmlns:a="http://schemas.openxmlformats.org/drawingml/2006/main" noGrp="1"/>
          </p:cNvSpPr>
          <p:nvPr/>
        </p:nvSpPr>
        <p:spPr>
          <a:xfrm xmlns:a="http://schemas.openxmlformats.org/drawingml/2006/main">
            <a:off x="363855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0.25</a:t>
            </a:r>
          </a:p>
        </p:txBody>
      </p:sp>
      <p:sp>
        <p:nvSpPr>
          <p:cNvPr id="16" name="">
            <a:extLst xmlns:a="http://schemas.openxmlformats.org/drawingml/2006/main">
              <a:ext uri="{FF2B5EF4-FFF2-40B4-BE49-F238E27FC236}">
                <a16:creationId xmlns:a16="http://schemas.microsoft.com/office/drawing/2014/main" id="{75173917-14C2-496D-BB68-E946F6F769DD}"/>
              </a:ext>
            </a:extLst>
          </p:cNvPr>
          <p:cNvSpPr>
            <a:spLocks xmlns:a="http://schemas.openxmlformats.org/drawingml/2006/main" noGrp="1"/>
          </p:cNvSpPr>
          <p:nvPr/>
        </p:nvSpPr>
        <p:spPr>
          <a:xfrm xmlns:a="http://schemas.openxmlformats.org/drawingml/2006/main">
            <a:off x="5486400" y="29622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marked no-show</a:t>
            </a:r>
          </a:p>
        </p:txBody>
      </p:sp>
      <p:sp>
        <p:nvSpPr>
          <p:cNvPr id="17" name="">
            <a:extLst xmlns:a="http://schemas.openxmlformats.org/drawingml/2006/main">
              <a:ext uri="{FF2B5EF4-FFF2-40B4-BE49-F238E27FC236}">
                <a16:creationId xmlns:a16="http://schemas.microsoft.com/office/drawing/2014/main" id="{8FB577AA-B33D-483A-9F93-082E77A075C3}"/>
              </a:ext>
            </a:extLst>
          </p:cNvPr>
          <p:cNvSpPr>
            <a:spLocks xmlns:a="http://schemas.openxmlformats.org/drawingml/2006/main" noGrp="1"/>
          </p:cNvSpPr>
          <p:nvPr/>
        </p:nvSpPr>
        <p:spPr>
          <a:xfrm xmlns:a="http://schemas.openxmlformats.org/drawingml/2006/main">
            <a:off x="685800" y="35528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8" name="">
            <a:extLst xmlns:a="http://schemas.openxmlformats.org/drawingml/2006/main">
              <a:ext uri="{FF2B5EF4-FFF2-40B4-BE49-F238E27FC236}">
                <a16:creationId xmlns:a16="http://schemas.microsoft.com/office/drawing/2014/main" id="{805EC9F7-C531-4A1F-8D35-6FBA2D6DCB7B}"/>
              </a:ext>
            </a:extLst>
          </p:cNvPr>
          <p:cNvSpPr>
            <a:spLocks xmlns:a="http://schemas.openxmlformats.org/drawingml/2006/main" noGrp="1"/>
          </p:cNvSpPr>
          <p:nvPr/>
        </p:nvSpPr>
        <p:spPr>
          <a:xfrm xmlns:a="http://schemas.openxmlformats.org/drawingml/2006/main">
            <a:off x="819150" y="3733800"/>
            <a:ext cx="133350" cy="3048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1582095-807D-4C49-94A4-F5F6ECD07041}"/>
              </a:ext>
            </a:extLst>
          </p:cNvPr>
          <p:cNvSpPr>
            <a:spLocks xmlns:a="http://schemas.openxmlformats.org/drawingml/2006/main" noGrp="1"/>
          </p:cNvSpPr>
          <p:nvPr/>
        </p:nvSpPr>
        <p:spPr>
          <a:xfrm xmlns:a="http://schemas.openxmlformats.org/drawingml/2006/main">
            <a:off x="1123950" y="37338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Incomplete</a:t>
            </a:r>
          </a:p>
        </p:txBody>
      </p:sp>
      <p:sp>
        <p:nvSpPr>
          <p:cNvPr id="20" name="">
            <a:extLst xmlns:a="http://schemas.openxmlformats.org/drawingml/2006/main">
              <a:ext uri="{FF2B5EF4-FFF2-40B4-BE49-F238E27FC236}">
                <a16:creationId xmlns:a16="http://schemas.microsoft.com/office/drawing/2014/main" id="{5DD8D051-7B7A-4447-94C1-127A2FB9C2D5}"/>
              </a:ext>
            </a:extLst>
          </p:cNvPr>
          <p:cNvSpPr>
            <a:spLocks xmlns:a="http://schemas.openxmlformats.org/drawingml/2006/main" noGrp="1"/>
          </p:cNvSpPr>
          <p:nvPr/>
        </p:nvSpPr>
        <p:spPr>
          <a:xfrm xmlns:a="http://schemas.openxmlformats.org/drawingml/2006/main">
            <a:off x="3638550" y="37242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F2C14E"/>
                </a:solidFill>
                <a:latin typeface="Helvetica Neue"/>
                <a:ea typeface="Helvetica Neue"/>
                <a:cs typeface="Helvetica Neue"/>
              </a:defRPr>
            </a:pPr>
            <a:r>
              <a:rPr sz="1725" b="1">
                <a:solidFill>
                  <a:srgbClr val="F2C14E"/>
                </a:solidFill>
                <a:latin typeface="Helvetica Neue"/>
                <a:ea typeface="Helvetica Neue"/>
                <a:cs typeface="Helvetica Neue"/>
              </a:rPr>
              <a:t>0.00</a:t>
            </a:r>
          </a:p>
        </p:txBody>
      </p:sp>
      <p:sp>
        <p:nvSpPr>
          <p:cNvPr id="21" name="">
            <a:extLst xmlns:a="http://schemas.openxmlformats.org/drawingml/2006/main">
              <a:ext uri="{FF2B5EF4-FFF2-40B4-BE49-F238E27FC236}">
                <a16:creationId xmlns:a16="http://schemas.microsoft.com/office/drawing/2014/main" id="{5260621E-92D6-418A-8FB7-3D8C459B20D9}"/>
              </a:ext>
            </a:extLst>
          </p:cNvPr>
          <p:cNvSpPr>
            <a:spLocks xmlns:a="http://schemas.openxmlformats.org/drawingml/2006/main" noGrp="1"/>
          </p:cNvSpPr>
          <p:nvPr/>
        </p:nvSpPr>
        <p:spPr>
          <a:xfrm xmlns:a="http://schemas.openxmlformats.org/drawingml/2006/main">
            <a:off x="5486400" y="37433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Applicable task not complete</a:t>
            </a:r>
          </a:p>
        </p:txBody>
      </p:sp>
      <p:sp>
        <p:nvSpPr>
          <p:cNvPr id="22" name="">
            <a:extLst xmlns:a="http://schemas.openxmlformats.org/drawingml/2006/main">
              <a:ext uri="{FF2B5EF4-FFF2-40B4-BE49-F238E27FC236}">
                <a16:creationId xmlns:a16="http://schemas.microsoft.com/office/drawing/2014/main" id="{E36023F0-AAFB-48B1-8D73-8D2C892BB038}"/>
              </a:ext>
            </a:extLst>
          </p:cNvPr>
          <p:cNvSpPr>
            <a:spLocks xmlns:a="http://schemas.openxmlformats.org/drawingml/2006/main" noGrp="1"/>
          </p:cNvSpPr>
          <p:nvPr/>
        </p:nvSpPr>
        <p:spPr>
          <a:xfrm xmlns:a="http://schemas.openxmlformats.org/drawingml/2006/main">
            <a:off x="685800" y="43338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23" name="">
            <a:extLst xmlns:a="http://schemas.openxmlformats.org/drawingml/2006/main">
              <a:ext uri="{FF2B5EF4-FFF2-40B4-BE49-F238E27FC236}">
                <a16:creationId xmlns:a16="http://schemas.microsoft.com/office/drawing/2014/main" id="{E4509ABF-92AE-45C0-9A6B-DDF1C928AE19}"/>
              </a:ext>
            </a:extLst>
          </p:cNvPr>
          <p:cNvSpPr>
            <a:spLocks xmlns:a="http://schemas.openxmlformats.org/drawingml/2006/main" noGrp="1"/>
          </p:cNvSpPr>
          <p:nvPr/>
        </p:nvSpPr>
        <p:spPr>
          <a:xfrm xmlns:a="http://schemas.openxmlformats.org/drawingml/2006/main">
            <a:off x="819150" y="4514850"/>
            <a:ext cx="133350" cy="304800"/>
          </a:xfrm>
          <a:prstGeom xmlns:a="http://schemas.openxmlformats.org/drawingml/2006/main" prst="roundRect">
            <a:avLst>
              <a:gd name="adj" fmla="val 50000"/>
            </a:avLst>
          </a:prstGeom>
          <a:solidFill xmlns:a="http://schemas.openxmlformats.org/drawingml/2006/main">
            <a:srgbClr val="5E6C7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302A2FD-A5B0-4050-BD42-76776894B94A}"/>
              </a:ext>
            </a:extLst>
          </p:cNvPr>
          <p:cNvSpPr>
            <a:spLocks xmlns:a="http://schemas.openxmlformats.org/drawingml/2006/main" noGrp="1"/>
          </p:cNvSpPr>
          <p:nvPr/>
        </p:nvSpPr>
        <p:spPr>
          <a:xfrm xmlns:a="http://schemas.openxmlformats.org/drawingml/2006/main">
            <a:off x="1123950" y="45148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 record</a:t>
            </a:r>
          </a:p>
        </p:txBody>
      </p:sp>
      <p:sp>
        <p:nvSpPr>
          <p:cNvPr id="25" name="">
            <a:extLst xmlns:a="http://schemas.openxmlformats.org/drawingml/2006/main">
              <a:ext uri="{FF2B5EF4-FFF2-40B4-BE49-F238E27FC236}">
                <a16:creationId xmlns:a16="http://schemas.microsoft.com/office/drawing/2014/main" id="{0F127A36-B542-412A-8886-D3500B9956A3}"/>
              </a:ext>
            </a:extLst>
          </p:cNvPr>
          <p:cNvSpPr>
            <a:spLocks xmlns:a="http://schemas.openxmlformats.org/drawingml/2006/main" noGrp="1"/>
          </p:cNvSpPr>
          <p:nvPr/>
        </p:nvSpPr>
        <p:spPr>
          <a:xfrm xmlns:a="http://schemas.openxmlformats.org/drawingml/2006/main">
            <a:off x="3638550" y="45053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5E6C78"/>
                </a:solidFill>
                <a:latin typeface="Helvetica Neue"/>
                <a:ea typeface="Helvetica Neue"/>
                <a:cs typeface="Helvetica Neue"/>
              </a:defRPr>
            </a:pPr>
            <a:r>
              <a:rPr sz="1725" b="1">
                <a:solidFill>
                  <a:srgbClr val="5E6C78"/>
                </a:solidFill>
                <a:latin typeface="Helvetica Neue"/>
                <a:ea typeface="Helvetica Neue"/>
                <a:cs typeface="Helvetica Neue"/>
              </a:rPr>
              <a:t>NA → 0</a:t>
            </a:r>
          </a:p>
        </p:txBody>
      </p:sp>
      <p:sp>
        <p:nvSpPr>
          <p:cNvPr id="26" name="">
            <a:extLst xmlns:a="http://schemas.openxmlformats.org/drawingml/2006/main">
              <a:ext uri="{FF2B5EF4-FFF2-40B4-BE49-F238E27FC236}">
                <a16:creationId xmlns:a16="http://schemas.microsoft.com/office/drawing/2014/main" id="{9AF95884-C39A-426E-9DAC-7A43FBF32B92}"/>
              </a:ext>
            </a:extLst>
          </p:cNvPr>
          <p:cNvSpPr>
            <a:spLocks xmlns:a="http://schemas.openxmlformats.org/drawingml/2006/main" noGrp="1"/>
          </p:cNvSpPr>
          <p:nvPr/>
        </p:nvSpPr>
        <p:spPr>
          <a:xfrm xmlns:a="http://schemas.openxmlformats.org/drawingml/2006/main">
            <a:off x="5486400" y="45243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Missing raw score; zero in progress denominator</a:t>
            </a:r>
          </a:p>
        </p:txBody>
      </p:sp>
      <p:sp>
        <p:nvSpPr>
          <p:cNvPr id="27" name="">
            <a:extLst xmlns:a="http://schemas.openxmlformats.org/drawingml/2006/main">
              <a:ext uri="{FF2B5EF4-FFF2-40B4-BE49-F238E27FC236}">
                <a16:creationId xmlns:a16="http://schemas.microsoft.com/office/drawing/2014/main" id="{164056C1-9432-4710-BA77-EF1AA8E2888E}"/>
              </a:ext>
            </a:extLst>
          </p:cNvPr>
          <p:cNvSpPr>
            <a:spLocks xmlns:a="http://schemas.openxmlformats.org/drawingml/2006/main" noGrp="1"/>
          </p:cNvSpPr>
          <p:nvPr/>
        </p:nvSpPr>
        <p:spPr>
          <a:xfrm xmlns:a="http://schemas.openxmlformats.org/drawingml/2006/main">
            <a:off x="685800" y="5391150"/>
            <a:ext cx="10172700" cy="876300"/>
          </a:xfrm>
          <a:prstGeom xmlns:a="http://schemas.openxmlformats.org/drawingml/2006/main" prst="roundRect">
            <a:avLst>
              <a:gd name="adj" fmla="val 15217"/>
            </a:avLst>
          </a:prstGeom>
          <a:solidFill xmlns:a="http://schemas.openxmlformats.org/drawingml/2006/main">
            <a:srgbClr val="0B1F3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AB1AC72-FA2F-4B14-B3E9-2E22FB015A8C}"/>
              </a:ext>
            </a:extLst>
          </p:cNvPr>
          <p:cNvSpPr>
            <a:spLocks xmlns:a="http://schemas.openxmlformats.org/drawingml/2006/main" noGrp="1"/>
          </p:cNvSpPr>
          <p:nvPr/>
        </p:nvSpPr>
        <p:spPr>
          <a:xfrm xmlns:a="http://schemas.openxmlformats.org/drawingml/2006/main">
            <a:off x="914400" y="557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A9C3D3"/>
                </a:solidFill>
                <a:latin typeface="Helvetica Neue"/>
                <a:ea typeface="Helvetica Neue"/>
                <a:cs typeface="Helvetica Neue"/>
              </a:defRPr>
            </a:pPr>
            <a:r>
              <a:rPr sz="1500" b="1">
                <a:solidFill>
                  <a:srgbClr val="A9C3D3"/>
                </a:solidFill>
                <a:latin typeface="Helvetica Neue"/>
                <a:ea typeface="Helvetica Neue"/>
                <a:cs typeface="Helvetica Neue"/>
              </a:rPr>
              <a:t>Weighted progress</a:t>
            </a:r>
          </a:p>
        </p:txBody>
      </p:sp>
      <p:sp>
        <p:nvSpPr>
          <p:cNvPr id="29" name="">
            <a:extLst xmlns:a="http://schemas.openxmlformats.org/drawingml/2006/main">
              <a:ext uri="{FF2B5EF4-FFF2-40B4-BE49-F238E27FC236}">
                <a16:creationId xmlns:a16="http://schemas.microsoft.com/office/drawing/2014/main" id="{D22D650A-C714-467A-9AE5-DB99216705FE}"/>
              </a:ext>
            </a:extLst>
          </p:cNvPr>
          <p:cNvSpPr>
            <a:spLocks xmlns:a="http://schemas.openxmlformats.org/drawingml/2006/main" noGrp="1"/>
          </p:cNvSpPr>
          <p:nvPr/>
        </p:nvSpPr>
        <p:spPr>
          <a:xfrm xmlns:a="http://schemas.openxmlformats.org/drawingml/2006/main">
            <a:off x="3524250" y="555307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Σ task scores  ÷  number of applicable participant–task rows</a:t>
            </a:r>
          </a:p>
        </p:txBody>
      </p:sp>
      <p:sp>
        <p:nvSpPr>
          <p:cNvPr id="30" name="">
            <a:extLst xmlns:a="http://schemas.openxmlformats.org/drawingml/2006/main">
              <a:ext uri="{FF2B5EF4-FFF2-40B4-BE49-F238E27FC236}">
                <a16:creationId xmlns:a16="http://schemas.microsoft.com/office/drawing/2014/main" id="{793BEAFE-0C1D-4727-A6AF-2E7BDBD3C8C7}"/>
              </a:ext>
            </a:extLst>
          </p:cNvPr>
          <p:cNvSpPr>
            <a:spLocks xmlns:a="http://schemas.openxmlformats.org/drawingml/2006/main" noGrp="1"/>
          </p:cNvSpPr>
          <p:nvPr/>
        </p:nvSpPr>
        <p:spPr>
          <a:xfrm xmlns:a="http://schemas.openxmlformats.org/drawingml/2006/main">
            <a:off x="3524250" y="595312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BCD0DD"/>
                </a:solidFill>
                <a:latin typeface="Helvetica Neue"/>
                <a:ea typeface="Helvetica Neue"/>
                <a:cs typeface="Helvetica Neue"/>
              </a:defRPr>
            </a:pPr>
            <a:r>
              <a:rPr sz="1200" b="0">
                <a:solidFill>
                  <a:srgbClr val="BCD0DD"/>
                </a:solidFill>
                <a:latin typeface="Helvetica Neue"/>
                <a:ea typeface="Helvetica Neue"/>
                <a:cs typeface="Helvetica Neue"/>
              </a:rPr>
              <a:t>IPA status uses Ripple + Calendly. All other task outcomes use Ripple only.</a:t>
            </a:r>
          </a:p>
        </p:txBody>
      </p:sp>
    </p:spTree>
    <p:extLst>
      <p:ext uri="{BB962C8B-B14F-4D97-AF65-F5344CB8AC3E}">
        <p14:creationId xmlns:p14="http://schemas.microsoft.com/office/powerpoint/2010/main" val="583479535"/>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60E64AF-178C-4C13-A1F1-333AADA5F361}"/>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Responsibility is effective-dated and locked at the age-band task level</a:t>
            </a:r>
          </a:p>
        </p:txBody>
      </p:sp>
      <p:sp>
        <p:nvSpPr>
          <p:cNvPr id="2" name="">
            <a:extLst xmlns:a="http://schemas.openxmlformats.org/drawingml/2006/main">
              <a:ext uri="{FF2B5EF4-FFF2-40B4-BE49-F238E27FC236}">
                <a16:creationId xmlns:a16="http://schemas.microsoft.com/office/drawing/2014/main" id="{91855901-0BE4-4DB8-9865-EA0089D1AF75}"/>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FCF422E6-51D9-4C6C-B51A-7916120EE02D}"/>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64C1D45D-CA56-4F9A-8360-CA2A4AA06AF0}"/>
              </a:ext>
            </a:extLst>
          </p:cNvPr>
          <p:cNvSpPr>
            <a:spLocks xmlns:a="http://schemas.openxmlformats.org/drawingml/2006/main" noGrp="1"/>
          </p:cNvSpPr>
          <p:nvPr/>
        </p:nvSpPr>
        <p:spPr>
          <a:xfrm xmlns:a="http://schemas.openxmlformats.org/drawingml/2006/main">
            <a:off x="704850" y="13335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Current FTM source</a:t>
            </a:r>
          </a:p>
        </p:txBody>
      </p:sp>
      <p:sp>
        <p:nvSpPr>
          <p:cNvPr id="5" name="">
            <a:extLst xmlns:a="http://schemas.openxmlformats.org/drawingml/2006/main">
              <a:ext uri="{FF2B5EF4-FFF2-40B4-BE49-F238E27FC236}">
                <a16:creationId xmlns:a16="http://schemas.microsoft.com/office/drawing/2014/main" id="{646BE955-6F89-4E19-B908-43CDBD93E6A3}"/>
              </a:ext>
            </a:extLst>
          </p:cNvPr>
          <p:cNvSpPr>
            <a:spLocks xmlns:a="http://schemas.openxmlformats.org/drawingml/2006/main" noGrp="1"/>
          </p:cNvSpPr>
          <p:nvPr/>
        </p:nvSpPr>
        <p:spPr>
          <a:xfrm xmlns:a="http://schemas.openxmlformats.org/drawingml/2006/main">
            <a:off x="685800" y="17240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6" name="">
            <a:extLst xmlns:a="http://schemas.openxmlformats.org/drawingml/2006/main">
              <a:ext uri="{FF2B5EF4-FFF2-40B4-BE49-F238E27FC236}">
                <a16:creationId xmlns:a16="http://schemas.microsoft.com/office/drawing/2014/main" id="{50D9C973-4360-4F78-8190-478592FE208E}"/>
              </a:ext>
            </a:extLst>
          </p:cNvPr>
          <p:cNvSpPr>
            <a:spLocks xmlns:a="http://schemas.openxmlformats.org/drawingml/2006/main" noGrp="1"/>
          </p:cNvSpPr>
          <p:nvPr/>
        </p:nvSpPr>
        <p:spPr>
          <a:xfrm xmlns:a="http://schemas.openxmlformats.org/drawingml/2006/main">
            <a:off x="685800" y="1724025"/>
            <a:ext cx="85725" cy="1352550"/>
          </a:xfrm>
          <a:prstGeom xmlns:a="http://schemas.openxmlformats.org/drawingml/2006/main" prst="roundRect">
            <a:avLst>
              <a:gd name="adj" fmla="val 44444"/>
            </a:avLst>
          </a:prstGeom>
          <a:solidFill xmlns:a="http://schemas.openxmlformats.org/drawingml/2006/main">
            <a:srgbClr val="178C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AF289B-A3F2-4BFE-8855-F1797AC1CF4C}"/>
              </a:ext>
            </a:extLst>
          </p:cNvPr>
          <p:cNvSpPr>
            <a:spLocks xmlns:a="http://schemas.openxmlformats.org/drawingml/2006/main" noGrp="1"/>
          </p:cNvSpPr>
          <p:nvPr/>
        </p:nvSpPr>
        <p:spPr>
          <a:xfrm xmlns:a="http://schemas.openxmlformats.org/drawingml/2006/main">
            <a:off x="952500" y="19335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6–35 months</a:t>
            </a:r>
          </a:p>
        </p:txBody>
      </p:sp>
      <p:sp>
        <p:nvSpPr>
          <p:cNvPr id="8" name="">
            <a:extLst xmlns:a="http://schemas.openxmlformats.org/drawingml/2006/main">
              <a:ext uri="{FF2B5EF4-FFF2-40B4-BE49-F238E27FC236}">
                <a16:creationId xmlns:a16="http://schemas.microsoft.com/office/drawing/2014/main" id="{143EA47E-5A75-4AE0-A4EA-46856A2DBD20}"/>
              </a:ext>
            </a:extLst>
          </p:cNvPr>
          <p:cNvSpPr>
            <a:spLocks xmlns:a="http://schemas.openxmlformats.org/drawingml/2006/main" noGrp="1"/>
          </p:cNvSpPr>
          <p:nvPr/>
        </p:nvSpPr>
        <p:spPr>
          <a:xfrm xmlns:a="http://schemas.openxmlformats.org/drawingml/2006/main">
            <a:off x="952500" y="23526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Ripple.</a:t>
            </a:r>
          </a:p>
        </p:txBody>
      </p:sp>
      <p:sp>
        <p:nvSpPr>
          <p:cNvPr id="9" name="">
            <a:extLst xmlns:a="http://schemas.openxmlformats.org/drawingml/2006/main">
              <a:ext uri="{FF2B5EF4-FFF2-40B4-BE49-F238E27FC236}">
                <a16:creationId xmlns:a16="http://schemas.microsoft.com/office/drawing/2014/main" id="{2374E474-09E5-4DFC-A588-BECC9EDE7F66}"/>
              </a:ext>
            </a:extLst>
          </p:cNvPr>
          <p:cNvSpPr>
            <a:spLocks xmlns:a="http://schemas.openxmlformats.org/drawingml/2006/main" noGrp="1"/>
          </p:cNvSpPr>
          <p:nvPr/>
        </p:nvSpPr>
        <p:spPr>
          <a:xfrm xmlns:a="http://schemas.openxmlformats.org/drawingml/2006/main">
            <a:off x="685800" y="32861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B49AB302-B322-419A-B15C-CE6D7BC430D1}"/>
              </a:ext>
            </a:extLst>
          </p:cNvPr>
          <p:cNvSpPr>
            <a:spLocks xmlns:a="http://schemas.openxmlformats.org/drawingml/2006/main" noGrp="1"/>
          </p:cNvSpPr>
          <p:nvPr/>
        </p:nvSpPr>
        <p:spPr>
          <a:xfrm xmlns:a="http://schemas.openxmlformats.org/drawingml/2006/main">
            <a:off x="685800" y="3286125"/>
            <a:ext cx="85725" cy="1352550"/>
          </a:xfrm>
          <a:prstGeom xmlns:a="http://schemas.openxmlformats.org/drawingml/2006/main" prst="roundRect">
            <a:avLst>
              <a:gd name="adj" fmla="val 44444"/>
            </a:avLst>
          </a:prstGeom>
          <a:solidFill xmlns:a="http://schemas.openxmlformats.org/drawingml/2006/main">
            <a:srgbClr val="E76F5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E60446-B5B3-4093-A1C3-C90D224E7E8E}"/>
              </a:ext>
            </a:extLst>
          </p:cNvPr>
          <p:cNvSpPr>
            <a:spLocks xmlns:a="http://schemas.openxmlformats.org/drawingml/2006/main" noGrp="1"/>
          </p:cNvSpPr>
          <p:nvPr/>
        </p:nvSpPr>
        <p:spPr>
          <a:xfrm xmlns:a="http://schemas.openxmlformats.org/drawingml/2006/main">
            <a:off x="952500" y="34956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3–20 years</a:t>
            </a:r>
          </a:p>
        </p:txBody>
      </p:sp>
      <p:sp>
        <p:nvSpPr>
          <p:cNvPr id="12" name="">
            <a:extLst xmlns:a="http://schemas.openxmlformats.org/drawingml/2006/main">
              <a:ext uri="{FF2B5EF4-FFF2-40B4-BE49-F238E27FC236}">
                <a16:creationId xmlns:a16="http://schemas.microsoft.com/office/drawing/2014/main" id="{5ED58DFF-7BB5-43D2-9EC6-19B13BC3870F}"/>
              </a:ext>
            </a:extLst>
          </p:cNvPr>
          <p:cNvSpPr>
            <a:spLocks xmlns:a="http://schemas.openxmlformats.org/drawingml/2006/main" noGrp="1"/>
          </p:cNvSpPr>
          <p:nvPr/>
        </p:nvSpPr>
        <p:spPr>
          <a:xfrm xmlns:a="http://schemas.openxmlformats.org/drawingml/2006/main">
            <a:off x="952500" y="39147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the manually maintained call list.</a:t>
            </a:r>
          </a:p>
        </p:txBody>
      </p:sp>
      <p:sp>
        <p:nvSpPr>
          <p:cNvPr id="13" name="">
            <a:extLst xmlns:a="http://schemas.openxmlformats.org/drawingml/2006/main">
              <a:ext uri="{FF2B5EF4-FFF2-40B4-BE49-F238E27FC236}">
                <a16:creationId xmlns:a16="http://schemas.microsoft.com/office/drawing/2014/main" id="{080287BA-1275-4A77-8A39-2BD8C945ABC1}"/>
              </a:ext>
            </a:extLst>
          </p:cNvPr>
          <p:cNvSpPr>
            <a:spLocks xmlns:a="http://schemas.openxmlformats.org/drawingml/2006/main" noGrp="1"/>
          </p:cNvSpPr>
          <p:nvPr/>
        </p:nvSpPr>
        <p:spPr>
          <a:xfrm xmlns:a="http://schemas.openxmlformats.org/drawingml/2006/main">
            <a:off x="4229100" y="1333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Assignment history</a:t>
            </a:r>
          </a:p>
        </p:txBody>
      </p:sp>
      <p:sp>
        <p:nvSpPr>
          <p:cNvPr id="14" name="">
            <a:extLst xmlns:a="http://schemas.openxmlformats.org/drawingml/2006/main">
              <a:ext uri="{FF2B5EF4-FFF2-40B4-BE49-F238E27FC236}">
                <a16:creationId xmlns:a16="http://schemas.microsoft.com/office/drawing/2014/main" id="{B7F91C2B-6B77-44C4-8EC9-78D9DAEC4A64}"/>
              </a:ext>
            </a:extLst>
          </p:cNvPr>
          <p:cNvSpPr>
            <a:spLocks xmlns:a="http://schemas.openxmlformats.org/drawingml/2006/main" noGrp="1"/>
          </p:cNvSpPr>
          <p:nvPr/>
        </p:nvSpPr>
        <p:spPr>
          <a:xfrm xmlns:a="http://schemas.openxmlformats.org/drawingml/2006/main">
            <a:off x="4267200" y="1762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7768376-8A78-40B9-914E-B09C0E685344}"/>
              </a:ext>
            </a:extLst>
          </p:cNvPr>
          <p:cNvSpPr>
            <a:spLocks xmlns:a="http://schemas.openxmlformats.org/drawingml/2006/main" noGrp="1"/>
          </p:cNvSpPr>
          <p:nvPr/>
        </p:nvSpPr>
        <p:spPr>
          <a:xfrm xmlns:a="http://schemas.openxmlformats.org/drawingml/2006/main">
            <a:off x="4267200" y="1790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29FD6720-4B37-400A-ABE8-0DE686289484}"/>
              </a:ext>
            </a:extLst>
          </p:cNvPr>
          <p:cNvSpPr>
            <a:spLocks xmlns:a="http://schemas.openxmlformats.org/drawingml/2006/main" noGrp="1"/>
          </p:cNvSpPr>
          <p:nvPr/>
        </p:nvSpPr>
        <p:spPr>
          <a:xfrm xmlns:a="http://schemas.openxmlformats.org/drawingml/2006/main">
            <a:off x="4838700" y="1762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Start</a:t>
            </a:r>
          </a:p>
        </p:txBody>
      </p:sp>
      <p:sp>
        <p:nvSpPr>
          <p:cNvPr id="17" name="">
            <a:extLst xmlns:a="http://schemas.openxmlformats.org/drawingml/2006/main">
              <a:ext uri="{FF2B5EF4-FFF2-40B4-BE49-F238E27FC236}">
                <a16:creationId xmlns:a16="http://schemas.microsoft.com/office/drawing/2014/main" id="{14041D37-1B3F-4853-ADE1-82467838B3F8}"/>
              </a:ext>
            </a:extLst>
          </p:cNvPr>
          <p:cNvSpPr>
            <a:spLocks xmlns:a="http://schemas.openxmlformats.org/drawingml/2006/main" noGrp="1"/>
          </p:cNvSpPr>
          <p:nvPr/>
        </p:nvSpPr>
        <p:spPr>
          <a:xfrm xmlns:a="http://schemas.openxmlformats.org/drawingml/2006/main">
            <a:off x="4838700" y="2057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Record FTM + effective date + age band at start</a:t>
            </a:r>
          </a:p>
        </p:txBody>
      </p:sp>
      <p:sp>
        <p:nvSpPr>
          <p:cNvPr id="18" name="">
            <a:extLst xmlns:a="http://schemas.openxmlformats.org/drawingml/2006/main">
              <a:ext uri="{FF2B5EF4-FFF2-40B4-BE49-F238E27FC236}">
                <a16:creationId xmlns:a16="http://schemas.microsoft.com/office/drawing/2014/main" id="{69D9B863-9EF8-4E5D-B326-C8EEAC95C896}"/>
              </a:ext>
            </a:extLst>
          </p:cNvPr>
          <p:cNvSpPr>
            <a:spLocks xmlns:a="http://schemas.openxmlformats.org/drawingml/2006/main" noGrp="1"/>
          </p:cNvSpPr>
          <p:nvPr/>
        </p:nvSpPr>
        <p:spPr>
          <a:xfrm xmlns:a="http://schemas.openxmlformats.org/drawingml/2006/main">
            <a:off x="4448175" y="2152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19" name="">
            <a:extLst xmlns:a="http://schemas.openxmlformats.org/drawingml/2006/main">
              <a:ext uri="{FF2B5EF4-FFF2-40B4-BE49-F238E27FC236}">
                <a16:creationId xmlns:a16="http://schemas.microsoft.com/office/drawing/2014/main" id="{74E55938-2168-47C5-AD1C-0D0792F39673}"/>
              </a:ext>
            </a:extLst>
          </p:cNvPr>
          <p:cNvSpPr>
            <a:spLocks xmlns:a="http://schemas.openxmlformats.org/drawingml/2006/main" noGrp="1"/>
          </p:cNvSpPr>
          <p:nvPr/>
        </p:nvSpPr>
        <p:spPr>
          <a:xfrm xmlns:a="http://schemas.openxmlformats.org/drawingml/2006/main">
            <a:off x="4267200" y="2905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365503A-F38A-4878-B639-3DDA9B93F608}"/>
              </a:ext>
            </a:extLst>
          </p:cNvPr>
          <p:cNvSpPr>
            <a:spLocks xmlns:a="http://schemas.openxmlformats.org/drawingml/2006/main" noGrp="1"/>
          </p:cNvSpPr>
          <p:nvPr/>
        </p:nvSpPr>
        <p:spPr>
          <a:xfrm xmlns:a="http://schemas.openxmlformats.org/drawingml/2006/main">
            <a:off x="4267200" y="2933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1" name="">
            <a:extLst xmlns:a="http://schemas.openxmlformats.org/drawingml/2006/main">
              <a:ext uri="{FF2B5EF4-FFF2-40B4-BE49-F238E27FC236}">
                <a16:creationId xmlns:a16="http://schemas.microsoft.com/office/drawing/2014/main" id="{FB201CF9-E8CB-4C58-874C-DA81FF9BBF00}"/>
              </a:ext>
            </a:extLst>
          </p:cNvPr>
          <p:cNvSpPr>
            <a:spLocks xmlns:a="http://schemas.openxmlformats.org/drawingml/2006/main" noGrp="1"/>
          </p:cNvSpPr>
          <p:nvPr/>
        </p:nvSpPr>
        <p:spPr>
          <a:xfrm xmlns:a="http://schemas.openxmlformats.org/drawingml/2006/main">
            <a:off x="4838700" y="2905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Observe</a:t>
            </a:r>
          </a:p>
        </p:txBody>
      </p:sp>
      <p:sp>
        <p:nvSpPr>
          <p:cNvPr id="22" name="">
            <a:extLst xmlns:a="http://schemas.openxmlformats.org/drawingml/2006/main">
              <a:ext uri="{FF2B5EF4-FFF2-40B4-BE49-F238E27FC236}">
                <a16:creationId xmlns:a16="http://schemas.microsoft.com/office/drawing/2014/main" id="{8B073C25-C39A-4D7F-905C-EB4766AC2A52}"/>
              </a:ext>
            </a:extLst>
          </p:cNvPr>
          <p:cNvSpPr>
            <a:spLocks xmlns:a="http://schemas.openxmlformats.org/drawingml/2006/main" noGrp="1"/>
          </p:cNvSpPr>
          <p:nvPr/>
        </p:nvSpPr>
        <p:spPr>
          <a:xfrm xmlns:a="http://schemas.openxmlformats.org/drawingml/2006/main">
            <a:off x="4838700" y="3200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Update age band at last observation</a:t>
            </a:r>
          </a:p>
        </p:txBody>
      </p:sp>
      <p:sp>
        <p:nvSpPr>
          <p:cNvPr id="23" name="">
            <a:extLst xmlns:a="http://schemas.openxmlformats.org/drawingml/2006/main">
              <a:ext uri="{FF2B5EF4-FFF2-40B4-BE49-F238E27FC236}">
                <a16:creationId xmlns:a16="http://schemas.microsoft.com/office/drawing/2014/main" id="{44A6AB41-9F3F-43EF-967B-1D5323374475}"/>
              </a:ext>
            </a:extLst>
          </p:cNvPr>
          <p:cNvSpPr>
            <a:spLocks xmlns:a="http://schemas.openxmlformats.org/drawingml/2006/main" noGrp="1"/>
          </p:cNvSpPr>
          <p:nvPr/>
        </p:nvSpPr>
        <p:spPr>
          <a:xfrm xmlns:a="http://schemas.openxmlformats.org/drawingml/2006/main">
            <a:off x="4448175" y="3295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24" name="">
            <a:extLst xmlns:a="http://schemas.openxmlformats.org/drawingml/2006/main">
              <a:ext uri="{FF2B5EF4-FFF2-40B4-BE49-F238E27FC236}">
                <a16:creationId xmlns:a16="http://schemas.microsoft.com/office/drawing/2014/main" id="{C1BC3B21-6D41-47A4-973C-1F646E3F307F}"/>
              </a:ext>
            </a:extLst>
          </p:cNvPr>
          <p:cNvSpPr>
            <a:spLocks xmlns:a="http://schemas.openxmlformats.org/drawingml/2006/main" noGrp="1"/>
          </p:cNvSpPr>
          <p:nvPr/>
        </p:nvSpPr>
        <p:spPr>
          <a:xfrm xmlns:a="http://schemas.openxmlformats.org/drawingml/2006/main">
            <a:off x="4267200" y="4048125"/>
            <a:ext cx="361950" cy="3619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E4A9799-561C-4285-AA18-86FD2342B11C}"/>
              </a:ext>
            </a:extLst>
          </p:cNvPr>
          <p:cNvSpPr>
            <a:spLocks xmlns:a="http://schemas.openxmlformats.org/drawingml/2006/main" noGrp="1"/>
          </p:cNvSpPr>
          <p:nvPr/>
        </p:nvSpPr>
        <p:spPr>
          <a:xfrm xmlns:a="http://schemas.openxmlformats.org/drawingml/2006/main">
            <a:off x="4267200" y="4076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5CC5832D-9A0F-4FD5-A9B0-0E2A0EEFB64D}"/>
              </a:ext>
            </a:extLst>
          </p:cNvPr>
          <p:cNvSpPr>
            <a:spLocks xmlns:a="http://schemas.openxmlformats.org/drawingml/2006/main" noGrp="1"/>
          </p:cNvSpPr>
          <p:nvPr/>
        </p:nvSpPr>
        <p:spPr>
          <a:xfrm xmlns:a="http://schemas.openxmlformats.org/drawingml/2006/main">
            <a:off x="4838700" y="4048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Change</a:t>
            </a:r>
          </a:p>
        </p:txBody>
      </p:sp>
      <p:sp>
        <p:nvSpPr>
          <p:cNvPr id="27" name="">
            <a:extLst xmlns:a="http://schemas.openxmlformats.org/drawingml/2006/main">
              <a:ext uri="{FF2B5EF4-FFF2-40B4-BE49-F238E27FC236}">
                <a16:creationId xmlns:a16="http://schemas.microsoft.com/office/drawing/2014/main" id="{A2B6A003-6340-4CE3-BEDD-FBEA0F72CC6D}"/>
              </a:ext>
            </a:extLst>
          </p:cNvPr>
          <p:cNvSpPr>
            <a:spLocks xmlns:a="http://schemas.openxmlformats.org/drawingml/2006/main" noGrp="1"/>
          </p:cNvSpPr>
          <p:nvPr/>
        </p:nvSpPr>
        <p:spPr>
          <a:xfrm xmlns:a="http://schemas.openxmlformats.org/drawingml/2006/main">
            <a:off x="4838700" y="4343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Only an administrator’s FTM change closes and opens assignments</a:t>
            </a:r>
          </a:p>
        </p:txBody>
      </p:sp>
      <p:sp>
        <p:nvSpPr>
          <p:cNvPr id="28" name="">
            <a:extLst xmlns:a="http://schemas.openxmlformats.org/drawingml/2006/main">
              <a:ext uri="{FF2B5EF4-FFF2-40B4-BE49-F238E27FC236}">
                <a16:creationId xmlns:a16="http://schemas.microsoft.com/office/drawing/2014/main" id="{F2BE8F6B-F587-4E0A-AB61-A642C870BB98}"/>
              </a:ext>
            </a:extLst>
          </p:cNvPr>
          <p:cNvSpPr>
            <a:spLocks xmlns:a="http://schemas.openxmlformats.org/drawingml/2006/main" noGrp="1"/>
          </p:cNvSpPr>
          <p:nvPr/>
        </p:nvSpPr>
        <p:spPr>
          <a:xfrm xmlns:a="http://schemas.openxmlformats.org/drawingml/2006/main">
            <a:off x="8286750" y="1600200"/>
            <a:ext cx="3143250" cy="3276600"/>
          </a:xfrm>
          <a:prstGeom xmlns:a="http://schemas.openxmlformats.org/drawingml/2006/main" prst="roundRect">
            <a:avLst>
              <a:gd name="adj" fmla="val 5455"/>
            </a:avLst>
          </a:prstGeom>
          <a:solidFill xmlns:a="http://schemas.openxmlformats.org/drawingml/2006/main">
            <a:srgbClr val="0B1F3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1107F66-6831-437C-B015-82188D592986}"/>
              </a:ext>
            </a:extLst>
          </p:cNvPr>
          <p:cNvSpPr>
            <a:spLocks xmlns:a="http://schemas.openxmlformats.org/drawingml/2006/main" noGrp="1"/>
          </p:cNvSpPr>
          <p:nvPr/>
        </p:nvSpPr>
        <p:spPr>
          <a:xfrm xmlns:a="http://schemas.openxmlformats.org/drawingml/2006/main">
            <a:off x="8543925" y="1838325"/>
            <a:ext cx="2619375" cy="323850"/>
          </a:xfrm>
          <a:prstGeom xmlns:a="http://schemas.openxmlformats.org/drawingml/2006/main" prst="roundRect">
            <a:avLst>
              <a:gd name="adj" fmla="val 50000"/>
            </a:avLst>
          </a:prstGeom>
          <a:solidFill xmlns:a="http://schemas.openxmlformats.org/drawingml/2006/main">
            <a:srgbClr val="183B55"/>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TASK RESPONSIBILITY LEDGER</a:t>
            </a:r>
          </a:p>
        </p:txBody>
      </p:sp>
      <p:sp>
        <p:nvSpPr>
          <p:cNvPr id="30" name="">
            <a:extLst xmlns:a="http://schemas.openxmlformats.org/drawingml/2006/main">
              <a:ext uri="{FF2B5EF4-FFF2-40B4-BE49-F238E27FC236}">
                <a16:creationId xmlns:a16="http://schemas.microsoft.com/office/drawing/2014/main" id="{44448DB3-3187-4BCE-85C2-0A7D996B7F6B}"/>
              </a:ext>
            </a:extLst>
          </p:cNvPr>
          <p:cNvSpPr>
            <a:spLocks xmlns:a="http://schemas.openxmlformats.org/drawingml/2006/main" noGrp="1"/>
          </p:cNvSpPr>
          <p:nvPr/>
        </p:nvSpPr>
        <p:spPr>
          <a:xfrm xmlns:a="http://schemas.openxmlformats.org/drawingml/2006/main">
            <a:off x="8591550" y="2371725"/>
            <a:ext cx="2552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3000"/>
              </a:lnSpc>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Every applicable task is locked to the FTM responsible at that stage.</a:t>
            </a:r>
          </a:p>
        </p:txBody>
      </p:sp>
      <p:sp>
        <p:nvSpPr>
          <p:cNvPr id="31" name="">
            <a:extLst xmlns:a="http://schemas.openxmlformats.org/drawingml/2006/main">
              <a:ext uri="{FF2B5EF4-FFF2-40B4-BE49-F238E27FC236}">
                <a16:creationId xmlns:a16="http://schemas.microsoft.com/office/drawing/2014/main" id="{00CA89C8-EE51-4D0D-AB04-94ACED25747B}"/>
              </a:ext>
            </a:extLst>
          </p:cNvPr>
          <p:cNvSpPr>
            <a:spLocks xmlns:a="http://schemas.openxmlformats.org/drawingml/2006/main" noGrp="1"/>
          </p:cNvSpPr>
          <p:nvPr/>
        </p:nvSpPr>
        <p:spPr>
          <a:xfrm xmlns:a="http://schemas.openxmlformats.org/drawingml/2006/main">
            <a:off x="8686800" y="3286125"/>
            <a:ext cx="2362200" cy="0"/>
          </a:xfrm>
          <a:prstGeom xmlns:a="http://schemas.openxmlformats.org/drawingml/2006/main" prst="line">
            <a:avLst/>
          </a:prstGeom>
          <a:noFill xmlns:a="http://schemas.openxmlformats.org/drawingml/2006/main"/>
          <a:ln xmlns:a="http://schemas.openxmlformats.org/drawingml/2006/main" w="9525">
            <a:solidFill>
              <a:srgbClr val="527089"/>
            </a:solidFill>
            <a:prstDash val="solid"/>
          </a:ln>
        </p:spPr>
      </p:sp>
      <p:sp>
        <p:nvSpPr>
          <p:cNvPr id="32" name="">
            <a:extLst xmlns:a="http://schemas.openxmlformats.org/drawingml/2006/main">
              <a:ext uri="{FF2B5EF4-FFF2-40B4-BE49-F238E27FC236}">
                <a16:creationId xmlns:a16="http://schemas.microsoft.com/office/drawing/2014/main" id="{B94A2E8A-828C-4AB5-BAA6-4F74EA7B88EE}"/>
              </a:ext>
            </a:extLst>
          </p:cNvPr>
          <p:cNvSpPr>
            <a:spLocks xmlns:a="http://schemas.openxmlformats.org/drawingml/2006/main" noGrp="1"/>
          </p:cNvSpPr>
          <p:nvPr/>
        </p:nvSpPr>
        <p:spPr>
          <a:xfrm xmlns:a="http://schemas.openxmlformats.org/drawingml/2006/main">
            <a:off x="8829675" y="352425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Participant ID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Cohort</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IPA age band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Task</a:t>
            </a:r>
          </a:p>
        </p:txBody>
      </p:sp>
      <p:sp>
        <p:nvSpPr>
          <p:cNvPr id="33" name="">
            <a:extLst xmlns:a="http://schemas.openxmlformats.org/drawingml/2006/main">
              <a:ext uri="{FF2B5EF4-FFF2-40B4-BE49-F238E27FC236}">
                <a16:creationId xmlns:a16="http://schemas.microsoft.com/office/drawing/2014/main" id="{3499A7CA-C658-4DB5-95C0-9BA0A69ADEA5}"/>
              </a:ext>
            </a:extLst>
          </p:cNvPr>
          <p:cNvSpPr>
            <a:spLocks xmlns:a="http://schemas.openxmlformats.org/drawingml/2006/main" noGrp="1"/>
          </p:cNvSpPr>
          <p:nvPr/>
        </p:nvSpPr>
        <p:spPr>
          <a:xfrm xmlns:a="http://schemas.openxmlformats.org/drawingml/2006/main">
            <a:off x="685800" y="5362575"/>
            <a:ext cx="10744200" cy="704850"/>
          </a:xfrm>
          <a:prstGeom xmlns:a="http://schemas.openxmlformats.org/drawingml/2006/main" prst="roundRect">
            <a:avLst>
              <a:gd name="adj" fmla="val 16216"/>
            </a:avLst>
          </a:prstGeom>
          <a:solidFill xmlns:a="http://schemas.openxmlformats.org/drawingml/2006/main">
            <a:srgbClr val="E7F3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69B7984-771D-46B7-8D3A-D768006E9FC1}"/>
              </a:ext>
            </a:extLst>
          </p:cNvPr>
          <p:cNvSpPr>
            <a:spLocks xmlns:a="http://schemas.openxmlformats.org/drawingml/2006/main" noGrp="1"/>
          </p:cNvSpPr>
          <p:nvPr/>
        </p:nvSpPr>
        <p:spPr>
          <a:xfrm xmlns:a="http://schemas.openxmlformats.org/drawingml/2006/main">
            <a:off x="971550" y="5553075"/>
            <a:ext cx="1017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Age-band changes are recorded, but they do not change the FTM assignment. Only an actual manual FTM reassignment does.</a:t>
            </a:r>
          </a:p>
        </p:txBody>
      </p:sp>
    </p:spTree>
    <p:extLst>
      <p:ext uri="{BB962C8B-B14F-4D97-AF65-F5344CB8AC3E}">
        <p14:creationId xmlns:p14="http://schemas.microsoft.com/office/powerpoint/2010/main" val="673185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585EE4F-A2B1-42BF-B72F-319E1AE956B3}"/>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Each successful update becomes a point in the FTM performance trend</a:t>
            </a:r>
          </a:p>
        </p:txBody>
      </p:sp>
      <p:sp>
        <p:nvSpPr>
          <p:cNvPr id="2" name="">
            <a:extLst xmlns:a="http://schemas.openxmlformats.org/drawingml/2006/main">
              <a:ext uri="{FF2B5EF4-FFF2-40B4-BE49-F238E27FC236}">
                <a16:creationId xmlns:a16="http://schemas.microsoft.com/office/drawing/2014/main" id="{3A4D3A09-29A8-4892-BDB7-B4C4419FC052}"/>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A586F89C-BED8-49A5-80BF-E41A69FC14B7}"/>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9A395B6B-C4C8-40E0-92EB-6262C446184F}"/>
              </a:ext>
            </a:extLst>
          </p:cNvPr>
          <p:cNvSpPr>
            <a:spLocks xmlns:a="http://schemas.openxmlformats.org/drawingml/2006/main" noGrp="1"/>
          </p:cNvSpPr>
          <p:nvPr/>
        </p:nvSpPr>
        <p:spPr>
          <a:xfrm xmlns:a="http://schemas.openxmlformats.org/drawingml/2006/main">
            <a:off x="1238250" y="2381250"/>
            <a:ext cx="8858250" cy="0"/>
          </a:xfrm>
          <a:prstGeom xmlns:a="http://schemas.openxmlformats.org/drawingml/2006/main" prst="line">
            <a:avLst/>
          </a:prstGeom>
          <a:noFill xmlns:a="http://schemas.openxmlformats.org/drawingml/2006/main"/>
          <a:ln xmlns:a="http://schemas.openxmlformats.org/drawingml/2006/main" w="47625">
            <a:solidFill>
              <a:srgbClr val="D4DEE5"/>
            </a:solidFill>
            <a:prstDash val="solid"/>
          </a:ln>
        </p:spPr>
      </p:sp>
      <p:sp>
        <p:nvSpPr>
          <p:cNvPr id="5" name="">
            <a:extLst xmlns:a="http://schemas.openxmlformats.org/drawingml/2006/main">
              <a:ext uri="{FF2B5EF4-FFF2-40B4-BE49-F238E27FC236}">
                <a16:creationId xmlns:a16="http://schemas.microsoft.com/office/drawing/2014/main" id="{43E5FB82-2E6B-4108-95AF-BA5244D93E78}"/>
              </a:ext>
            </a:extLst>
          </p:cNvPr>
          <p:cNvSpPr>
            <a:spLocks xmlns:a="http://schemas.openxmlformats.org/drawingml/2006/main" noGrp="1"/>
          </p:cNvSpPr>
          <p:nvPr/>
        </p:nvSpPr>
        <p:spPr>
          <a:xfrm xmlns:a="http://schemas.openxmlformats.org/drawingml/2006/main">
            <a:off x="11430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FCC0DD-7EA1-4827-9613-CDDCB336FC00}"/>
              </a:ext>
            </a:extLst>
          </p:cNvPr>
          <p:cNvSpPr>
            <a:spLocks xmlns:a="http://schemas.openxmlformats.org/drawingml/2006/main" noGrp="1"/>
          </p:cNvSpPr>
          <p:nvPr/>
        </p:nvSpPr>
        <p:spPr>
          <a:xfrm xmlns:a="http://schemas.openxmlformats.org/drawingml/2006/main">
            <a:off x="11430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EAA86BCB-792A-4AC3-A0F2-7AB6BD8CDCAF}"/>
              </a:ext>
            </a:extLst>
          </p:cNvPr>
          <p:cNvSpPr>
            <a:spLocks xmlns:a="http://schemas.openxmlformats.org/drawingml/2006/main" noGrp="1"/>
          </p:cNvSpPr>
          <p:nvPr/>
        </p:nvSpPr>
        <p:spPr>
          <a:xfrm xmlns:a="http://schemas.openxmlformats.org/drawingml/2006/main">
            <a:off x="6667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1</a:t>
            </a:r>
          </a:p>
        </p:txBody>
      </p:sp>
      <p:sp>
        <p:nvSpPr>
          <p:cNvPr id="8" name="">
            <a:extLst xmlns:a="http://schemas.openxmlformats.org/drawingml/2006/main">
              <a:ext uri="{FF2B5EF4-FFF2-40B4-BE49-F238E27FC236}">
                <a16:creationId xmlns:a16="http://schemas.microsoft.com/office/drawing/2014/main" id="{EE4F81C8-E7CD-4120-B964-E5E6F1938934}"/>
              </a:ext>
            </a:extLst>
          </p:cNvPr>
          <p:cNvSpPr>
            <a:spLocks xmlns:a="http://schemas.openxmlformats.org/drawingml/2006/main" noGrp="1"/>
          </p:cNvSpPr>
          <p:nvPr/>
        </p:nvSpPr>
        <p:spPr>
          <a:xfrm xmlns:a="http://schemas.openxmlformats.org/drawingml/2006/main">
            <a:off x="6858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9" name="">
            <a:extLst xmlns:a="http://schemas.openxmlformats.org/drawingml/2006/main">
              <a:ext uri="{FF2B5EF4-FFF2-40B4-BE49-F238E27FC236}">
                <a16:creationId xmlns:a16="http://schemas.microsoft.com/office/drawing/2014/main" id="{82E94244-4B7F-4F6F-8B6D-541754BA3FFD}"/>
              </a:ext>
            </a:extLst>
          </p:cNvPr>
          <p:cNvSpPr>
            <a:spLocks xmlns:a="http://schemas.openxmlformats.org/drawingml/2006/main" noGrp="1"/>
          </p:cNvSpPr>
          <p:nvPr/>
        </p:nvSpPr>
        <p:spPr>
          <a:xfrm xmlns:a="http://schemas.openxmlformats.org/drawingml/2006/main">
            <a:off x="371475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A5CBA7-1B3B-4398-A74A-7075FD4769F4}"/>
              </a:ext>
            </a:extLst>
          </p:cNvPr>
          <p:cNvSpPr>
            <a:spLocks xmlns:a="http://schemas.openxmlformats.org/drawingml/2006/main" noGrp="1"/>
          </p:cNvSpPr>
          <p:nvPr/>
        </p:nvSpPr>
        <p:spPr>
          <a:xfrm xmlns:a="http://schemas.openxmlformats.org/drawingml/2006/main">
            <a:off x="37147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11E852FF-A933-45E8-85DC-99249FB60129}"/>
              </a:ext>
            </a:extLst>
          </p:cNvPr>
          <p:cNvSpPr>
            <a:spLocks xmlns:a="http://schemas.openxmlformats.org/drawingml/2006/main" noGrp="1"/>
          </p:cNvSpPr>
          <p:nvPr/>
        </p:nvSpPr>
        <p:spPr>
          <a:xfrm xmlns:a="http://schemas.openxmlformats.org/drawingml/2006/main">
            <a:off x="32385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2</a:t>
            </a:r>
          </a:p>
        </p:txBody>
      </p:sp>
      <p:sp>
        <p:nvSpPr>
          <p:cNvPr id="12" name="">
            <a:extLst xmlns:a="http://schemas.openxmlformats.org/drawingml/2006/main">
              <a:ext uri="{FF2B5EF4-FFF2-40B4-BE49-F238E27FC236}">
                <a16:creationId xmlns:a16="http://schemas.microsoft.com/office/drawing/2014/main" id="{71B69685-41C9-4601-845B-788653E270B5}"/>
              </a:ext>
            </a:extLst>
          </p:cNvPr>
          <p:cNvSpPr>
            <a:spLocks xmlns:a="http://schemas.openxmlformats.org/drawingml/2006/main" noGrp="1"/>
          </p:cNvSpPr>
          <p:nvPr/>
        </p:nvSpPr>
        <p:spPr>
          <a:xfrm xmlns:a="http://schemas.openxmlformats.org/drawingml/2006/main">
            <a:off x="32575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3" name="">
            <a:extLst xmlns:a="http://schemas.openxmlformats.org/drawingml/2006/main">
              <a:ext uri="{FF2B5EF4-FFF2-40B4-BE49-F238E27FC236}">
                <a16:creationId xmlns:a16="http://schemas.microsoft.com/office/drawing/2014/main" id="{1F92F651-3375-49A3-A1CF-4677805E8401}"/>
              </a:ext>
            </a:extLst>
          </p:cNvPr>
          <p:cNvSpPr>
            <a:spLocks xmlns:a="http://schemas.openxmlformats.org/drawingml/2006/main" noGrp="1"/>
          </p:cNvSpPr>
          <p:nvPr/>
        </p:nvSpPr>
        <p:spPr>
          <a:xfrm xmlns:a="http://schemas.openxmlformats.org/drawingml/2006/main">
            <a:off x="62865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DD7A5D-1BC4-47AA-98DB-57AED20577D3}"/>
              </a:ext>
            </a:extLst>
          </p:cNvPr>
          <p:cNvSpPr>
            <a:spLocks xmlns:a="http://schemas.openxmlformats.org/drawingml/2006/main" noGrp="1"/>
          </p:cNvSpPr>
          <p:nvPr/>
        </p:nvSpPr>
        <p:spPr>
          <a:xfrm xmlns:a="http://schemas.openxmlformats.org/drawingml/2006/main">
            <a:off x="62865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03674E26-2C6C-4F3E-B3BB-E51C7CB4285B}"/>
              </a:ext>
            </a:extLst>
          </p:cNvPr>
          <p:cNvSpPr>
            <a:spLocks xmlns:a="http://schemas.openxmlformats.org/drawingml/2006/main" noGrp="1"/>
          </p:cNvSpPr>
          <p:nvPr/>
        </p:nvSpPr>
        <p:spPr>
          <a:xfrm xmlns:a="http://schemas.openxmlformats.org/drawingml/2006/main">
            <a:off x="58102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3</a:t>
            </a:r>
          </a:p>
        </p:txBody>
      </p:sp>
      <p:sp>
        <p:nvSpPr>
          <p:cNvPr id="16" name="">
            <a:extLst xmlns:a="http://schemas.openxmlformats.org/drawingml/2006/main">
              <a:ext uri="{FF2B5EF4-FFF2-40B4-BE49-F238E27FC236}">
                <a16:creationId xmlns:a16="http://schemas.microsoft.com/office/drawing/2014/main" id="{6AB0FC08-C11C-46BD-98B2-81F353061B27}"/>
              </a:ext>
            </a:extLst>
          </p:cNvPr>
          <p:cNvSpPr>
            <a:spLocks xmlns:a="http://schemas.openxmlformats.org/drawingml/2006/main" noGrp="1"/>
          </p:cNvSpPr>
          <p:nvPr/>
        </p:nvSpPr>
        <p:spPr>
          <a:xfrm xmlns:a="http://schemas.openxmlformats.org/drawingml/2006/main">
            <a:off x="58293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7" name="">
            <a:extLst xmlns:a="http://schemas.openxmlformats.org/drawingml/2006/main">
              <a:ext uri="{FF2B5EF4-FFF2-40B4-BE49-F238E27FC236}">
                <a16:creationId xmlns:a16="http://schemas.microsoft.com/office/drawing/2014/main" id="{9857B01C-6F94-4E44-A63E-BF20C672458B}"/>
              </a:ext>
            </a:extLst>
          </p:cNvPr>
          <p:cNvSpPr>
            <a:spLocks xmlns:a="http://schemas.openxmlformats.org/drawingml/2006/main" noGrp="1"/>
          </p:cNvSpPr>
          <p:nvPr/>
        </p:nvSpPr>
        <p:spPr>
          <a:xfrm xmlns:a="http://schemas.openxmlformats.org/drawingml/2006/main">
            <a:off x="8858250" y="2152650"/>
            <a:ext cx="457200" cy="4572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1B487A5-2786-4A83-9047-641F19C29921}"/>
              </a:ext>
            </a:extLst>
          </p:cNvPr>
          <p:cNvSpPr>
            <a:spLocks xmlns:a="http://schemas.openxmlformats.org/drawingml/2006/main" noGrp="1"/>
          </p:cNvSpPr>
          <p:nvPr/>
        </p:nvSpPr>
        <p:spPr>
          <a:xfrm xmlns:a="http://schemas.openxmlformats.org/drawingml/2006/main">
            <a:off x="88582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B3A14560-0033-49D0-B7AF-CC7AB03359DF}"/>
              </a:ext>
            </a:extLst>
          </p:cNvPr>
          <p:cNvSpPr>
            <a:spLocks xmlns:a="http://schemas.openxmlformats.org/drawingml/2006/main" noGrp="1"/>
          </p:cNvSpPr>
          <p:nvPr/>
        </p:nvSpPr>
        <p:spPr>
          <a:xfrm xmlns:a="http://schemas.openxmlformats.org/drawingml/2006/main">
            <a:off x="83820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Future refreshes</a:t>
            </a:r>
          </a:p>
        </p:txBody>
      </p:sp>
      <p:sp>
        <p:nvSpPr>
          <p:cNvPr id="20" name="">
            <a:extLst xmlns:a="http://schemas.openxmlformats.org/drawingml/2006/main">
              <a:ext uri="{FF2B5EF4-FFF2-40B4-BE49-F238E27FC236}">
                <a16:creationId xmlns:a16="http://schemas.microsoft.com/office/drawing/2014/main" id="{0BBEF312-2E24-4E9F-993D-566745986259}"/>
              </a:ext>
            </a:extLst>
          </p:cNvPr>
          <p:cNvSpPr>
            <a:spLocks xmlns:a="http://schemas.openxmlformats.org/drawingml/2006/main" noGrp="1"/>
          </p:cNvSpPr>
          <p:nvPr/>
        </p:nvSpPr>
        <p:spPr>
          <a:xfrm xmlns:a="http://schemas.openxmlformats.org/drawingml/2006/main">
            <a:off x="84010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21" name="">
            <a:extLst xmlns:a="http://schemas.openxmlformats.org/drawingml/2006/main">
              <a:ext uri="{FF2B5EF4-FFF2-40B4-BE49-F238E27FC236}">
                <a16:creationId xmlns:a16="http://schemas.microsoft.com/office/drawing/2014/main" id="{2575ECB4-A5BF-4BB3-BDC8-54563CD348FF}"/>
              </a:ext>
            </a:extLst>
          </p:cNvPr>
          <p:cNvSpPr>
            <a:spLocks xmlns:a="http://schemas.openxmlformats.org/drawingml/2006/main" noGrp="1"/>
          </p:cNvSpPr>
          <p:nvPr/>
        </p:nvSpPr>
        <p:spPr>
          <a:xfrm xmlns:a="http://schemas.openxmlformats.org/drawingml/2006/main">
            <a:off x="685800" y="3943350"/>
            <a:ext cx="4991100" cy="1752600"/>
          </a:xfrm>
          <a:prstGeom xmlns:a="http://schemas.openxmlformats.org/drawingml/2006/main" prst="roundRect">
            <a:avLst>
              <a:gd name="adj" fmla="val 8696"/>
            </a:avLst>
          </a:prstGeom>
          <a:solidFill xmlns:a="http://schemas.openxmlformats.org/drawingml/2006/main">
            <a:srgbClr val="F4F7F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2B642C0-8567-4208-85E4-AECE19C6F57D}"/>
              </a:ext>
            </a:extLst>
          </p:cNvPr>
          <p:cNvSpPr>
            <a:spLocks xmlns:a="http://schemas.openxmlformats.org/drawingml/2006/main" noGrp="1"/>
          </p:cNvSpPr>
          <p:nvPr/>
        </p:nvSpPr>
        <p:spPr>
          <a:xfrm xmlns:a="http://schemas.openxmlformats.org/drawingml/2006/main">
            <a:off x="933450" y="41814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Trend filters</a:t>
            </a:r>
          </a:p>
        </p:txBody>
      </p:sp>
      <p:sp>
        <p:nvSpPr>
          <p:cNvPr id="23" name="">
            <a:extLst xmlns:a="http://schemas.openxmlformats.org/drawingml/2006/main">
              <a:ext uri="{FF2B5EF4-FFF2-40B4-BE49-F238E27FC236}">
                <a16:creationId xmlns:a16="http://schemas.microsoft.com/office/drawing/2014/main" id="{D0733A40-EA7A-496A-9CAE-B7D771473FFC}"/>
              </a:ext>
            </a:extLst>
          </p:cNvPr>
          <p:cNvSpPr>
            <a:spLocks xmlns:a="http://schemas.openxmlformats.org/drawingml/2006/main" noGrp="1"/>
          </p:cNvSpPr>
          <p:nvPr/>
        </p:nvSpPr>
        <p:spPr>
          <a:xfrm xmlns:a="http://schemas.openxmlformats.org/drawingml/2006/main">
            <a:off x="933450" y="4667250"/>
            <a:ext cx="434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FTM  •  Task  •  Age group</a:t>
            </a:r>
          </a:p>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Outcome  •  Cohort  •  FTM view</a:t>
            </a:r>
          </a:p>
        </p:txBody>
      </p:sp>
      <p:sp>
        <p:nvSpPr>
          <p:cNvPr id="24" name="">
            <a:extLst xmlns:a="http://schemas.openxmlformats.org/drawingml/2006/main">
              <a:ext uri="{FF2B5EF4-FFF2-40B4-BE49-F238E27FC236}">
                <a16:creationId xmlns:a16="http://schemas.microsoft.com/office/drawing/2014/main" id="{DF5E1A40-EBA2-4C07-96A8-991295E183C3}"/>
              </a:ext>
            </a:extLst>
          </p:cNvPr>
          <p:cNvSpPr>
            <a:spLocks xmlns:a="http://schemas.openxmlformats.org/drawingml/2006/main" noGrp="1"/>
          </p:cNvSpPr>
          <p:nvPr/>
        </p:nvSpPr>
        <p:spPr>
          <a:xfrm xmlns:a="http://schemas.openxmlformats.org/drawingml/2006/main">
            <a:off x="5962650" y="3943350"/>
            <a:ext cx="5467350" cy="1752600"/>
          </a:xfrm>
          <a:prstGeom xmlns:a="http://schemas.openxmlformats.org/drawingml/2006/main" prst="roundRect">
            <a:avLst>
              <a:gd name="adj" fmla="val 8696"/>
            </a:avLst>
          </a:prstGeom>
          <a:solidFill xmlns:a="http://schemas.openxmlformats.org/drawingml/2006/main">
            <a:srgbClr val="EDF7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F8F0A59-47C4-4EBA-A974-10ACA18A35D4}"/>
              </a:ext>
            </a:extLst>
          </p:cNvPr>
          <p:cNvSpPr>
            <a:spLocks xmlns:a="http://schemas.openxmlformats.org/drawingml/2006/main" noGrp="1"/>
          </p:cNvSpPr>
          <p:nvPr/>
        </p:nvSpPr>
        <p:spPr>
          <a:xfrm xmlns:a="http://schemas.openxmlformats.org/drawingml/2006/main">
            <a:off x="6210300" y="41814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Displayed metrics</a:t>
            </a:r>
          </a:p>
        </p:txBody>
      </p:sp>
      <p:sp>
        <p:nvSpPr>
          <p:cNvPr id="26" name="">
            <a:extLst xmlns:a="http://schemas.openxmlformats.org/drawingml/2006/main">
              <a:ext uri="{FF2B5EF4-FFF2-40B4-BE49-F238E27FC236}">
                <a16:creationId xmlns:a16="http://schemas.microsoft.com/office/drawing/2014/main" id="{DDBABB83-7B28-4AD7-9A6B-D4F93A7B2965}"/>
              </a:ext>
            </a:extLst>
          </p:cNvPr>
          <p:cNvSpPr>
            <a:spLocks xmlns:a="http://schemas.openxmlformats.org/drawingml/2006/main" noGrp="1"/>
          </p:cNvSpPr>
          <p:nvPr/>
        </p:nvSpPr>
        <p:spPr>
          <a:xfrm xmlns:a="http://schemas.openxmlformats.org/drawingml/2006/main">
            <a:off x="6210300" y="4638675"/>
            <a:ext cx="4800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Weighted progress  •  Completion rate</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Complete  •  No-show  •  Needs follow-up</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Participants  •  Task records</a:t>
            </a:r>
          </a:p>
        </p:txBody>
      </p:sp>
      <p:sp>
        <p:nvSpPr>
          <p:cNvPr id="27" name="">
            <a:extLst xmlns:a="http://schemas.openxmlformats.org/drawingml/2006/main">
              <a:ext uri="{FF2B5EF4-FFF2-40B4-BE49-F238E27FC236}">
                <a16:creationId xmlns:a16="http://schemas.microsoft.com/office/drawing/2014/main" id="{E074D95D-D2B7-42B0-B5F8-AB2B3E73AEA4}"/>
              </a:ext>
            </a:extLst>
          </p:cNvPr>
          <p:cNvSpPr>
            <a:spLocks xmlns:a="http://schemas.openxmlformats.org/drawingml/2006/main" noGrp="1"/>
          </p:cNvSpPr>
          <p:nvPr/>
        </p:nvSpPr>
        <p:spPr>
          <a:xfrm xmlns:a="http://schemas.openxmlformats.org/drawingml/2006/main">
            <a:off x="685800" y="60007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Operational result: the dashboard can show current status, any saved snapshot, and how each FTM changes over time.</a:t>
            </a:r>
          </a:p>
        </p:txBody>
      </p:sp>
    </p:spTree>
    <p:extLst>
      <p:ext uri="{BB962C8B-B14F-4D97-AF65-F5344CB8AC3E}">
        <p14:creationId xmlns:p14="http://schemas.microsoft.com/office/powerpoint/2010/main" val="7120955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2026-09-10T03:04:36.5000000Z</dcterms:created>
  <dcterms:modified xsi:type="dcterms:W3CDTF">2026-09-10T03:04:36.5000000Z</dcterms:modified>
</coreProperties>
</file>