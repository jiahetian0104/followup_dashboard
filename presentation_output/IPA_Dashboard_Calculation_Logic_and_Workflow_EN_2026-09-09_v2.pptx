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868bba1669f4c7d" /><Relationship Type="http://schemas.openxmlformats.org/officeDocument/2006/relationships/extended-properties" Target="/docProps/app.xml" Id="R1cecf468c3c64e07" /><Relationship Type="http://schemas.openxmlformats.org/officeDocument/2006/relationships/officeDocument" Target="/ppt/presentation.xml" Id="R16ee1ae3bca648ad" /></Relationships>
</file>

<file path=ppt/presentation.xml><?xml version="1.0" encoding="utf-8"?>
<p:presentation xmlns:p="http://schemas.openxmlformats.org/presentationml/2006/main">
  <p:sldMasterIdLst>
    <p:sldMasterId xmlns:r="http://schemas.openxmlformats.org/officeDocument/2006/relationships" id="2147483648" r:id="R9415203f015a49b2"/>
  </p:sldMasterIdLst>
  <p:notesMasterIdLst>
    <p:notesMasterId xmlns:r="http://schemas.openxmlformats.org/officeDocument/2006/relationships" r:id="R256d8400714746c0"/>
  </p:notesMasterIdLst>
  <p:sldIdLst>
    <p:sldId xmlns:r="http://schemas.openxmlformats.org/officeDocument/2006/relationships" id="256" r:id="R9bb50b4085484f3d"/>
    <p:sldId xmlns:r="http://schemas.openxmlformats.org/officeDocument/2006/relationships" id="257" r:id="R2244f5b1c5c84162"/>
    <p:sldId xmlns:r="http://schemas.openxmlformats.org/officeDocument/2006/relationships" id="258" r:id="Rb374eeda51f646e4"/>
    <p:sldId xmlns:r="http://schemas.openxmlformats.org/officeDocument/2006/relationships" id="259" r:id="R47c4843ba9c24e5d"/>
    <p:sldId xmlns:r="http://schemas.openxmlformats.org/officeDocument/2006/relationships" id="260" r:id="R40994fb7fc3043f7"/>
    <p:sldId xmlns:r="http://schemas.openxmlformats.org/officeDocument/2006/relationships" id="261" r:id="Rc239ab5d43f644cf"/>
    <p:sldId xmlns:r="http://schemas.openxmlformats.org/officeDocument/2006/relationships" id="262" r:id="R25506603ae49450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2b10d54eb894156" /><Relationship Type="http://schemas.openxmlformats.org/officeDocument/2006/relationships/slideMaster" Target="/ppt/slideMasters/slideMaster1.xml" Id="R9415203f015a49b2" /><Relationship Type="http://schemas.openxmlformats.org/officeDocument/2006/relationships/notesMaster" Target="/ppt/notesMasters/notesMaster1.xml" Id="R256d8400714746c0" /><Relationship Type="http://schemas.openxmlformats.org/officeDocument/2006/relationships/presProps" Target="/ppt/presProps.xml" Id="Rdf901fd2b218483b" /><Relationship Type="http://schemas.openxmlformats.org/officeDocument/2006/relationships/tableStyles" Target="/ppt/tableStyles.xml" Id="R4c7e4336fa1448bc" /><Relationship Type="http://schemas.openxmlformats.org/officeDocument/2006/relationships/slide" Target="/ppt/slides/slide1.xml" Id="R9bb50b4085484f3d" /><Relationship Type="http://schemas.openxmlformats.org/officeDocument/2006/relationships/slide" Target="/ppt/slides/slide2.xml" Id="R2244f5b1c5c84162" /><Relationship Type="http://schemas.openxmlformats.org/officeDocument/2006/relationships/slide" Target="/ppt/slides/slide3.xml" Id="Rb374eeda51f646e4" /><Relationship Type="http://schemas.openxmlformats.org/officeDocument/2006/relationships/slide" Target="/ppt/slides/slide4.xml" Id="R47c4843ba9c24e5d" /><Relationship Type="http://schemas.openxmlformats.org/officeDocument/2006/relationships/slide" Target="/ppt/slides/slide5.xml" Id="R40994fb7fc3043f7" /><Relationship Type="http://schemas.openxmlformats.org/officeDocument/2006/relationships/slide" Target="/ppt/slides/slide6.xml" Id="Rc239ab5d43f644cf" /><Relationship Type="http://schemas.openxmlformats.org/officeDocument/2006/relationships/slide" Target="/ppt/slides/slide7.xml" Id="R25506603ae49450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3979324fb8c479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361d025bd16486e" /><Relationship Type="http://schemas.openxmlformats.org/officeDocument/2006/relationships/notesMaster" Target="/ppt/notesMasters/notesMaster1.xml" Id="R1d978dca02904fd5" /></Relationships>
</file>

<file path=ppt/notesSlides/_rels/notesSlide2.xml.rels>&#65279;<?xml version="1.0" encoding="utf-8"?><Relationships xmlns="http://schemas.openxmlformats.org/package/2006/relationships"><Relationship Type="http://schemas.openxmlformats.org/officeDocument/2006/relationships/slide" Target="/ppt/slides/slide2.xml" Id="Ra7943052ec4046fa" /><Relationship Type="http://schemas.openxmlformats.org/officeDocument/2006/relationships/notesMaster" Target="/ppt/notesMasters/notesMaster1.xml" Id="Red1d66fe92354aa1" /></Relationships>
</file>

<file path=ppt/notesSlides/_rels/notesSlide3.xml.rels>&#65279;<?xml version="1.0" encoding="utf-8"?><Relationships xmlns="http://schemas.openxmlformats.org/package/2006/relationships"><Relationship Type="http://schemas.openxmlformats.org/officeDocument/2006/relationships/slide" Target="/ppt/slides/slide3.xml" Id="R5529c7c24f4943ec" /><Relationship Type="http://schemas.openxmlformats.org/officeDocument/2006/relationships/notesMaster" Target="/ppt/notesMasters/notesMaster1.xml" Id="R33bee0bf9cc14042" /></Relationships>
</file>

<file path=ppt/notesSlides/_rels/notesSlide4.xml.rels>&#65279;<?xml version="1.0" encoding="utf-8"?><Relationships xmlns="http://schemas.openxmlformats.org/package/2006/relationships"><Relationship Type="http://schemas.openxmlformats.org/officeDocument/2006/relationships/slide" Target="/ppt/slides/slide4.xml" Id="Rb61bdd3035f94172" /><Relationship Type="http://schemas.openxmlformats.org/officeDocument/2006/relationships/notesMaster" Target="/ppt/notesMasters/notesMaster1.xml" Id="Reb643f028abb4b0b" /></Relationships>
</file>

<file path=ppt/notesSlides/_rels/notesSlide5.xml.rels>&#65279;<?xml version="1.0" encoding="utf-8"?><Relationships xmlns="http://schemas.openxmlformats.org/package/2006/relationships"><Relationship Type="http://schemas.openxmlformats.org/officeDocument/2006/relationships/slide" Target="/ppt/slides/slide5.xml" Id="R63af8d89d0704a53" /><Relationship Type="http://schemas.openxmlformats.org/officeDocument/2006/relationships/notesMaster" Target="/ppt/notesMasters/notesMaster1.xml" Id="Ra2360cd62c0d48d0" /></Relationships>
</file>

<file path=ppt/notesSlides/_rels/notesSlide6.xml.rels>&#65279;<?xml version="1.0" encoding="utf-8"?><Relationships xmlns="http://schemas.openxmlformats.org/package/2006/relationships"><Relationship Type="http://schemas.openxmlformats.org/officeDocument/2006/relationships/slide" Target="/ppt/slides/slide6.xml" Id="R6cddbdc7077a4dd9" /><Relationship Type="http://schemas.openxmlformats.org/officeDocument/2006/relationships/notesMaster" Target="/ppt/notesMasters/notesMaster1.xml" Id="Re20f8c6e35594e8e" /></Relationships>
</file>

<file path=ppt/notesSlides/_rels/notesSlide7.xml.rels>&#65279;<?xml version="1.0" encoding="utf-8"?><Relationships xmlns="http://schemas.openxmlformats.org/package/2006/relationships"><Relationship Type="http://schemas.openxmlformats.org/officeDocument/2006/relationships/slide" Target="/ppt/slides/slide7.xml" Id="Ra62aff69e6a64c17" /><Relationship Type="http://schemas.openxmlformats.org/officeDocument/2006/relationships/notesMaster" Target="/ppt/notesMasters/notesMaster1.xml" Id="Rbd9addc8a5c8435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explain the current IPA dashboard calculation logic and the repeatable update process. Sources: local Ripple exports, Calendly exports, call lists, and CHARM cohort crosswalk.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dashboard supports two complementary views: locked task responsibility for fair credit and current caseload for day-to-day follow-up.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Crosswalk path is built from BASE_PATH: Data/Miscellaneous/Global Crosswalk/CHARM_Cohort_List.xlsx. Mother custom IDs are supporting evidence only and never override child-name verification.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Rule: retain the latest Calendly record for each participant-age-band pair. A previous no-show does not override a later completed IPA.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 record remains NA in the detailed raw score field, but contributes zero when calculating weighted progress over applicable tasks.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task states—including Complete, No-Show, Incomplete, and No record—remain credited to the FTM responsible for that age-band task. Future assignments receive credit only for work in their own responsible period/stage.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snapshot is written after every successful update using the actual refresh timestamp. Failed or incomplete snapshot folders are ignored. The dashboard supports Latest, historical snapshot selection, and filtered FTM trend views.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668035573c049d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fa63b0abb3c42a6" /><Relationship Type="http://schemas.openxmlformats.org/officeDocument/2006/relationships/slideLayout" Target="/ppt/slideLayouts/slideLayout1.xml" Id="R7ee794809a574d1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ee794809a574d1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ff1f7ab47e64394" /><Relationship Type="http://schemas.openxmlformats.org/officeDocument/2006/relationships/notesSlide" Target="/ppt/notesSlides/notesSlide1.xml" Id="R04daf2d11500471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b8e6125ff784eb4" /><Relationship Type="http://schemas.openxmlformats.org/officeDocument/2006/relationships/notesSlide" Target="/ppt/notesSlides/notesSlide2.xml" Id="Rcb6cc92f4ebe41f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f8c769a215242ac" /><Relationship Type="http://schemas.openxmlformats.org/officeDocument/2006/relationships/notesSlide" Target="/ppt/notesSlides/notesSlide3.xml" Id="R7414de2e50d04db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e128dedc29e4adc" /><Relationship Type="http://schemas.openxmlformats.org/officeDocument/2006/relationships/notesSlide" Target="/ppt/notesSlides/notesSlide4.xml" Id="R9322e4594bfc4c7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0bd493bcd8442a4" /><Relationship Type="http://schemas.openxmlformats.org/officeDocument/2006/relationships/notesSlide" Target="/ppt/notesSlides/notesSlide5.xml" Id="R63a7f99ac0e547f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a7ac0b956b242d8" /><Relationship Type="http://schemas.openxmlformats.org/officeDocument/2006/relationships/notesSlide" Target="/ppt/notesSlides/notesSlide6.xml" Id="Recaa1795329944f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5c8604c0f5848f6" /><Relationship Type="http://schemas.openxmlformats.org/officeDocument/2006/relationships/notesSlide" Target="/ppt/notesSlides/notesSlide7.xml" Id="Rb6ee9c84b7e54ae3" /></Relationships>
</file>

<file path=ppt/slides/slide1.xml><?xml version="1.0" encoding="utf-8"?>
<p:sld xmlns:p="http://schemas.openxmlformats.org/presentationml/2006/main">
  <p:cSld>
    <p:bg>
      <p:bgPr>
        <a:solidFill xmlns:a="http://schemas.openxmlformats.org/drawingml/2006/main">
          <a:srgbClr val="0B1F33"/>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439C0F4-0130-44D7-BDC5-2B563A8CA9C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B1F33"/>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6481A53-06DA-4FB8-8036-358BEE9286A8}"/>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78C8C"/>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802FB936-A93B-40FC-9351-C6B59D9CA5CD}"/>
              </a:ext>
            </a:extLst>
          </p:cNvPr>
          <p:cNvSpPr>
            <a:spLocks xmlns:a="http://schemas.openxmlformats.org/drawingml/2006/main" noGrp="1"/>
          </p:cNvSpPr>
          <p:nvPr/>
        </p:nvSpPr>
        <p:spPr>
          <a:xfrm xmlns:a="http://schemas.openxmlformats.org/drawingml/2006/main">
            <a:off x="8343900" y="0"/>
            <a:ext cx="3848100" cy="6858000"/>
          </a:xfrm>
          <a:prstGeom xmlns:a="http://schemas.openxmlformats.org/drawingml/2006/main" prst="rect">
            <a:avLst/>
          </a:prstGeom>
          <a:solidFill xmlns:a="http://schemas.openxmlformats.org/drawingml/2006/main">
            <a:srgbClr val="102B43"/>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1177CC58-EFA2-49BE-8379-ECEF59B3B82E}"/>
              </a:ext>
            </a:extLst>
          </p:cNvPr>
          <p:cNvSpPr>
            <a:spLocks xmlns:a="http://schemas.openxmlformats.org/drawingml/2006/main" noGrp="1"/>
          </p:cNvSpPr>
          <p:nvPr/>
        </p:nvSpPr>
        <p:spPr>
          <a:xfrm xmlns:a="http://schemas.openxmlformats.org/drawingml/2006/main">
            <a:off x="8934450" y="971550"/>
            <a:ext cx="2266950" cy="2266950"/>
          </a:xfrm>
          <a:prstGeom xmlns:a="http://schemas.openxmlformats.org/drawingml/2006/main" prst="roundRect">
            <a:avLst>
              <a:gd name="adj" fmla="val 50000"/>
            </a:avLst>
          </a:prstGeom>
          <a:solidFill xmlns:a="http://schemas.openxmlformats.org/drawingml/2006/main">
            <a:srgbClr val="178C8C"/>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42FE57E1-997D-4F4A-A43F-4B9F22C53C9C}"/>
              </a:ext>
            </a:extLst>
          </p:cNvPr>
          <p:cNvSpPr>
            <a:spLocks xmlns:a="http://schemas.openxmlformats.org/drawingml/2006/main" noGrp="1"/>
          </p:cNvSpPr>
          <p:nvPr/>
        </p:nvSpPr>
        <p:spPr>
          <a:xfrm xmlns:a="http://schemas.openxmlformats.org/drawingml/2006/main">
            <a:off x="9534525" y="1571625"/>
            <a:ext cx="1066800" cy="1066800"/>
          </a:xfrm>
          <a:prstGeom xmlns:a="http://schemas.openxmlformats.org/drawingml/2006/main" prst="roundRect">
            <a:avLst>
              <a:gd name="adj" fmla="val 50000"/>
            </a:avLst>
          </a:prstGeom>
          <a:solidFill xmlns:a="http://schemas.openxmlformats.org/drawingml/2006/main">
            <a:srgbClr val="0B1F33"/>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0460299D-129B-4E6F-84F6-BA6A82E3A617}"/>
              </a:ext>
            </a:extLst>
          </p:cNvPr>
          <p:cNvSpPr>
            <a:spLocks xmlns:a="http://schemas.openxmlformats.org/drawingml/2006/main" noGrp="1"/>
          </p:cNvSpPr>
          <p:nvPr/>
        </p:nvSpPr>
        <p:spPr>
          <a:xfrm xmlns:a="http://schemas.openxmlformats.org/drawingml/2006/main">
            <a:off x="8715375" y="3867150"/>
            <a:ext cx="2619375" cy="0"/>
          </a:xfrm>
          <a:prstGeom xmlns:a="http://schemas.openxmlformats.org/drawingml/2006/main" prst="line">
            <a:avLst/>
          </a:prstGeom>
          <a:noFill xmlns:a="http://schemas.openxmlformats.org/drawingml/2006/main"/>
          <a:ln xmlns:a="http://schemas.openxmlformats.org/drawingml/2006/main" w="38100">
            <a:solidFill>
              <a:srgbClr val="F2C14E"/>
            </a:solidFill>
            <a:prstDash val="solid"/>
          </a:ln>
        </p:spPr>
      </p:sp>
      <p:sp>
        <p:nvSpPr>
          <p:cNvPr id="7" name="">
            <a:extLst xmlns:a="http://schemas.openxmlformats.org/drawingml/2006/main">
              <a:ext uri="{FF2B5EF4-FFF2-40B4-BE49-F238E27FC236}">
                <a16:creationId xmlns:a16="http://schemas.microsoft.com/office/drawing/2014/main" id="{A22706EA-FD7F-49BE-B1FC-84B32F16970E}"/>
              </a:ext>
            </a:extLst>
          </p:cNvPr>
          <p:cNvSpPr>
            <a:spLocks xmlns:a="http://schemas.openxmlformats.org/drawingml/2006/main" noGrp="1"/>
          </p:cNvSpPr>
          <p:nvPr/>
        </p:nvSpPr>
        <p:spPr>
          <a:xfrm xmlns:a="http://schemas.openxmlformats.org/drawingml/2006/main">
            <a:off x="742950" y="1714500"/>
            <a:ext cx="6953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3900" b="1">
                <a:solidFill>
                  <a:srgbClr val="FFFFFF"/>
                </a:solidFill>
                <a:latin typeface="Helvetica Neue"/>
                <a:ea typeface="Helvetica Neue"/>
                <a:cs typeface="Helvetica Neue"/>
              </a:defRPr>
            </a:pPr>
            <a:r>
              <a:rPr sz="3900" b="1">
                <a:solidFill>
                  <a:srgbClr val="FFFFFF"/>
                </a:solidFill>
                <a:latin typeface="Helvetica Neue"/>
                <a:ea typeface="Helvetica Neue"/>
                <a:cs typeface="Helvetica Neue"/>
              </a:rPr>
              <a:t>CHARM IPA Dashboard</a:t>
            </a:r>
          </a:p>
        </p:txBody>
      </p:sp>
      <p:sp>
        <p:nvSpPr>
          <p:cNvPr id="8" name="">
            <a:extLst xmlns:a="http://schemas.openxmlformats.org/drawingml/2006/main">
              <a:ext uri="{FF2B5EF4-FFF2-40B4-BE49-F238E27FC236}">
                <a16:creationId xmlns:a16="http://schemas.microsoft.com/office/drawing/2014/main" id="{612830F1-BB7E-49D6-BAF3-C0B1CCBCEED3}"/>
              </a:ext>
            </a:extLst>
          </p:cNvPr>
          <p:cNvSpPr>
            <a:spLocks xmlns:a="http://schemas.openxmlformats.org/drawingml/2006/main" noGrp="1"/>
          </p:cNvSpPr>
          <p:nvPr/>
        </p:nvSpPr>
        <p:spPr>
          <a:xfrm xmlns:a="http://schemas.openxmlformats.org/drawingml/2006/main">
            <a:off x="762000" y="2600325"/>
            <a:ext cx="6667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325" b="0">
                <a:solidFill>
                  <a:srgbClr val="C8D7E3"/>
                </a:solidFill>
                <a:latin typeface="Helvetica Neue"/>
                <a:ea typeface="Helvetica Neue"/>
                <a:cs typeface="Helvetica Neue"/>
              </a:defRPr>
            </a:pPr>
            <a:r>
              <a:rPr sz="2325" b="0">
                <a:solidFill>
                  <a:srgbClr val="C8D7E3"/>
                </a:solidFill>
                <a:latin typeface="Helvetica Neue"/>
                <a:ea typeface="Helvetica Neue"/>
                <a:cs typeface="Helvetica Neue"/>
              </a:rPr>
              <a:t>Calculation Logic &amp; Update Workflow</a:t>
            </a:r>
          </a:p>
        </p:txBody>
      </p:sp>
      <p:sp>
        <p:nvSpPr>
          <p:cNvPr id="9" name="">
            <a:extLst xmlns:a="http://schemas.openxmlformats.org/drawingml/2006/main">
              <a:ext uri="{FF2B5EF4-FFF2-40B4-BE49-F238E27FC236}">
                <a16:creationId xmlns:a16="http://schemas.microsoft.com/office/drawing/2014/main" id="{34C06E81-3FB9-47C6-A4F8-C984FCABD211}"/>
              </a:ext>
            </a:extLst>
          </p:cNvPr>
          <p:cNvSpPr>
            <a:spLocks xmlns:a="http://schemas.openxmlformats.org/drawingml/2006/main" noGrp="1"/>
          </p:cNvSpPr>
          <p:nvPr/>
        </p:nvSpPr>
        <p:spPr>
          <a:xfrm xmlns:a="http://schemas.openxmlformats.org/drawingml/2006/main">
            <a:off x="762000" y="3409950"/>
            <a:ext cx="666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1575" b="0">
                <a:solidFill>
                  <a:srgbClr val="FFFFFF"/>
                </a:solidFill>
                <a:latin typeface="Helvetica Neue"/>
                <a:ea typeface="Helvetica Neue"/>
                <a:cs typeface="Helvetica Neue"/>
              </a:defRPr>
            </a:pPr>
            <a:r>
              <a:rPr sz="1575" b="0">
                <a:solidFill>
                  <a:srgbClr val="FFFFFF"/>
                </a:solidFill>
                <a:latin typeface="Helvetica Neue"/>
                <a:ea typeface="Helvetica Neue"/>
                <a:cs typeface="Helvetica Neue"/>
              </a:rPr>
              <a:t>From Calendly and Ripple records to fair, time-based FTM performance tracking</a:t>
            </a:r>
          </a:p>
        </p:txBody>
      </p:sp>
      <p:sp>
        <p:nvSpPr>
          <p:cNvPr id="10" name="">
            <a:extLst xmlns:a="http://schemas.openxmlformats.org/drawingml/2006/main">
              <a:ext uri="{FF2B5EF4-FFF2-40B4-BE49-F238E27FC236}">
                <a16:creationId xmlns:a16="http://schemas.microsoft.com/office/drawing/2014/main" id="{3BCF819E-832A-4D3D-8431-766E8D765076}"/>
              </a:ext>
            </a:extLst>
          </p:cNvPr>
          <p:cNvSpPr>
            <a:spLocks xmlns:a="http://schemas.openxmlformats.org/drawingml/2006/main" noGrp="1"/>
          </p:cNvSpPr>
          <p:nvPr/>
        </p:nvSpPr>
        <p:spPr>
          <a:xfrm xmlns:a="http://schemas.openxmlformats.org/drawingml/2006/main">
            <a:off x="762000" y="5905500"/>
            <a:ext cx="571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200" b="0">
                <a:solidFill>
                  <a:srgbClr val="9FB2C1"/>
                </a:solidFill>
                <a:latin typeface="Helvetica Neue"/>
                <a:ea typeface="Helvetica Neue"/>
                <a:cs typeface="Helvetica Neue"/>
              </a:defRPr>
            </a:pPr>
            <a:r>
              <a:rPr sz="1200" b="0">
                <a:solidFill>
                  <a:srgbClr val="9FB2C1"/>
                </a:solidFill>
                <a:latin typeface="Helvetica Neue"/>
                <a:ea typeface="Helvetica Neue"/>
                <a:cs typeface="Helvetica Neue"/>
              </a:rPr>
              <a:t>Internal methods brief  |  September 2026</a:t>
            </a:r>
          </a:p>
        </p:txBody>
      </p:sp>
    </p:spTree>
    <p:extLst>
      <p:ext uri="{BB962C8B-B14F-4D97-AF65-F5344CB8AC3E}">
        <p14:creationId xmlns:p14="http://schemas.microsoft.com/office/powerpoint/2010/main" val="1571913832"/>
      </p:ext>
    </p:extLst>
  </p:cSld>
</p:sld>
</file>

<file path=ppt/slides/slide2.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139D1E27-D885-4556-AE49-4F4490F518BB}"/>
              </a:ext>
            </a:extLst>
          </p:cNvPr>
          <p:cNvSpPr>
            <a:spLocks xmlns:a="http://schemas.openxmlformats.org/drawingml/2006/main" noGrp="1"/>
          </p:cNvSpPr>
          <p:nvPr/>
        </p:nvSpPr>
        <p:spPr>
          <a:xfrm xmlns:a="http://schemas.openxmlformats.org/drawingml/2006/main">
            <a:off x="609600" y="400050"/>
            <a:ext cx="1028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700" b="1">
                <a:solidFill>
                  <a:srgbClr val="0B1F33"/>
                </a:solidFill>
                <a:latin typeface="Helvetica Neue"/>
                <a:ea typeface="Helvetica Neue"/>
                <a:cs typeface="Helvetica Neue"/>
              </a:defRPr>
            </a:pPr>
            <a:r>
              <a:rPr sz="2700" b="1">
                <a:solidFill>
                  <a:srgbClr val="0B1F33"/>
                </a:solidFill>
                <a:latin typeface="Helvetica Neue"/>
                <a:ea typeface="Helvetica Neue"/>
                <a:cs typeface="Helvetica Neue"/>
              </a:rPr>
              <a:t>One refresh turns four sources into two dashboard views</a:t>
            </a:r>
          </a:p>
        </p:txBody>
      </p:sp>
      <p:sp>
        <p:nvSpPr>
          <p:cNvPr id="2" name="">
            <a:extLst xmlns:a="http://schemas.openxmlformats.org/drawingml/2006/main">
              <a:ext uri="{FF2B5EF4-FFF2-40B4-BE49-F238E27FC236}">
                <a16:creationId xmlns:a16="http://schemas.microsoft.com/office/drawing/2014/main" id="{FA413141-006E-47EC-BC03-0392A3C0E83E}"/>
              </a:ext>
            </a:extLst>
          </p:cNvPr>
          <p:cNvSpPr>
            <a:spLocks xmlns:a="http://schemas.openxmlformats.org/drawingml/2006/main" noGrp="1"/>
          </p:cNvSpPr>
          <p:nvPr/>
        </p:nvSpPr>
        <p:spPr>
          <a:xfrm xmlns:a="http://schemas.openxmlformats.org/drawingml/2006/main">
            <a:off x="11144250" y="4572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200" b="1">
                <a:solidFill>
                  <a:srgbClr val="178C8C"/>
                </a:solidFill>
                <a:latin typeface="Helvetica Neue"/>
                <a:ea typeface="Helvetica Neue"/>
                <a:cs typeface="Helvetica Neue"/>
              </a:defRPr>
            </a:pPr>
            <a:r>
              <a:rPr sz="1200" b="1">
                <a:solidFill>
                  <a:srgbClr val="178C8C"/>
                </a:solidFill>
                <a:latin typeface="Helvetica Neue"/>
                <a:ea typeface="Helvetica Neue"/>
                <a:cs typeface="Helvetica Neue"/>
              </a:rPr>
              <a:t>02</a:t>
            </a:r>
          </a:p>
        </p:txBody>
      </p:sp>
      <p:sp>
        <p:nvSpPr>
          <p:cNvPr id="3" name="">
            <a:extLst xmlns:a="http://schemas.openxmlformats.org/drawingml/2006/main">
              <a:ext uri="{FF2B5EF4-FFF2-40B4-BE49-F238E27FC236}">
                <a16:creationId xmlns:a16="http://schemas.microsoft.com/office/drawing/2014/main" id="{976D8DB9-9CCF-412B-895E-B365F1075EC6}"/>
              </a:ext>
            </a:extLst>
          </p:cNvPr>
          <p:cNvSpPr>
            <a:spLocks xmlns:a="http://schemas.openxmlformats.org/drawingml/2006/main" noGrp="1"/>
          </p:cNvSpPr>
          <p:nvPr/>
        </p:nvSpPr>
        <p:spPr>
          <a:xfrm xmlns:a="http://schemas.openxmlformats.org/drawingml/2006/main">
            <a:off x="609600" y="1009650"/>
            <a:ext cx="10972800" cy="0"/>
          </a:xfrm>
          <a:prstGeom xmlns:a="http://schemas.openxmlformats.org/drawingml/2006/main" prst="line">
            <a:avLst/>
          </a:prstGeom>
          <a:noFill xmlns:a="http://schemas.openxmlformats.org/drawingml/2006/main"/>
          <a:ln xmlns:a="http://schemas.openxmlformats.org/drawingml/2006/main" w="9525">
            <a:solidFill>
              <a:srgbClr val="D4DEE5"/>
            </a:solidFill>
            <a:prstDash val="solid"/>
          </a:ln>
        </p:spPr>
      </p:sp>
      <p:sp>
        <p:nvSpPr>
          <p:cNvPr id="4" name="">
            <a:extLst xmlns:a="http://schemas.openxmlformats.org/drawingml/2006/main">
              <a:ext uri="{FF2B5EF4-FFF2-40B4-BE49-F238E27FC236}">
                <a16:creationId xmlns:a16="http://schemas.microsoft.com/office/drawing/2014/main" id="{0D17BE00-D108-4E34-8ECB-8DB7239D80C7}"/>
              </a:ext>
            </a:extLst>
          </p:cNvPr>
          <p:cNvSpPr>
            <a:spLocks xmlns:a="http://schemas.openxmlformats.org/drawingml/2006/main" noGrp="1"/>
          </p:cNvSpPr>
          <p:nvPr/>
        </p:nvSpPr>
        <p:spPr>
          <a:xfrm xmlns:a="http://schemas.openxmlformats.org/drawingml/2006/main">
            <a:off x="666750" y="1752600"/>
            <a:ext cx="1952625" cy="3105150"/>
          </a:xfrm>
          <a:prstGeom xmlns:a="http://schemas.openxmlformats.org/drawingml/2006/main" prst="roundRect">
            <a:avLst>
              <a:gd name="adj" fmla="val 7805"/>
            </a:avLst>
          </a:prstGeom>
          <a:solidFill xmlns:a="http://schemas.openxmlformats.org/drawingml/2006/main">
            <a:srgbClr val="FFFFFF"/>
          </a:solidFill>
          <a:ln xmlns:a="http://schemas.openxmlformats.org/drawingml/2006/main" w="9525">
            <a:solidFill>
              <a:srgbClr val="D4DEE5"/>
            </a:solidFill>
            <a:prstDash val="solid"/>
          </a:ln>
        </p:spPr>
      </p:sp>
      <p:sp>
        <p:nvSpPr>
          <p:cNvPr id="5" name="">
            <a:extLst xmlns:a="http://schemas.openxmlformats.org/drawingml/2006/main">
              <a:ext uri="{FF2B5EF4-FFF2-40B4-BE49-F238E27FC236}">
                <a16:creationId xmlns:a16="http://schemas.microsoft.com/office/drawing/2014/main" id="{B87015C1-167A-4AEF-A33D-CF6ED520A2DF}"/>
              </a:ext>
            </a:extLst>
          </p:cNvPr>
          <p:cNvSpPr>
            <a:spLocks xmlns:a="http://schemas.openxmlformats.org/drawingml/2006/main" noGrp="1"/>
          </p:cNvSpPr>
          <p:nvPr/>
        </p:nvSpPr>
        <p:spPr>
          <a:xfrm xmlns:a="http://schemas.openxmlformats.org/drawingml/2006/main">
            <a:off x="666750" y="1752600"/>
            <a:ext cx="1952625" cy="95250"/>
          </a:xfrm>
          <a:prstGeom xmlns:a="http://schemas.openxmlformats.org/drawingml/2006/main" prst="roundRect">
            <a:avLst>
              <a:gd name="adj" fmla="val 50000"/>
            </a:avLst>
          </a:prstGeom>
          <a:solidFill xmlns:a="http://schemas.openxmlformats.org/drawingml/2006/main">
            <a:srgbClr val="178C8C"/>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7D05FCD9-55A0-4705-9AE6-3C22CCE280BA}"/>
              </a:ext>
            </a:extLst>
          </p:cNvPr>
          <p:cNvSpPr>
            <a:spLocks xmlns:a="http://schemas.openxmlformats.org/drawingml/2006/main" noGrp="1"/>
          </p:cNvSpPr>
          <p:nvPr/>
        </p:nvSpPr>
        <p:spPr>
          <a:xfrm xmlns:a="http://schemas.openxmlformats.org/drawingml/2006/main">
            <a:off x="857250" y="2057400"/>
            <a:ext cx="1571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650" b="1">
                <a:solidFill>
                  <a:srgbClr val="0B1F33"/>
                </a:solidFill>
                <a:latin typeface="Helvetica Neue"/>
                <a:ea typeface="Helvetica Neue"/>
                <a:cs typeface="Helvetica Neue"/>
              </a:defRPr>
            </a:pPr>
            <a:r>
              <a:rPr sz="1650" b="1">
                <a:solidFill>
                  <a:srgbClr val="0B1F33"/>
                </a:solidFill>
                <a:latin typeface="Helvetica Neue"/>
                <a:ea typeface="Helvetica Neue"/>
                <a:cs typeface="Helvetica Neue"/>
              </a:rPr>
              <a:t>1  Ingest</a:t>
            </a:r>
          </a:p>
        </p:txBody>
      </p:sp>
      <p:sp>
        <p:nvSpPr>
          <p:cNvPr id="7" name="">
            <a:extLst xmlns:a="http://schemas.openxmlformats.org/drawingml/2006/main">
              <a:ext uri="{FF2B5EF4-FFF2-40B4-BE49-F238E27FC236}">
                <a16:creationId xmlns:a16="http://schemas.microsoft.com/office/drawing/2014/main" id="{6FEBA4A8-A253-45A2-B254-5BD97FEA49E3}"/>
              </a:ext>
            </a:extLst>
          </p:cNvPr>
          <p:cNvSpPr>
            <a:spLocks xmlns:a="http://schemas.openxmlformats.org/drawingml/2006/main" noGrp="1"/>
          </p:cNvSpPr>
          <p:nvPr/>
        </p:nvSpPr>
        <p:spPr>
          <a:xfrm xmlns:a="http://schemas.openxmlformats.org/drawingml/2006/main">
            <a:off x="857250" y="2619375"/>
            <a:ext cx="1571625"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350" b="0">
                <a:solidFill>
                  <a:srgbClr val="5E6C78"/>
                </a:solidFill>
                <a:latin typeface="Helvetica Neue"/>
                <a:ea typeface="Helvetica Neue"/>
                <a:cs typeface="Helvetica Neue"/>
              </a:defRPr>
            </a:pPr>
            <a:r>
              <a:rPr sz="1350" b="0">
                <a:solidFill>
                  <a:srgbClr val="5E6C78"/>
                </a:solidFill>
                <a:latin typeface="Helvetica Neue"/>
                <a:ea typeface="Helvetica Neue"/>
                <a:cs typeface="Helvetica Neue"/>
              </a:rPr>
              <a:t>Ripple exports</a:t>
            </a:r>
          </a:p>
          <a:p xmlns:a="http://schemas.openxmlformats.org/drawingml/2006/main">
            <a:pPr algn="l">
              <a:lnSpc>
                <a:spcPct val="115000"/>
              </a:lnSpc>
              <a:buNone/>
              <a:defRPr sz="1350" b="0">
                <a:solidFill>
                  <a:srgbClr val="5E6C78"/>
                </a:solidFill>
                <a:latin typeface="Helvetica Neue"/>
                <a:ea typeface="Helvetica Neue"/>
                <a:cs typeface="Helvetica Neue"/>
              </a:defRPr>
            </a:pPr>
            <a:r>
              <a:rPr sz="1350" b="0">
                <a:solidFill>
                  <a:srgbClr val="5E6C78"/>
                </a:solidFill>
                <a:latin typeface="Helvetica Neue"/>
                <a:ea typeface="Helvetica Neue"/>
                <a:cs typeface="Helvetica Neue"/>
              </a:rPr>
              <a:t>Calendly exports</a:t>
            </a:r>
          </a:p>
          <a:p xmlns:a="http://schemas.openxmlformats.org/drawingml/2006/main">
            <a:pPr algn="l">
              <a:lnSpc>
                <a:spcPct val="115000"/>
              </a:lnSpc>
              <a:buNone/>
              <a:defRPr sz="1350" b="0">
                <a:solidFill>
                  <a:srgbClr val="5E6C78"/>
                </a:solidFill>
                <a:latin typeface="Helvetica Neue"/>
                <a:ea typeface="Helvetica Neue"/>
                <a:cs typeface="Helvetica Neue"/>
              </a:defRPr>
            </a:pPr>
            <a:r>
              <a:rPr sz="1350" b="0">
                <a:solidFill>
                  <a:srgbClr val="5E6C78"/>
                </a:solidFill>
                <a:latin typeface="Helvetica Neue"/>
                <a:ea typeface="Helvetica Neue"/>
                <a:cs typeface="Helvetica Neue"/>
              </a:rPr>
              <a:t>3–20 call lists</a:t>
            </a:r>
          </a:p>
          <a:p xmlns:a="http://schemas.openxmlformats.org/drawingml/2006/main">
            <a:pPr algn="l">
              <a:lnSpc>
                <a:spcPct val="115000"/>
              </a:lnSpc>
              <a:buNone/>
              <a:defRPr sz="1350" b="0">
                <a:solidFill>
                  <a:srgbClr val="5E6C78"/>
                </a:solidFill>
                <a:latin typeface="Helvetica Neue"/>
                <a:ea typeface="Helvetica Neue"/>
                <a:cs typeface="Helvetica Neue"/>
              </a:defRPr>
            </a:pPr>
            <a:r>
              <a:rPr sz="1350" b="0">
                <a:solidFill>
                  <a:srgbClr val="5E6C78"/>
                </a:solidFill>
                <a:latin typeface="Helvetica Neue"/>
                <a:ea typeface="Helvetica Neue"/>
                <a:cs typeface="Helvetica Neue"/>
              </a:rPr>
              <a:t>Cohort crosswalk</a:t>
            </a:r>
          </a:p>
        </p:txBody>
      </p:sp>
      <p:sp>
        <p:nvSpPr>
          <p:cNvPr id="8" name="">
            <a:extLst xmlns:a="http://schemas.openxmlformats.org/drawingml/2006/main">
              <a:ext uri="{FF2B5EF4-FFF2-40B4-BE49-F238E27FC236}">
                <a16:creationId xmlns:a16="http://schemas.microsoft.com/office/drawing/2014/main" id="{964BA8FC-E7AE-4AF0-A51A-2B1522DD18F9}"/>
              </a:ext>
            </a:extLst>
          </p:cNvPr>
          <p:cNvSpPr>
            <a:spLocks xmlns:a="http://schemas.openxmlformats.org/drawingml/2006/main" noGrp="1"/>
          </p:cNvSpPr>
          <p:nvPr/>
        </p:nvSpPr>
        <p:spPr>
          <a:xfrm xmlns:a="http://schemas.openxmlformats.org/drawingml/2006/main">
            <a:off x="2676525" y="3143250"/>
            <a:ext cx="276225" cy="285750"/>
          </a:xfrm>
          <a:prstGeom xmlns:a="http://schemas.openxmlformats.org/drawingml/2006/main" prst="rightArrow">
            <a:avLst/>
          </a:prstGeom>
          <a:solidFill xmlns:a="http://schemas.openxmlformats.org/drawingml/2006/main">
            <a:srgbClr val="67B7B7"/>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2E0194B6-0CD3-41F5-ADD3-337BF1310D40}"/>
              </a:ext>
            </a:extLst>
          </p:cNvPr>
          <p:cNvSpPr>
            <a:spLocks xmlns:a="http://schemas.openxmlformats.org/drawingml/2006/main" noGrp="1"/>
          </p:cNvSpPr>
          <p:nvPr/>
        </p:nvSpPr>
        <p:spPr>
          <a:xfrm xmlns:a="http://schemas.openxmlformats.org/drawingml/2006/main">
            <a:off x="3000375" y="1752600"/>
            <a:ext cx="1952625" cy="3105150"/>
          </a:xfrm>
          <a:prstGeom xmlns:a="http://schemas.openxmlformats.org/drawingml/2006/main" prst="roundRect">
            <a:avLst>
              <a:gd name="adj" fmla="val 7805"/>
            </a:avLst>
          </a:prstGeom>
          <a:solidFill xmlns:a="http://schemas.openxmlformats.org/drawingml/2006/main">
            <a:srgbClr val="FFFFFF"/>
          </a:solidFill>
          <a:ln xmlns:a="http://schemas.openxmlformats.org/drawingml/2006/main" w="9525">
            <a:solidFill>
              <a:srgbClr val="D4DEE5"/>
            </a:solidFill>
            <a:prstDash val="solid"/>
          </a:ln>
        </p:spPr>
      </p:sp>
      <p:sp>
        <p:nvSpPr>
          <p:cNvPr id="10" name="">
            <a:extLst xmlns:a="http://schemas.openxmlformats.org/drawingml/2006/main">
              <a:ext uri="{FF2B5EF4-FFF2-40B4-BE49-F238E27FC236}">
                <a16:creationId xmlns:a16="http://schemas.microsoft.com/office/drawing/2014/main" id="{8724F37D-E29C-4032-9A33-B9DA84E7A4DD}"/>
              </a:ext>
            </a:extLst>
          </p:cNvPr>
          <p:cNvSpPr>
            <a:spLocks xmlns:a="http://schemas.openxmlformats.org/drawingml/2006/main" noGrp="1"/>
          </p:cNvSpPr>
          <p:nvPr/>
        </p:nvSpPr>
        <p:spPr>
          <a:xfrm xmlns:a="http://schemas.openxmlformats.org/drawingml/2006/main">
            <a:off x="3000375" y="1752600"/>
            <a:ext cx="1952625" cy="95250"/>
          </a:xfrm>
          <a:prstGeom xmlns:a="http://schemas.openxmlformats.org/drawingml/2006/main" prst="roundRect">
            <a:avLst>
              <a:gd name="adj" fmla="val 50000"/>
            </a:avLst>
          </a:prstGeom>
          <a:solidFill xmlns:a="http://schemas.openxmlformats.org/drawingml/2006/main">
            <a:srgbClr val="F2C14E"/>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C2588EF3-E995-4E8A-8A79-A4F9A4B0458C}"/>
              </a:ext>
            </a:extLst>
          </p:cNvPr>
          <p:cNvSpPr>
            <a:spLocks xmlns:a="http://schemas.openxmlformats.org/drawingml/2006/main" noGrp="1"/>
          </p:cNvSpPr>
          <p:nvPr/>
        </p:nvSpPr>
        <p:spPr>
          <a:xfrm xmlns:a="http://schemas.openxmlformats.org/drawingml/2006/main">
            <a:off x="3190875" y="2057400"/>
            <a:ext cx="1571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650" b="1">
                <a:solidFill>
                  <a:srgbClr val="0B1F33"/>
                </a:solidFill>
                <a:latin typeface="Helvetica Neue"/>
                <a:ea typeface="Helvetica Neue"/>
                <a:cs typeface="Helvetica Neue"/>
              </a:defRPr>
            </a:pPr>
            <a:r>
              <a:rPr sz="1650" b="1">
                <a:solidFill>
                  <a:srgbClr val="0B1F33"/>
                </a:solidFill>
                <a:latin typeface="Helvetica Neue"/>
                <a:ea typeface="Helvetica Neue"/>
                <a:cs typeface="Helvetica Neue"/>
              </a:rPr>
              <a:t>2  Standardize</a:t>
            </a:r>
          </a:p>
        </p:txBody>
      </p:sp>
      <p:sp>
        <p:nvSpPr>
          <p:cNvPr id="12" name="">
            <a:extLst xmlns:a="http://schemas.openxmlformats.org/drawingml/2006/main">
              <a:ext uri="{FF2B5EF4-FFF2-40B4-BE49-F238E27FC236}">
                <a16:creationId xmlns:a16="http://schemas.microsoft.com/office/drawing/2014/main" id="{546D3BC4-7053-4824-B4B7-4404077FD576}"/>
              </a:ext>
            </a:extLst>
          </p:cNvPr>
          <p:cNvSpPr>
            <a:spLocks xmlns:a="http://schemas.openxmlformats.org/drawingml/2006/main" noGrp="1"/>
          </p:cNvSpPr>
          <p:nvPr/>
        </p:nvSpPr>
        <p:spPr>
          <a:xfrm xmlns:a="http://schemas.openxmlformats.org/drawingml/2006/main">
            <a:off x="3190875" y="2619375"/>
            <a:ext cx="1571625"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350" b="0">
                <a:solidFill>
                  <a:srgbClr val="5E6C78"/>
                </a:solidFill>
                <a:latin typeface="Helvetica Neue"/>
                <a:ea typeface="Helvetica Neue"/>
                <a:cs typeface="Helvetica Neue"/>
              </a:defRPr>
            </a:pPr>
            <a:r>
              <a:rPr sz="1350" b="0">
                <a:solidFill>
                  <a:srgbClr val="5E6C78"/>
                </a:solidFill>
                <a:latin typeface="Helvetica Neue"/>
                <a:ea typeface="Helvetica Neue"/>
                <a:cs typeface="Helvetica Neue"/>
              </a:rPr>
              <a:t>Clean names and IDs</a:t>
            </a:r>
          </a:p>
          <a:p xmlns:a="http://schemas.openxmlformats.org/drawingml/2006/main">
            <a:pPr algn="l">
              <a:lnSpc>
                <a:spcPct val="115000"/>
              </a:lnSpc>
              <a:buNone/>
              <a:defRPr sz="1350" b="0">
                <a:solidFill>
                  <a:srgbClr val="5E6C78"/>
                </a:solidFill>
                <a:latin typeface="Helvetica Neue"/>
                <a:ea typeface="Helvetica Neue"/>
                <a:cs typeface="Helvetica Neue"/>
              </a:defRPr>
            </a:pPr>
            <a:r>
              <a:rPr sz="1350" b="0">
                <a:solidFill>
                  <a:srgbClr val="5E6C78"/>
                </a:solidFill>
                <a:latin typeface="Helvetica Neue"/>
                <a:ea typeface="Helvetica Neue"/>
                <a:cs typeface="Helvetica Neue"/>
              </a:rPr>
              <a:t>Convert age to years</a:t>
            </a:r>
          </a:p>
          <a:p xmlns:a="http://schemas.openxmlformats.org/drawingml/2006/main">
            <a:pPr algn="l">
              <a:lnSpc>
                <a:spcPct val="115000"/>
              </a:lnSpc>
              <a:buNone/>
              <a:defRPr sz="1350" b="0">
                <a:solidFill>
                  <a:srgbClr val="5E6C78"/>
                </a:solidFill>
                <a:latin typeface="Helvetica Neue"/>
                <a:ea typeface="Helvetica Neue"/>
                <a:cs typeface="Helvetica Neue"/>
              </a:defRPr>
            </a:pPr>
            <a:r>
              <a:rPr sz="1350" b="0">
                <a:solidFill>
                  <a:srgbClr val="5E6C78"/>
                </a:solidFill>
                <a:latin typeface="Helvetica Neue"/>
                <a:ea typeface="Helvetica Neue"/>
                <a:cs typeface="Helvetica Neue"/>
              </a:rPr>
              <a:t>Map age bands</a:t>
            </a:r>
          </a:p>
          <a:p xmlns:a="http://schemas.openxmlformats.org/drawingml/2006/main">
            <a:pPr algn="l">
              <a:lnSpc>
                <a:spcPct val="115000"/>
              </a:lnSpc>
              <a:buNone/>
              <a:defRPr sz="1350" b="0">
                <a:solidFill>
                  <a:srgbClr val="5E6C78"/>
                </a:solidFill>
                <a:latin typeface="Helvetica Neue"/>
                <a:ea typeface="Helvetica Neue"/>
                <a:cs typeface="Helvetica Neue"/>
              </a:defRPr>
            </a:pPr>
            <a:r>
              <a:rPr sz="1350" b="0">
                <a:solidFill>
                  <a:srgbClr val="5E6C78"/>
                </a:solidFill>
                <a:latin typeface="Helvetica Neue"/>
                <a:ea typeface="Helvetica Neue"/>
                <a:cs typeface="Helvetica Neue"/>
              </a:rPr>
              <a:t>Resolve duplicate bookings</a:t>
            </a:r>
          </a:p>
        </p:txBody>
      </p:sp>
      <p:sp>
        <p:nvSpPr>
          <p:cNvPr id="13" name="">
            <a:extLst xmlns:a="http://schemas.openxmlformats.org/drawingml/2006/main">
              <a:ext uri="{FF2B5EF4-FFF2-40B4-BE49-F238E27FC236}">
                <a16:creationId xmlns:a16="http://schemas.microsoft.com/office/drawing/2014/main" id="{F30A149E-CC30-40BC-B009-63E42675405B}"/>
              </a:ext>
            </a:extLst>
          </p:cNvPr>
          <p:cNvSpPr>
            <a:spLocks xmlns:a="http://schemas.openxmlformats.org/drawingml/2006/main" noGrp="1"/>
          </p:cNvSpPr>
          <p:nvPr/>
        </p:nvSpPr>
        <p:spPr>
          <a:xfrm xmlns:a="http://schemas.openxmlformats.org/drawingml/2006/main">
            <a:off x="5010150" y="3143250"/>
            <a:ext cx="276225" cy="285750"/>
          </a:xfrm>
          <a:prstGeom xmlns:a="http://schemas.openxmlformats.org/drawingml/2006/main" prst="rightArrow">
            <a:avLst/>
          </a:prstGeom>
          <a:solidFill xmlns:a="http://schemas.openxmlformats.org/drawingml/2006/main">
            <a:srgbClr val="67B7B7"/>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A09ED1DE-6E0C-4B9E-AE60-13F3A9632E9F}"/>
              </a:ext>
            </a:extLst>
          </p:cNvPr>
          <p:cNvSpPr>
            <a:spLocks xmlns:a="http://schemas.openxmlformats.org/drawingml/2006/main" noGrp="1"/>
          </p:cNvSpPr>
          <p:nvPr/>
        </p:nvSpPr>
        <p:spPr>
          <a:xfrm xmlns:a="http://schemas.openxmlformats.org/drawingml/2006/main">
            <a:off x="5334000" y="1752600"/>
            <a:ext cx="1952625" cy="3105150"/>
          </a:xfrm>
          <a:prstGeom xmlns:a="http://schemas.openxmlformats.org/drawingml/2006/main" prst="roundRect">
            <a:avLst>
              <a:gd name="adj" fmla="val 7805"/>
            </a:avLst>
          </a:prstGeom>
          <a:solidFill xmlns:a="http://schemas.openxmlformats.org/drawingml/2006/main">
            <a:srgbClr val="FFFFFF"/>
          </a:solidFill>
          <a:ln xmlns:a="http://schemas.openxmlformats.org/drawingml/2006/main" w="9525">
            <a:solidFill>
              <a:srgbClr val="D4DEE5"/>
            </a:solidFill>
            <a:prstDash val="solid"/>
          </a:ln>
        </p:spPr>
      </p:sp>
      <p:sp>
        <p:nvSpPr>
          <p:cNvPr id="15" name="">
            <a:extLst xmlns:a="http://schemas.openxmlformats.org/drawingml/2006/main">
              <a:ext uri="{FF2B5EF4-FFF2-40B4-BE49-F238E27FC236}">
                <a16:creationId xmlns:a16="http://schemas.microsoft.com/office/drawing/2014/main" id="{80B62A19-384C-4739-9946-A3B4BC178BF1}"/>
              </a:ext>
            </a:extLst>
          </p:cNvPr>
          <p:cNvSpPr>
            <a:spLocks xmlns:a="http://schemas.openxmlformats.org/drawingml/2006/main" noGrp="1"/>
          </p:cNvSpPr>
          <p:nvPr/>
        </p:nvSpPr>
        <p:spPr>
          <a:xfrm xmlns:a="http://schemas.openxmlformats.org/drawingml/2006/main">
            <a:off x="5334000" y="1752600"/>
            <a:ext cx="1952625" cy="95250"/>
          </a:xfrm>
          <a:prstGeom xmlns:a="http://schemas.openxmlformats.org/drawingml/2006/main" prst="roundRect">
            <a:avLst>
              <a:gd name="adj" fmla="val 50000"/>
            </a:avLst>
          </a:prstGeom>
          <a:solidFill xmlns:a="http://schemas.openxmlformats.org/drawingml/2006/main">
            <a:srgbClr val="E76F51"/>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202EB7A7-09CE-41ED-B66E-A0BC9B6D5FC8}"/>
              </a:ext>
            </a:extLst>
          </p:cNvPr>
          <p:cNvSpPr>
            <a:spLocks xmlns:a="http://schemas.openxmlformats.org/drawingml/2006/main" noGrp="1"/>
          </p:cNvSpPr>
          <p:nvPr/>
        </p:nvSpPr>
        <p:spPr>
          <a:xfrm xmlns:a="http://schemas.openxmlformats.org/drawingml/2006/main">
            <a:off x="5524500" y="2057400"/>
            <a:ext cx="1571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650" b="1">
                <a:solidFill>
                  <a:srgbClr val="0B1F33"/>
                </a:solidFill>
                <a:latin typeface="Helvetica Neue"/>
                <a:ea typeface="Helvetica Neue"/>
                <a:cs typeface="Helvetica Neue"/>
              </a:defRPr>
            </a:pPr>
            <a:r>
              <a:rPr sz="1650" b="1">
                <a:solidFill>
                  <a:srgbClr val="0B1F33"/>
                </a:solidFill>
                <a:latin typeface="Helvetica Neue"/>
                <a:ea typeface="Helvetica Neue"/>
                <a:cs typeface="Helvetica Neue"/>
              </a:rPr>
              <a:t>3  Assign &amp; score</a:t>
            </a:r>
          </a:p>
        </p:txBody>
      </p:sp>
      <p:sp>
        <p:nvSpPr>
          <p:cNvPr id="17" name="">
            <a:extLst xmlns:a="http://schemas.openxmlformats.org/drawingml/2006/main">
              <a:ext uri="{FF2B5EF4-FFF2-40B4-BE49-F238E27FC236}">
                <a16:creationId xmlns:a16="http://schemas.microsoft.com/office/drawing/2014/main" id="{50C0DD1D-0512-4F61-A03E-9D0E1EFA5786}"/>
              </a:ext>
            </a:extLst>
          </p:cNvPr>
          <p:cNvSpPr>
            <a:spLocks xmlns:a="http://schemas.openxmlformats.org/drawingml/2006/main" noGrp="1"/>
          </p:cNvSpPr>
          <p:nvPr/>
        </p:nvSpPr>
        <p:spPr>
          <a:xfrm xmlns:a="http://schemas.openxmlformats.org/drawingml/2006/main">
            <a:off x="5524500" y="2619375"/>
            <a:ext cx="1571625"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350" b="0">
                <a:solidFill>
                  <a:srgbClr val="5E6C78"/>
                </a:solidFill>
                <a:latin typeface="Helvetica Neue"/>
                <a:ea typeface="Helvetica Neue"/>
                <a:cs typeface="Helvetica Neue"/>
              </a:defRPr>
            </a:pPr>
            <a:r>
              <a:rPr sz="1350" b="0">
                <a:solidFill>
                  <a:srgbClr val="5E6C78"/>
                </a:solidFill>
                <a:latin typeface="Helvetica Neue"/>
                <a:ea typeface="Helvetica Neue"/>
                <a:cs typeface="Helvetica Neue"/>
              </a:rPr>
              <a:t>Choose latest IPA record</a:t>
            </a:r>
          </a:p>
          <a:p xmlns:a="http://schemas.openxmlformats.org/drawingml/2006/main">
            <a:pPr algn="l">
              <a:lnSpc>
                <a:spcPct val="115000"/>
              </a:lnSpc>
              <a:buNone/>
              <a:defRPr sz="1350" b="0">
                <a:solidFill>
                  <a:srgbClr val="5E6C78"/>
                </a:solidFill>
                <a:latin typeface="Helvetica Neue"/>
                <a:ea typeface="Helvetica Neue"/>
                <a:cs typeface="Helvetica Neue"/>
              </a:defRPr>
            </a:pPr>
            <a:r>
              <a:rPr sz="1350" b="0">
                <a:solidFill>
                  <a:srgbClr val="5E6C78"/>
                </a:solidFill>
                <a:latin typeface="Helvetica Neue"/>
                <a:ea typeface="Helvetica Neue"/>
                <a:cs typeface="Helvetica Neue"/>
              </a:rPr>
              <a:t>Derive task outcomes</a:t>
            </a:r>
          </a:p>
          <a:p xmlns:a="http://schemas.openxmlformats.org/drawingml/2006/main">
            <a:pPr algn="l">
              <a:lnSpc>
                <a:spcPct val="115000"/>
              </a:lnSpc>
              <a:buNone/>
              <a:defRPr sz="1350" b="0">
                <a:solidFill>
                  <a:srgbClr val="5E6C78"/>
                </a:solidFill>
                <a:latin typeface="Helvetica Neue"/>
                <a:ea typeface="Helvetica Neue"/>
                <a:cs typeface="Helvetica Neue"/>
              </a:defRPr>
            </a:pPr>
            <a:r>
              <a:rPr sz="1350" b="0">
                <a:solidFill>
                  <a:srgbClr val="5E6C78"/>
                </a:solidFill>
                <a:latin typeface="Helvetica Neue"/>
                <a:ea typeface="Helvetica Neue"/>
                <a:cs typeface="Helvetica Neue"/>
              </a:rPr>
              <a:t>Lock task responsibility</a:t>
            </a:r>
          </a:p>
          <a:p xmlns:a="http://schemas.openxmlformats.org/drawingml/2006/main">
            <a:pPr algn="l">
              <a:lnSpc>
                <a:spcPct val="115000"/>
              </a:lnSpc>
              <a:buNone/>
              <a:defRPr sz="1350" b="0">
                <a:solidFill>
                  <a:srgbClr val="5E6C78"/>
                </a:solidFill>
                <a:latin typeface="Helvetica Neue"/>
                <a:ea typeface="Helvetica Neue"/>
                <a:cs typeface="Helvetica Neue"/>
              </a:defRPr>
            </a:pPr>
            <a:r>
              <a:rPr sz="1350" b="0">
                <a:solidFill>
                  <a:srgbClr val="5E6C78"/>
                </a:solidFill>
                <a:latin typeface="Helvetica Neue"/>
                <a:ea typeface="Helvetica Neue"/>
                <a:cs typeface="Helvetica Neue"/>
              </a:rPr>
              <a:t>Calculate progress</a:t>
            </a:r>
          </a:p>
        </p:txBody>
      </p:sp>
      <p:sp>
        <p:nvSpPr>
          <p:cNvPr id="18" name="">
            <a:extLst xmlns:a="http://schemas.openxmlformats.org/drawingml/2006/main">
              <a:ext uri="{FF2B5EF4-FFF2-40B4-BE49-F238E27FC236}">
                <a16:creationId xmlns:a16="http://schemas.microsoft.com/office/drawing/2014/main" id="{DE1F9C94-4ABA-4BF0-9A18-9CA8D51A4E38}"/>
              </a:ext>
            </a:extLst>
          </p:cNvPr>
          <p:cNvSpPr>
            <a:spLocks xmlns:a="http://schemas.openxmlformats.org/drawingml/2006/main" noGrp="1"/>
          </p:cNvSpPr>
          <p:nvPr/>
        </p:nvSpPr>
        <p:spPr>
          <a:xfrm xmlns:a="http://schemas.openxmlformats.org/drawingml/2006/main">
            <a:off x="7343775" y="3143250"/>
            <a:ext cx="276225" cy="285750"/>
          </a:xfrm>
          <a:prstGeom xmlns:a="http://schemas.openxmlformats.org/drawingml/2006/main" prst="rightArrow">
            <a:avLst/>
          </a:prstGeom>
          <a:solidFill xmlns:a="http://schemas.openxmlformats.org/drawingml/2006/main">
            <a:srgbClr val="67B7B7"/>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1ED66AF7-BCF7-4503-890E-79298AA24A7B}"/>
              </a:ext>
            </a:extLst>
          </p:cNvPr>
          <p:cNvSpPr>
            <a:spLocks xmlns:a="http://schemas.openxmlformats.org/drawingml/2006/main" noGrp="1"/>
          </p:cNvSpPr>
          <p:nvPr/>
        </p:nvSpPr>
        <p:spPr>
          <a:xfrm xmlns:a="http://schemas.openxmlformats.org/drawingml/2006/main">
            <a:off x="7667625" y="1752600"/>
            <a:ext cx="1952625" cy="3105150"/>
          </a:xfrm>
          <a:prstGeom xmlns:a="http://schemas.openxmlformats.org/drawingml/2006/main" prst="roundRect">
            <a:avLst>
              <a:gd name="adj" fmla="val 7805"/>
            </a:avLst>
          </a:prstGeom>
          <a:solidFill xmlns:a="http://schemas.openxmlformats.org/drawingml/2006/main">
            <a:srgbClr val="FFFFFF"/>
          </a:solidFill>
          <a:ln xmlns:a="http://schemas.openxmlformats.org/drawingml/2006/main" w="9525">
            <a:solidFill>
              <a:srgbClr val="D4DEE5"/>
            </a:solidFill>
            <a:prstDash val="solid"/>
          </a:ln>
        </p:spPr>
      </p:sp>
      <p:sp>
        <p:nvSpPr>
          <p:cNvPr id="20" name="">
            <a:extLst xmlns:a="http://schemas.openxmlformats.org/drawingml/2006/main">
              <a:ext uri="{FF2B5EF4-FFF2-40B4-BE49-F238E27FC236}">
                <a16:creationId xmlns:a16="http://schemas.microsoft.com/office/drawing/2014/main" id="{88FF3D7B-13A4-4153-8824-56239DF075C5}"/>
              </a:ext>
            </a:extLst>
          </p:cNvPr>
          <p:cNvSpPr>
            <a:spLocks xmlns:a="http://schemas.openxmlformats.org/drawingml/2006/main" noGrp="1"/>
          </p:cNvSpPr>
          <p:nvPr/>
        </p:nvSpPr>
        <p:spPr>
          <a:xfrm xmlns:a="http://schemas.openxmlformats.org/drawingml/2006/main">
            <a:off x="7667625" y="1752600"/>
            <a:ext cx="1952625" cy="95250"/>
          </a:xfrm>
          <a:prstGeom xmlns:a="http://schemas.openxmlformats.org/drawingml/2006/main" prst="roundRect">
            <a:avLst>
              <a:gd name="adj" fmla="val 50000"/>
            </a:avLst>
          </a:prstGeom>
          <a:solidFill xmlns:a="http://schemas.openxmlformats.org/drawingml/2006/main">
            <a:srgbClr val="2A9D63"/>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2CA00842-ABB7-4230-9C32-133ED14A509A}"/>
              </a:ext>
            </a:extLst>
          </p:cNvPr>
          <p:cNvSpPr>
            <a:spLocks xmlns:a="http://schemas.openxmlformats.org/drawingml/2006/main" noGrp="1"/>
          </p:cNvSpPr>
          <p:nvPr/>
        </p:nvSpPr>
        <p:spPr>
          <a:xfrm xmlns:a="http://schemas.openxmlformats.org/drawingml/2006/main">
            <a:off x="7858125" y="2057400"/>
            <a:ext cx="1571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650" b="1">
                <a:solidFill>
                  <a:srgbClr val="0B1F33"/>
                </a:solidFill>
                <a:latin typeface="Helvetica Neue"/>
                <a:ea typeface="Helvetica Neue"/>
                <a:cs typeface="Helvetica Neue"/>
              </a:defRPr>
            </a:pPr>
            <a:r>
              <a:rPr sz="1650" b="1">
                <a:solidFill>
                  <a:srgbClr val="0B1F33"/>
                </a:solidFill>
                <a:latin typeface="Helvetica Neue"/>
                <a:ea typeface="Helvetica Neue"/>
                <a:cs typeface="Helvetica Neue"/>
              </a:rPr>
              <a:t>4  Publish</a:t>
            </a:r>
          </a:p>
        </p:txBody>
      </p:sp>
      <p:sp>
        <p:nvSpPr>
          <p:cNvPr id="22" name="">
            <a:extLst xmlns:a="http://schemas.openxmlformats.org/drawingml/2006/main">
              <a:ext uri="{FF2B5EF4-FFF2-40B4-BE49-F238E27FC236}">
                <a16:creationId xmlns:a16="http://schemas.microsoft.com/office/drawing/2014/main" id="{9305271F-C915-40B5-9408-0C220C1D7B99}"/>
              </a:ext>
            </a:extLst>
          </p:cNvPr>
          <p:cNvSpPr>
            <a:spLocks xmlns:a="http://schemas.openxmlformats.org/drawingml/2006/main" noGrp="1"/>
          </p:cNvSpPr>
          <p:nvPr/>
        </p:nvSpPr>
        <p:spPr>
          <a:xfrm xmlns:a="http://schemas.openxmlformats.org/drawingml/2006/main">
            <a:off x="7858125" y="2619375"/>
            <a:ext cx="1571625"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350" b="0">
                <a:solidFill>
                  <a:srgbClr val="5E6C78"/>
                </a:solidFill>
                <a:latin typeface="Helvetica Neue"/>
                <a:ea typeface="Helvetica Neue"/>
                <a:cs typeface="Helvetica Neue"/>
              </a:defRPr>
            </a:pPr>
            <a:r>
              <a:rPr sz="1350" b="0">
                <a:solidFill>
                  <a:srgbClr val="5E6C78"/>
                </a:solidFill>
                <a:latin typeface="Helvetica Neue"/>
                <a:ea typeface="Helvetica Neue"/>
                <a:cs typeface="Helvetica Neue"/>
              </a:rPr>
              <a:t>Save latest dataset</a:t>
            </a:r>
          </a:p>
          <a:p xmlns:a="http://schemas.openxmlformats.org/drawingml/2006/main">
            <a:pPr algn="l">
              <a:lnSpc>
                <a:spcPct val="115000"/>
              </a:lnSpc>
              <a:buNone/>
              <a:defRPr sz="1350" b="0">
                <a:solidFill>
                  <a:srgbClr val="5E6C78"/>
                </a:solidFill>
                <a:latin typeface="Helvetica Neue"/>
                <a:ea typeface="Helvetica Neue"/>
                <a:cs typeface="Helvetica Neue"/>
              </a:defRPr>
            </a:pPr>
            <a:r>
              <a:rPr sz="1350" b="0">
                <a:solidFill>
                  <a:srgbClr val="5E6C78"/>
                </a:solidFill>
                <a:latin typeface="Helvetica Neue"/>
                <a:ea typeface="Helvetica Neue"/>
                <a:cs typeface="Helvetica Neue"/>
              </a:rPr>
              <a:t>Write timestamped snapshot</a:t>
            </a:r>
          </a:p>
          <a:p xmlns:a="http://schemas.openxmlformats.org/drawingml/2006/main">
            <a:pPr algn="l">
              <a:lnSpc>
                <a:spcPct val="115000"/>
              </a:lnSpc>
              <a:buNone/>
              <a:defRPr sz="1350" b="0">
                <a:solidFill>
                  <a:srgbClr val="5E6C78"/>
                </a:solidFill>
                <a:latin typeface="Helvetica Neue"/>
                <a:ea typeface="Helvetica Neue"/>
                <a:cs typeface="Helvetica Neue"/>
              </a:defRPr>
            </a:pPr>
            <a:r>
              <a:rPr sz="1350" b="0">
                <a:solidFill>
                  <a:srgbClr val="5E6C78"/>
                </a:solidFill>
                <a:latin typeface="Helvetica Neue"/>
                <a:ea typeface="Helvetica Neue"/>
                <a:cs typeface="Helvetica Neue"/>
              </a:rPr>
              <a:t>Refresh dashboard</a:t>
            </a:r>
          </a:p>
          <a:p xmlns:a="http://schemas.openxmlformats.org/drawingml/2006/main">
            <a:pPr algn="l">
              <a:lnSpc>
                <a:spcPct val="115000"/>
              </a:lnSpc>
              <a:buNone/>
              <a:defRPr sz="1350" b="0">
                <a:solidFill>
                  <a:srgbClr val="5E6C78"/>
                </a:solidFill>
                <a:latin typeface="Helvetica Neue"/>
                <a:ea typeface="Helvetica Neue"/>
                <a:cs typeface="Helvetica Neue"/>
              </a:defRPr>
            </a:pPr>
            <a:r>
              <a:rPr sz="1350" b="0">
                <a:solidFill>
                  <a:srgbClr val="5E6C78"/>
                </a:solidFill>
                <a:latin typeface="Helvetica Neue"/>
                <a:ea typeface="Helvetica Neue"/>
                <a:cs typeface="Helvetica Neue"/>
              </a:rPr>
              <a:t>Extend FTM trend lines</a:t>
            </a:r>
          </a:p>
        </p:txBody>
      </p:sp>
      <p:sp>
        <p:nvSpPr>
          <p:cNvPr id="23" name="">
            <a:extLst xmlns:a="http://schemas.openxmlformats.org/drawingml/2006/main">
              <a:ext uri="{FF2B5EF4-FFF2-40B4-BE49-F238E27FC236}">
                <a16:creationId xmlns:a16="http://schemas.microsoft.com/office/drawing/2014/main" id="{96FBB8E8-4635-41C9-8C1B-A8B2DCE6ED98}"/>
              </a:ext>
            </a:extLst>
          </p:cNvPr>
          <p:cNvSpPr>
            <a:spLocks xmlns:a="http://schemas.openxmlformats.org/drawingml/2006/main" noGrp="1"/>
          </p:cNvSpPr>
          <p:nvPr/>
        </p:nvSpPr>
        <p:spPr>
          <a:xfrm xmlns:a="http://schemas.openxmlformats.org/drawingml/2006/main">
            <a:off x="9877425" y="1752600"/>
            <a:ext cx="1666875" cy="1428750"/>
          </a:xfrm>
          <a:prstGeom xmlns:a="http://schemas.openxmlformats.org/drawingml/2006/main" prst="roundRect">
            <a:avLst>
              <a:gd name="adj" fmla="val 10667"/>
            </a:avLst>
          </a:prstGeom>
          <a:solidFill xmlns:a="http://schemas.openxmlformats.org/drawingml/2006/main">
            <a:srgbClr val="E5F3F2"/>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7D395698-6EF9-46EE-93D3-039DCBF73193}"/>
              </a:ext>
            </a:extLst>
          </p:cNvPr>
          <p:cNvSpPr>
            <a:spLocks xmlns:a="http://schemas.openxmlformats.org/drawingml/2006/main" noGrp="1"/>
          </p:cNvSpPr>
          <p:nvPr/>
        </p:nvSpPr>
        <p:spPr>
          <a:xfrm xmlns:a="http://schemas.openxmlformats.org/drawingml/2006/main">
            <a:off x="10048875" y="2047875"/>
            <a:ext cx="1333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500" b="1">
                <a:solidFill>
                  <a:srgbClr val="0B1F33"/>
                </a:solidFill>
                <a:latin typeface="Helvetica Neue"/>
                <a:ea typeface="Helvetica Neue"/>
                <a:cs typeface="Helvetica Neue"/>
              </a:defRPr>
            </a:pPr>
            <a:r>
              <a:rPr sz="1500" b="1">
                <a:solidFill>
                  <a:srgbClr val="0B1F33"/>
                </a:solidFill>
                <a:latin typeface="Helvetica Neue"/>
                <a:ea typeface="Helvetica Neue"/>
                <a:cs typeface="Helvetica Neue"/>
              </a:rPr>
              <a:t>Task responsibility</a:t>
            </a:r>
          </a:p>
        </p:txBody>
      </p:sp>
      <p:sp>
        <p:nvSpPr>
          <p:cNvPr id="25" name="">
            <a:extLst xmlns:a="http://schemas.openxmlformats.org/drawingml/2006/main">
              <a:ext uri="{FF2B5EF4-FFF2-40B4-BE49-F238E27FC236}">
                <a16:creationId xmlns:a16="http://schemas.microsoft.com/office/drawing/2014/main" id="{8C8E017B-684B-400E-A3E1-FF381A93206E}"/>
              </a:ext>
            </a:extLst>
          </p:cNvPr>
          <p:cNvSpPr>
            <a:spLocks xmlns:a="http://schemas.openxmlformats.org/drawingml/2006/main" noGrp="1"/>
          </p:cNvSpPr>
          <p:nvPr/>
        </p:nvSpPr>
        <p:spPr>
          <a:xfrm xmlns:a="http://schemas.openxmlformats.org/drawingml/2006/main">
            <a:off x="10039350" y="2543175"/>
            <a:ext cx="13525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200" b="0">
                <a:solidFill>
                  <a:srgbClr val="5E6C78"/>
                </a:solidFill>
                <a:latin typeface="Helvetica Neue"/>
                <a:ea typeface="Helvetica Neue"/>
                <a:cs typeface="Helvetica Neue"/>
              </a:defRPr>
            </a:pPr>
            <a:r>
              <a:rPr sz="1200" b="0">
                <a:solidFill>
                  <a:srgbClr val="5E6C78"/>
                </a:solidFill>
                <a:latin typeface="Helvetica Neue"/>
                <a:ea typeface="Helvetica Neue"/>
                <a:cs typeface="Helvetica Neue"/>
              </a:rPr>
              <a:t>Credit stays with the FTM responsible for that age-band task.</a:t>
            </a:r>
          </a:p>
        </p:txBody>
      </p:sp>
      <p:sp>
        <p:nvSpPr>
          <p:cNvPr id="26" name="">
            <a:extLst xmlns:a="http://schemas.openxmlformats.org/drawingml/2006/main">
              <a:ext uri="{FF2B5EF4-FFF2-40B4-BE49-F238E27FC236}">
                <a16:creationId xmlns:a16="http://schemas.microsoft.com/office/drawing/2014/main" id="{BF4D3EB7-CF36-4C44-86D5-E1CD2525794D}"/>
              </a:ext>
            </a:extLst>
          </p:cNvPr>
          <p:cNvSpPr>
            <a:spLocks xmlns:a="http://schemas.openxmlformats.org/drawingml/2006/main" noGrp="1"/>
          </p:cNvSpPr>
          <p:nvPr/>
        </p:nvSpPr>
        <p:spPr>
          <a:xfrm xmlns:a="http://schemas.openxmlformats.org/drawingml/2006/main">
            <a:off x="9877425" y="3429000"/>
            <a:ext cx="1666875" cy="1428750"/>
          </a:xfrm>
          <a:prstGeom xmlns:a="http://schemas.openxmlformats.org/drawingml/2006/main" prst="roundRect">
            <a:avLst>
              <a:gd name="adj" fmla="val 10667"/>
            </a:avLst>
          </a:prstGeom>
          <a:solidFill xmlns:a="http://schemas.openxmlformats.org/drawingml/2006/main">
            <a:srgbClr val="FFF2EC"/>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29F4D984-EE66-45FA-93C7-0A0D85DBB4CD}"/>
              </a:ext>
            </a:extLst>
          </p:cNvPr>
          <p:cNvSpPr>
            <a:spLocks xmlns:a="http://schemas.openxmlformats.org/drawingml/2006/main" noGrp="1"/>
          </p:cNvSpPr>
          <p:nvPr/>
        </p:nvSpPr>
        <p:spPr>
          <a:xfrm xmlns:a="http://schemas.openxmlformats.org/drawingml/2006/main">
            <a:off x="10048875" y="3724275"/>
            <a:ext cx="1333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500" b="1">
                <a:solidFill>
                  <a:srgbClr val="0B1F33"/>
                </a:solidFill>
                <a:latin typeface="Helvetica Neue"/>
                <a:ea typeface="Helvetica Neue"/>
                <a:cs typeface="Helvetica Neue"/>
              </a:defRPr>
            </a:pPr>
            <a:r>
              <a:rPr sz="1500" b="1">
                <a:solidFill>
                  <a:srgbClr val="0B1F33"/>
                </a:solidFill>
                <a:latin typeface="Helvetica Neue"/>
                <a:ea typeface="Helvetica Neue"/>
                <a:cs typeface="Helvetica Neue"/>
              </a:rPr>
              <a:t>Current caseload</a:t>
            </a:r>
          </a:p>
        </p:txBody>
      </p:sp>
      <p:sp>
        <p:nvSpPr>
          <p:cNvPr id="28" name="">
            <a:extLst xmlns:a="http://schemas.openxmlformats.org/drawingml/2006/main">
              <a:ext uri="{FF2B5EF4-FFF2-40B4-BE49-F238E27FC236}">
                <a16:creationId xmlns:a16="http://schemas.microsoft.com/office/drawing/2014/main" id="{F5C84C13-9CE8-4CA6-B70E-99CF9FDAEF29}"/>
              </a:ext>
            </a:extLst>
          </p:cNvPr>
          <p:cNvSpPr>
            <a:spLocks xmlns:a="http://schemas.openxmlformats.org/drawingml/2006/main" noGrp="1"/>
          </p:cNvSpPr>
          <p:nvPr/>
        </p:nvSpPr>
        <p:spPr>
          <a:xfrm xmlns:a="http://schemas.openxmlformats.org/drawingml/2006/main">
            <a:off x="10039350" y="4219575"/>
            <a:ext cx="13525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200" b="0">
                <a:solidFill>
                  <a:srgbClr val="5E6C78"/>
                </a:solidFill>
                <a:latin typeface="Helvetica Neue"/>
                <a:ea typeface="Helvetica Neue"/>
                <a:cs typeface="Helvetica Neue"/>
              </a:defRPr>
            </a:pPr>
            <a:r>
              <a:rPr sz="1200" b="0">
                <a:solidFill>
                  <a:srgbClr val="5E6C78"/>
                </a:solidFill>
                <a:latin typeface="Helvetica Neue"/>
                <a:ea typeface="Helvetica Neue"/>
                <a:cs typeface="Helvetica Neue"/>
              </a:rPr>
              <a:t>Shows current-stage work under the participant’s current FTM.</a:t>
            </a:r>
          </a:p>
        </p:txBody>
      </p:sp>
      <p:sp>
        <p:nvSpPr>
          <p:cNvPr id="29" name="">
            <a:extLst xmlns:a="http://schemas.openxmlformats.org/drawingml/2006/main">
              <a:ext uri="{FF2B5EF4-FFF2-40B4-BE49-F238E27FC236}">
                <a16:creationId xmlns:a16="http://schemas.microsoft.com/office/drawing/2014/main" id="{DA4AF1D0-CC26-4EDA-8B80-B5EE5B4B4FF1}"/>
              </a:ext>
            </a:extLst>
          </p:cNvPr>
          <p:cNvSpPr>
            <a:spLocks xmlns:a="http://schemas.openxmlformats.org/drawingml/2006/main" noGrp="1"/>
          </p:cNvSpPr>
          <p:nvPr/>
        </p:nvSpPr>
        <p:spPr>
          <a:xfrm xmlns:a="http://schemas.openxmlformats.org/drawingml/2006/main">
            <a:off x="666750" y="5410200"/>
            <a:ext cx="108775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800" b="1">
                <a:solidFill>
                  <a:srgbClr val="0B1F33"/>
                </a:solidFill>
                <a:latin typeface="Helvetica Neue"/>
                <a:ea typeface="Helvetica Neue"/>
                <a:cs typeface="Helvetica Neue"/>
              </a:defRPr>
            </a:pPr>
            <a:r>
              <a:rPr sz="1800" b="1">
                <a:solidFill>
                  <a:srgbClr val="0B1F33"/>
                </a:solidFill>
                <a:latin typeface="Helvetica Neue"/>
                <a:ea typeface="Helvetica Neue"/>
                <a:cs typeface="Helvetica Neue"/>
              </a:rPr>
              <a:t>Core grain: Participant ID × Cohort × IPA age band × Task</a:t>
            </a:r>
          </a:p>
        </p:txBody>
      </p:sp>
    </p:spTree>
    <p:extLst>
      <p:ext uri="{BB962C8B-B14F-4D97-AF65-F5344CB8AC3E}">
        <p14:creationId xmlns:p14="http://schemas.microsoft.com/office/powerpoint/2010/main" val="116280619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1F35D9B1-DEF9-47B9-9E19-FB8C7CCB9717}"/>
              </a:ext>
            </a:extLst>
          </p:cNvPr>
          <p:cNvSpPr>
            <a:spLocks xmlns:a="http://schemas.openxmlformats.org/drawingml/2006/main" noGrp="1"/>
          </p:cNvSpPr>
          <p:nvPr/>
        </p:nvSpPr>
        <p:spPr>
          <a:xfrm xmlns:a="http://schemas.openxmlformats.org/drawingml/2006/main">
            <a:off x="609600" y="400050"/>
            <a:ext cx="1028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700" b="1">
                <a:solidFill>
                  <a:srgbClr val="0B1F33"/>
                </a:solidFill>
                <a:latin typeface="Helvetica Neue"/>
                <a:ea typeface="Helvetica Neue"/>
                <a:cs typeface="Helvetica Neue"/>
              </a:defRPr>
            </a:pPr>
            <a:r>
              <a:rPr sz="2700" b="1">
                <a:solidFill>
                  <a:srgbClr val="0B1F33"/>
                </a:solidFill>
                <a:latin typeface="Helvetica Neue"/>
                <a:ea typeface="Helvetica Neue"/>
                <a:cs typeface="Helvetica Neue"/>
              </a:rPr>
              <a:t>Calendly matching prioritizes the child—not the booking text</a:t>
            </a:r>
          </a:p>
        </p:txBody>
      </p:sp>
      <p:sp>
        <p:nvSpPr>
          <p:cNvPr id="2" name="">
            <a:extLst xmlns:a="http://schemas.openxmlformats.org/drawingml/2006/main">
              <a:ext uri="{FF2B5EF4-FFF2-40B4-BE49-F238E27FC236}">
                <a16:creationId xmlns:a16="http://schemas.microsoft.com/office/drawing/2014/main" id="{3AC375C2-FB14-4700-B276-827C8EF90699}"/>
              </a:ext>
            </a:extLst>
          </p:cNvPr>
          <p:cNvSpPr>
            <a:spLocks xmlns:a="http://schemas.openxmlformats.org/drawingml/2006/main" noGrp="1"/>
          </p:cNvSpPr>
          <p:nvPr/>
        </p:nvSpPr>
        <p:spPr>
          <a:xfrm xmlns:a="http://schemas.openxmlformats.org/drawingml/2006/main">
            <a:off x="11144250" y="4572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200" b="1">
                <a:solidFill>
                  <a:srgbClr val="178C8C"/>
                </a:solidFill>
                <a:latin typeface="Helvetica Neue"/>
                <a:ea typeface="Helvetica Neue"/>
                <a:cs typeface="Helvetica Neue"/>
              </a:defRPr>
            </a:pPr>
            <a:r>
              <a:rPr sz="1200" b="1">
                <a:solidFill>
                  <a:srgbClr val="178C8C"/>
                </a:solidFill>
                <a:latin typeface="Helvetica Neue"/>
                <a:ea typeface="Helvetica Neue"/>
                <a:cs typeface="Helvetica Neue"/>
              </a:rPr>
              <a:t>03</a:t>
            </a:r>
          </a:p>
        </p:txBody>
      </p:sp>
      <p:sp>
        <p:nvSpPr>
          <p:cNvPr id="3" name="">
            <a:extLst xmlns:a="http://schemas.openxmlformats.org/drawingml/2006/main">
              <a:ext uri="{FF2B5EF4-FFF2-40B4-BE49-F238E27FC236}">
                <a16:creationId xmlns:a16="http://schemas.microsoft.com/office/drawing/2014/main" id="{95A6DD91-928F-4BDA-AD82-040BBAC49119}"/>
              </a:ext>
            </a:extLst>
          </p:cNvPr>
          <p:cNvSpPr>
            <a:spLocks xmlns:a="http://schemas.openxmlformats.org/drawingml/2006/main" noGrp="1"/>
          </p:cNvSpPr>
          <p:nvPr/>
        </p:nvSpPr>
        <p:spPr>
          <a:xfrm xmlns:a="http://schemas.openxmlformats.org/drawingml/2006/main">
            <a:off x="609600" y="1009650"/>
            <a:ext cx="10972800" cy="0"/>
          </a:xfrm>
          <a:prstGeom xmlns:a="http://schemas.openxmlformats.org/drawingml/2006/main" prst="line">
            <a:avLst/>
          </a:prstGeom>
          <a:noFill xmlns:a="http://schemas.openxmlformats.org/drawingml/2006/main"/>
          <a:ln xmlns:a="http://schemas.openxmlformats.org/drawingml/2006/main" w="9525">
            <a:solidFill>
              <a:srgbClr val="D4DEE5"/>
            </a:solidFill>
            <a:prstDash val="solid"/>
          </a:ln>
        </p:spPr>
      </p:sp>
      <p:sp>
        <p:nvSpPr>
          <p:cNvPr id="4" name="">
            <a:extLst xmlns:a="http://schemas.openxmlformats.org/drawingml/2006/main">
              <a:ext uri="{FF2B5EF4-FFF2-40B4-BE49-F238E27FC236}">
                <a16:creationId xmlns:a16="http://schemas.microsoft.com/office/drawing/2014/main" id="{C4072E55-6387-4D05-959A-B329C8A1F6AF}"/>
              </a:ext>
            </a:extLst>
          </p:cNvPr>
          <p:cNvSpPr>
            <a:spLocks xmlns:a="http://schemas.openxmlformats.org/drawingml/2006/main" noGrp="1"/>
          </p:cNvSpPr>
          <p:nvPr/>
        </p:nvSpPr>
        <p:spPr>
          <a:xfrm xmlns:a="http://schemas.openxmlformats.org/drawingml/2006/main">
            <a:off x="685800" y="1352550"/>
            <a:ext cx="314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875" b="1">
                <a:solidFill>
                  <a:srgbClr val="178C8C"/>
                </a:solidFill>
                <a:latin typeface="Helvetica Neue"/>
                <a:ea typeface="Helvetica Neue"/>
                <a:cs typeface="Helvetica Neue"/>
              </a:defRPr>
            </a:pPr>
            <a:r>
              <a:rPr sz="1875" b="1">
                <a:solidFill>
                  <a:srgbClr val="178C8C"/>
                </a:solidFill>
                <a:latin typeface="Helvetica Neue"/>
                <a:ea typeface="Helvetica Neue"/>
                <a:cs typeface="Helvetica Neue"/>
              </a:rPr>
              <a:t>Matching hierarchy</a:t>
            </a:r>
          </a:p>
        </p:txBody>
      </p:sp>
      <p:sp>
        <p:nvSpPr>
          <p:cNvPr id="5" name="">
            <a:extLst xmlns:a="http://schemas.openxmlformats.org/drawingml/2006/main">
              <a:ext uri="{FF2B5EF4-FFF2-40B4-BE49-F238E27FC236}">
                <a16:creationId xmlns:a16="http://schemas.microsoft.com/office/drawing/2014/main" id="{EAFC7C00-5E0A-484E-9154-15CDBDEBE92C}"/>
              </a:ext>
            </a:extLst>
          </p:cNvPr>
          <p:cNvSpPr>
            <a:spLocks xmlns:a="http://schemas.openxmlformats.org/drawingml/2006/main" noGrp="1"/>
          </p:cNvSpPr>
          <p:nvPr/>
        </p:nvSpPr>
        <p:spPr>
          <a:xfrm xmlns:a="http://schemas.openxmlformats.org/drawingml/2006/main">
            <a:off x="704850" y="1866900"/>
            <a:ext cx="438150" cy="438150"/>
          </a:xfrm>
          <a:prstGeom xmlns:a="http://schemas.openxmlformats.org/drawingml/2006/main" prst="roundRect">
            <a:avLst>
              <a:gd name="adj" fmla="val 50000"/>
            </a:avLst>
          </a:prstGeom>
          <a:solidFill xmlns:a="http://schemas.openxmlformats.org/drawingml/2006/main">
            <a:srgbClr val="0B1F33"/>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2BCF13E9-9B68-4FA2-BB75-F75DBF218E76}"/>
              </a:ext>
            </a:extLst>
          </p:cNvPr>
          <p:cNvSpPr>
            <a:spLocks xmlns:a="http://schemas.openxmlformats.org/drawingml/2006/main" noGrp="1"/>
          </p:cNvSpPr>
          <p:nvPr/>
        </p:nvSpPr>
        <p:spPr>
          <a:xfrm xmlns:a="http://schemas.openxmlformats.org/drawingml/2006/main">
            <a:off x="704850" y="1905000"/>
            <a:ext cx="4381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0000"/>
              </a:lnSpc>
              <a:buNone/>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A</a:t>
            </a:r>
          </a:p>
        </p:txBody>
      </p:sp>
      <p:sp>
        <p:nvSpPr>
          <p:cNvPr id="7" name="">
            <a:extLst xmlns:a="http://schemas.openxmlformats.org/drawingml/2006/main">
              <a:ext uri="{FF2B5EF4-FFF2-40B4-BE49-F238E27FC236}">
                <a16:creationId xmlns:a16="http://schemas.microsoft.com/office/drawing/2014/main" id="{C346A37A-F3D4-485B-BA94-678B1DA20FFD}"/>
              </a:ext>
            </a:extLst>
          </p:cNvPr>
          <p:cNvSpPr>
            <a:spLocks xmlns:a="http://schemas.openxmlformats.org/drawingml/2006/main" noGrp="1"/>
          </p:cNvSpPr>
          <p:nvPr/>
        </p:nvSpPr>
        <p:spPr>
          <a:xfrm xmlns:a="http://schemas.openxmlformats.org/drawingml/2006/main">
            <a:off x="1333500" y="1866900"/>
            <a:ext cx="3619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00" b="1">
                <a:solidFill>
                  <a:srgbClr val="0B1F33"/>
                </a:solidFill>
                <a:latin typeface="Helvetica Neue"/>
                <a:ea typeface="Helvetica Neue"/>
                <a:cs typeface="Helvetica Neue"/>
              </a:defRPr>
            </a:pPr>
            <a:r>
              <a:rPr sz="1500" b="1">
                <a:solidFill>
                  <a:srgbClr val="0B1F33"/>
                </a:solidFill>
                <a:latin typeface="Helvetica Neue"/>
                <a:ea typeface="Helvetica Neue"/>
                <a:cs typeface="Helvetica Neue"/>
              </a:rPr>
              <a:t>Extract participant IDs</a:t>
            </a:r>
          </a:p>
        </p:txBody>
      </p:sp>
      <p:sp>
        <p:nvSpPr>
          <p:cNvPr id="8" name="">
            <a:extLst xmlns:a="http://schemas.openxmlformats.org/drawingml/2006/main">
              <a:ext uri="{FF2B5EF4-FFF2-40B4-BE49-F238E27FC236}">
                <a16:creationId xmlns:a16="http://schemas.microsoft.com/office/drawing/2014/main" id="{38CF555B-2CB2-422F-8DA6-305A74D87CC7}"/>
              </a:ext>
            </a:extLst>
          </p:cNvPr>
          <p:cNvSpPr>
            <a:spLocks xmlns:a="http://schemas.openxmlformats.org/drawingml/2006/main" noGrp="1"/>
          </p:cNvSpPr>
          <p:nvPr/>
        </p:nvSpPr>
        <p:spPr>
          <a:xfrm xmlns:a="http://schemas.openxmlformats.org/drawingml/2006/main">
            <a:off x="1333500" y="2190750"/>
            <a:ext cx="400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200" b="0">
                <a:solidFill>
                  <a:srgbClr val="5E6C78"/>
                </a:solidFill>
                <a:latin typeface="Helvetica Neue"/>
                <a:ea typeface="Helvetica Neue"/>
                <a:cs typeface="Helvetica Neue"/>
              </a:defRPr>
            </a:pPr>
            <a:r>
              <a:rPr sz="1200" b="0">
                <a:solidFill>
                  <a:srgbClr val="5E6C78"/>
                </a:solidFill>
                <a:latin typeface="Helvetica Neue"/>
                <a:ea typeface="Helvetica Neue"/>
                <a:cs typeface="Helvetica Neue"/>
              </a:rPr>
              <a:t>Parse cleaned Meeting Notes Plain and normalize ID formats.</a:t>
            </a:r>
          </a:p>
        </p:txBody>
      </p:sp>
      <p:sp>
        <p:nvSpPr>
          <p:cNvPr id="9" name="">
            <a:extLst xmlns:a="http://schemas.openxmlformats.org/drawingml/2006/main">
              <a:ext uri="{FF2B5EF4-FFF2-40B4-BE49-F238E27FC236}">
                <a16:creationId xmlns:a16="http://schemas.microsoft.com/office/drawing/2014/main" id="{BF246619-519D-4571-98E0-B2E52CEA9946}"/>
              </a:ext>
            </a:extLst>
          </p:cNvPr>
          <p:cNvSpPr>
            <a:spLocks xmlns:a="http://schemas.openxmlformats.org/drawingml/2006/main" noGrp="1"/>
          </p:cNvSpPr>
          <p:nvPr/>
        </p:nvSpPr>
        <p:spPr>
          <a:xfrm xmlns:a="http://schemas.openxmlformats.org/drawingml/2006/main">
            <a:off x="704850" y="2867025"/>
            <a:ext cx="438150" cy="438150"/>
          </a:xfrm>
          <a:prstGeom xmlns:a="http://schemas.openxmlformats.org/drawingml/2006/main" prst="roundRect">
            <a:avLst>
              <a:gd name="adj" fmla="val 50000"/>
            </a:avLst>
          </a:prstGeom>
          <a:solidFill xmlns:a="http://schemas.openxmlformats.org/drawingml/2006/main">
            <a:srgbClr val="0B1F33"/>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76AAEA51-072A-4B34-AD14-B86120D11BA2}"/>
              </a:ext>
            </a:extLst>
          </p:cNvPr>
          <p:cNvSpPr>
            <a:spLocks xmlns:a="http://schemas.openxmlformats.org/drawingml/2006/main" noGrp="1"/>
          </p:cNvSpPr>
          <p:nvPr/>
        </p:nvSpPr>
        <p:spPr>
          <a:xfrm xmlns:a="http://schemas.openxmlformats.org/drawingml/2006/main">
            <a:off x="704850" y="2905125"/>
            <a:ext cx="4381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0000"/>
              </a:lnSpc>
              <a:buNone/>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B</a:t>
            </a:r>
          </a:p>
        </p:txBody>
      </p:sp>
      <p:sp>
        <p:nvSpPr>
          <p:cNvPr id="11" name="">
            <a:extLst xmlns:a="http://schemas.openxmlformats.org/drawingml/2006/main">
              <a:ext uri="{FF2B5EF4-FFF2-40B4-BE49-F238E27FC236}">
                <a16:creationId xmlns:a16="http://schemas.microsoft.com/office/drawing/2014/main" id="{2C4A49D0-46A2-466A-9727-5FAA2F203F0B}"/>
              </a:ext>
            </a:extLst>
          </p:cNvPr>
          <p:cNvSpPr>
            <a:spLocks xmlns:a="http://schemas.openxmlformats.org/drawingml/2006/main" noGrp="1"/>
          </p:cNvSpPr>
          <p:nvPr/>
        </p:nvSpPr>
        <p:spPr>
          <a:xfrm xmlns:a="http://schemas.openxmlformats.org/drawingml/2006/main">
            <a:off x="1333500" y="2867025"/>
            <a:ext cx="3619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00" b="1">
                <a:solidFill>
                  <a:srgbClr val="0B1F33"/>
                </a:solidFill>
                <a:latin typeface="Helvetica Neue"/>
                <a:ea typeface="Helvetica Neue"/>
                <a:cs typeface="Helvetica Neue"/>
              </a:defRPr>
            </a:pPr>
            <a:r>
              <a:rPr sz="1500" b="1">
                <a:solidFill>
                  <a:srgbClr val="0B1F33"/>
                </a:solidFill>
                <a:latin typeface="Helvetica Neue"/>
                <a:ea typeface="Helvetica Neue"/>
                <a:cs typeface="Helvetica Neue"/>
              </a:rPr>
              <a:t>Verify the child</a:t>
            </a:r>
          </a:p>
        </p:txBody>
      </p:sp>
      <p:sp>
        <p:nvSpPr>
          <p:cNvPr id="12" name="">
            <a:extLst xmlns:a="http://schemas.openxmlformats.org/drawingml/2006/main">
              <a:ext uri="{FF2B5EF4-FFF2-40B4-BE49-F238E27FC236}">
                <a16:creationId xmlns:a16="http://schemas.microsoft.com/office/drawing/2014/main" id="{C4794EC7-21CE-46B8-9AD4-3D5D4FFA680F}"/>
              </a:ext>
            </a:extLst>
          </p:cNvPr>
          <p:cNvSpPr>
            <a:spLocks xmlns:a="http://schemas.openxmlformats.org/drawingml/2006/main" noGrp="1"/>
          </p:cNvSpPr>
          <p:nvPr/>
        </p:nvSpPr>
        <p:spPr>
          <a:xfrm xmlns:a="http://schemas.openxmlformats.org/drawingml/2006/main">
            <a:off x="1333500" y="3190875"/>
            <a:ext cx="400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200" b="0">
                <a:solidFill>
                  <a:srgbClr val="5E6C78"/>
                </a:solidFill>
                <a:latin typeface="Helvetica Neue"/>
                <a:ea typeface="Helvetica Neue"/>
                <a:cs typeface="Helvetica Neue"/>
              </a:defRPr>
            </a:pPr>
            <a:r>
              <a:rPr sz="1200" b="0">
                <a:solidFill>
                  <a:srgbClr val="5E6C78"/>
                </a:solidFill>
                <a:latin typeface="Helvetica Neue"/>
                <a:ea typeface="Helvetica Neue"/>
                <a:cs typeface="Helvetica Neue"/>
              </a:rPr>
              <a:t>Use exact cleaned child first and last name as the primary safeguard.</a:t>
            </a:r>
          </a:p>
        </p:txBody>
      </p:sp>
      <p:sp>
        <p:nvSpPr>
          <p:cNvPr id="13" name="">
            <a:extLst xmlns:a="http://schemas.openxmlformats.org/drawingml/2006/main">
              <a:ext uri="{FF2B5EF4-FFF2-40B4-BE49-F238E27FC236}">
                <a16:creationId xmlns:a16="http://schemas.microsoft.com/office/drawing/2014/main" id="{776F4B3F-51CC-4D29-9FB4-3FB0B0C526B1}"/>
              </a:ext>
            </a:extLst>
          </p:cNvPr>
          <p:cNvSpPr>
            <a:spLocks xmlns:a="http://schemas.openxmlformats.org/drawingml/2006/main" noGrp="1"/>
          </p:cNvSpPr>
          <p:nvPr/>
        </p:nvSpPr>
        <p:spPr>
          <a:xfrm xmlns:a="http://schemas.openxmlformats.org/drawingml/2006/main">
            <a:off x="704850" y="3867150"/>
            <a:ext cx="438150" cy="438150"/>
          </a:xfrm>
          <a:prstGeom xmlns:a="http://schemas.openxmlformats.org/drawingml/2006/main" prst="roundRect">
            <a:avLst>
              <a:gd name="adj" fmla="val 50000"/>
            </a:avLst>
          </a:prstGeom>
          <a:solidFill xmlns:a="http://schemas.openxmlformats.org/drawingml/2006/main">
            <a:srgbClr val="0B1F33"/>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AAE5E8D7-306A-407A-A4B8-E8A636ED13B7}"/>
              </a:ext>
            </a:extLst>
          </p:cNvPr>
          <p:cNvSpPr>
            <a:spLocks xmlns:a="http://schemas.openxmlformats.org/drawingml/2006/main" noGrp="1"/>
          </p:cNvSpPr>
          <p:nvPr/>
        </p:nvSpPr>
        <p:spPr>
          <a:xfrm xmlns:a="http://schemas.openxmlformats.org/drawingml/2006/main">
            <a:off x="704850" y="3905250"/>
            <a:ext cx="4381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0000"/>
              </a:lnSpc>
              <a:buNone/>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C</a:t>
            </a:r>
          </a:p>
        </p:txBody>
      </p:sp>
      <p:sp>
        <p:nvSpPr>
          <p:cNvPr id="15" name="">
            <a:extLst xmlns:a="http://schemas.openxmlformats.org/drawingml/2006/main">
              <a:ext uri="{FF2B5EF4-FFF2-40B4-BE49-F238E27FC236}">
                <a16:creationId xmlns:a16="http://schemas.microsoft.com/office/drawing/2014/main" id="{FBAF1EDB-69A8-4701-B555-9BE1DF357C74}"/>
              </a:ext>
            </a:extLst>
          </p:cNvPr>
          <p:cNvSpPr>
            <a:spLocks xmlns:a="http://schemas.openxmlformats.org/drawingml/2006/main" noGrp="1"/>
          </p:cNvSpPr>
          <p:nvPr/>
        </p:nvSpPr>
        <p:spPr>
          <a:xfrm xmlns:a="http://schemas.openxmlformats.org/drawingml/2006/main">
            <a:off x="1333500" y="3867150"/>
            <a:ext cx="3619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00" b="1">
                <a:solidFill>
                  <a:srgbClr val="0B1F33"/>
                </a:solidFill>
                <a:latin typeface="Helvetica Neue"/>
                <a:ea typeface="Helvetica Neue"/>
                <a:cs typeface="Helvetica Neue"/>
              </a:defRPr>
            </a:pPr>
            <a:r>
              <a:rPr sz="1500" b="1">
                <a:solidFill>
                  <a:srgbClr val="0B1F33"/>
                </a:solidFill>
                <a:latin typeface="Helvetica Neue"/>
                <a:ea typeface="Helvetica Neue"/>
                <a:cs typeface="Helvetica Neue"/>
              </a:rPr>
              <a:t>Use the cohort crosswalk</a:t>
            </a:r>
          </a:p>
        </p:txBody>
      </p:sp>
      <p:sp>
        <p:nvSpPr>
          <p:cNvPr id="16" name="">
            <a:extLst xmlns:a="http://schemas.openxmlformats.org/drawingml/2006/main">
              <a:ext uri="{FF2B5EF4-FFF2-40B4-BE49-F238E27FC236}">
                <a16:creationId xmlns:a16="http://schemas.microsoft.com/office/drawing/2014/main" id="{9DFABB44-F7D7-4BC5-B383-301B42CDB872}"/>
              </a:ext>
            </a:extLst>
          </p:cNvPr>
          <p:cNvSpPr>
            <a:spLocks xmlns:a="http://schemas.openxmlformats.org/drawingml/2006/main" noGrp="1"/>
          </p:cNvSpPr>
          <p:nvPr/>
        </p:nvSpPr>
        <p:spPr>
          <a:xfrm xmlns:a="http://schemas.openxmlformats.org/drawingml/2006/main">
            <a:off x="1333500" y="4191000"/>
            <a:ext cx="400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200" b="0">
                <a:solidFill>
                  <a:srgbClr val="5E6C78"/>
                </a:solidFill>
                <a:latin typeface="Helvetica Neue"/>
                <a:ea typeface="Helvetica Neue"/>
                <a:cs typeface="Helvetica Neue"/>
              </a:defRPr>
            </a:pPr>
            <a:r>
              <a:rPr sz="1200" b="0">
                <a:solidFill>
                  <a:srgbClr val="5E6C78"/>
                </a:solidFill>
                <a:latin typeface="Helvetica Neue"/>
                <a:ea typeface="Helvetica Neue"/>
                <a:cs typeface="Helvetica Neue"/>
              </a:rPr>
              <a:t>Map mother and child IDs through CHARM_Cohort_List.xlsx.</a:t>
            </a:r>
          </a:p>
        </p:txBody>
      </p:sp>
      <p:sp>
        <p:nvSpPr>
          <p:cNvPr id="17" name="">
            <a:extLst xmlns:a="http://schemas.openxmlformats.org/drawingml/2006/main">
              <a:ext uri="{FF2B5EF4-FFF2-40B4-BE49-F238E27FC236}">
                <a16:creationId xmlns:a16="http://schemas.microsoft.com/office/drawing/2014/main" id="{7FC24F70-1EF0-4A87-934A-EC4C79E6542A}"/>
              </a:ext>
            </a:extLst>
          </p:cNvPr>
          <p:cNvSpPr>
            <a:spLocks xmlns:a="http://schemas.openxmlformats.org/drawingml/2006/main" noGrp="1"/>
          </p:cNvSpPr>
          <p:nvPr/>
        </p:nvSpPr>
        <p:spPr>
          <a:xfrm xmlns:a="http://schemas.openxmlformats.org/drawingml/2006/main">
            <a:off x="704850" y="4867275"/>
            <a:ext cx="438150" cy="438150"/>
          </a:xfrm>
          <a:prstGeom xmlns:a="http://schemas.openxmlformats.org/drawingml/2006/main" prst="roundRect">
            <a:avLst>
              <a:gd name="adj" fmla="val 50000"/>
            </a:avLst>
          </a:prstGeom>
          <a:solidFill xmlns:a="http://schemas.openxmlformats.org/drawingml/2006/main">
            <a:srgbClr val="0B1F33"/>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2B074AC0-BEFE-4CA6-8A56-FF6142212F2C}"/>
              </a:ext>
            </a:extLst>
          </p:cNvPr>
          <p:cNvSpPr>
            <a:spLocks xmlns:a="http://schemas.openxmlformats.org/drawingml/2006/main" noGrp="1"/>
          </p:cNvSpPr>
          <p:nvPr/>
        </p:nvSpPr>
        <p:spPr>
          <a:xfrm xmlns:a="http://schemas.openxmlformats.org/drawingml/2006/main">
            <a:off x="704850" y="4905375"/>
            <a:ext cx="4381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0000"/>
              </a:lnSpc>
              <a:buNone/>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D</a:t>
            </a:r>
          </a:p>
        </p:txBody>
      </p:sp>
      <p:sp>
        <p:nvSpPr>
          <p:cNvPr id="19" name="">
            <a:extLst xmlns:a="http://schemas.openxmlformats.org/drawingml/2006/main">
              <a:ext uri="{FF2B5EF4-FFF2-40B4-BE49-F238E27FC236}">
                <a16:creationId xmlns:a16="http://schemas.microsoft.com/office/drawing/2014/main" id="{98313EB6-3936-4CED-8B25-78053C7F855A}"/>
              </a:ext>
            </a:extLst>
          </p:cNvPr>
          <p:cNvSpPr>
            <a:spLocks xmlns:a="http://schemas.openxmlformats.org/drawingml/2006/main" noGrp="1"/>
          </p:cNvSpPr>
          <p:nvPr/>
        </p:nvSpPr>
        <p:spPr>
          <a:xfrm xmlns:a="http://schemas.openxmlformats.org/drawingml/2006/main">
            <a:off x="1333500" y="4867275"/>
            <a:ext cx="3619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00" b="1">
                <a:solidFill>
                  <a:srgbClr val="0B1F33"/>
                </a:solidFill>
                <a:latin typeface="Helvetica Neue"/>
                <a:ea typeface="Helvetica Neue"/>
                <a:cs typeface="Helvetica Neue"/>
              </a:defRPr>
            </a:pPr>
            <a:r>
              <a:rPr sz="1500" b="1">
                <a:solidFill>
                  <a:srgbClr val="0B1F33"/>
                </a:solidFill>
                <a:latin typeface="Helvetica Neue"/>
                <a:ea typeface="Helvetica Neue"/>
                <a:cs typeface="Helvetica Neue"/>
              </a:rPr>
              <a:t>Normalize age</a:t>
            </a:r>
          </a:p>
        </p:txBody>
      </p:sp>
      <p:sp>
        <p:nvSpPr>
          <p:cNvPr id="20" name="">
            <a:extLst xmlns:a="http://schemas.openxmlformats.org/drawingml/2006/main">
              <a:ext uri="{FF2B5EF4-FFF2-40B4-BE49-F238E27FC236}">
                <a16:creationId xmlns:a16="http://schemas.microsoft.com/office/drawing/2014/main" id="{289C2AF6-F100-46EA-A0DC-FC33466EFD30}"/>
              </a:ext>
            </a:extLst>
          </p:cNvPr>
          <p:cNvSpPr>
            <a:spLocks xmlns:a="http://schemas.openxmlformats.org/drawingml/2006/main" noGrp="1"/>
          </p:cNvSpPr>
          <p:nvPr/>
        </p:nvSpPr>
        <p:spPr>
          <a:xfrm xmlns:a="http://schemas.openxmlformats.org/drawingml/2006/main">
            <a:off x="1333500" y="5191125"/>
            <a:ext cx="400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200" b="0">
                <a:solidFill>
                  <a:srgbClr val="5E6C78"/>
                </a:solidFill>
                <a:latin typeface="Helvetica Neue"/>
                <a:ea typeface="Helvetica Neue"/>
                <a:cs typeface="Helvetica Neue"/>
              </a:defRPr>
            </a:pPr>
            <a:r>
              <a:rPr sz="1200" b="0">
                <a:solidFill>
                  <a:srgbClr val="5E6C78"/>
                </a:solidFill>
                <a:latin typeface="Helvetica Neue"/>
                <a:ea typeface="Helvetica Neue"/>
                <a:cs typeface="Helvetica Neue"/>
              </a:rPr>
              <a:t>Convert Child Age to years, then assign the applicable IPA age band.</a:t>
            </a:r>
          </a:p>
        </p:txBody>
      </p:sp>
      <p:sp>
        <p:nvSpPr>
          <p:cNvPr id="21" name="">
            <a:extLst xmlns:a="http://schemas.openxmlformats.org/drawingml/2006/main">
              <a:ext uri="{FF2B5EF4-FFF2-40B4-BE49-F238E27FC236}">
                <a16:creationId xmlns:a16="http://schemas.microsoft.com/office/drawing/2014/main" id="{E90B150F-6ADB-4922-BA85-6B80E0BEF5E4}"/>
              </a:ext>
            </a:extLst>
          </p:cNvPr>
          <p:cNvSpPr>
            <a:spLocks xmlns:a="http://schemas.openxmlformats.org/drawingml/2006/main" noGrp="1"/>
          </p:cNvSpPr>
          <p:nvPr/>
        </p:nvSpPr>
        <p:spPr>
          <a:xfrm xmlns:a="http://schemas.openxmlformats.org/drawingml/2006/main">
            <a:off x="5810250" y="1400175"/>
            <a:ext cx="5238750" cy="2038350"/>
          </a:xfrm>
          <a:prstGeom xmlns:a="http://schemas.openxmlformats.org/drawingml/2006/main" prst="roundRect">
            <a:avLst>
              <a:gd name="adj" fmla="val 8411"/>
            </a:avLst>
          </a:prstGeom>
          <a:solidFill xmlns:a="http://schemas.openxmlformats.org/drawingml/2006/main">
            <a:srgbClr val="EDF7F6"/>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77358F46-2497-4371-ADE8-5442BCF0A569}"/>
              </a:ext>
            </a:extLst>
          </p:cNvPr>
          <p:cNvSpPr>
            <a:spLocks xmlns:a="http://schemas.openxmlformats.org/drawingml/2006/main" noGrp="1"/>
          </p:cNvSpPr>
          <p:nvPr/>
        </p:nvSpPr>
        <p:spPr>
          <a:xfrm xmlns:a="http://schemas.openxmlformats.org/drawingml/2006/main">
            <a:off x="6076950" y="1638300"/>
            <a:ext cx="1762125" cy="323850"/>
          </a:xfrm>
          <a:prstGeom xmlns:a="http://schemas.openxmlformats.org/drawingml/2006/main" prst="roundRect">
            <a:avLst>
              <a:gd name="adj" fmla="val 50000"/>
            </a:avLst>
          </a:prstGeom>
          <a:solidFill xmlns:a="http://schemas.openxmlformats.org/drawingml/2006/main">
            <a:srgbClr val="CFEAE7"/>
          </a:solidFill>
          <a:ln xmlns:a="http://schemas.openxmlformats.org/drawingml/2006/main" w="0">
            <a:noFill/>
            <a:prstDash val="solid"/>
          </a:ln>
        </p:spPr>
        <p:txBody>
          <a:bodyPr xmlns:a="http://schemas.openxmlformats.org/drawingml/2006/main" lIns="57150" tIns="19050" rIns="57150" bIns="19050" anchor="ctr">
            <a:noAutofit/>
          </a:bodyPr>
          <a:lstStyle xmlns:a="http://schemas.openxmlformats.org/drawingml/2006/main"/>
          <a:p xmlns:a="http://schemas.openxmlformats.org/drawingml/2006/main">
            <a:pPr algn="ctr">
              <a:defRPr sz="1125" b="1">
                <a:solidFill>
                  <a:srgbClr val="178C8C"/>
                </a:solidFill>
                <a:latin typeface="Helvetica Neue"/>
                <a:ea typeface="Helvetica Neue"/>
                <a:cs typeface="Helvetica Neue"/>
              </a:defRPr>
            </a:pPr>
            <a:r>
              <a:rPr sz="1125" b="1">
                <a:solidFill>
                  <a:srgbClr val="178C8C"/>
                </a:solidFill>
                <a:latin typeface="Helvetica Neue"/>
                <a:ea typeface="Helvetica Neue"/>
                <a:cs typeface="Helvetica Neue"/>
              </a:rPr>
              <a:t>MULTIPLE CHILD IDs</a:t>
            </a:r>
          </a:p>
        </p:txBody>
      </p:sp>
      <p:sp>
        <p:nvSpPr>
          <p:cNvPr id="23" name="">
            <a:extLst xmlns:a="http://schemas.openxmlformats.org/drawingml/2006/main">
              <a:ext uri="{FF2B5EF4-FFF2-40B4-BE49-F238E27FC236}">
                <a16:creationId xmlns:a16="http://schemas.microsoft.com/office/drawing/2014/main" id="{E9880CA5-5127-444D-B58D-8832D7A4DC86}"/>
              </a:ext>
            </a:extLst>
          </p:cNvPr>
          <p:cNvSpPr>
            <a:spLocks xmlns:a="http://schemas.openxmlformats.org/drawingml/2006/main" noGrp="1"/>
          </p:cNvSpPr>
          <p:nvPr/>
        </p:nvSpPr>
        <p:spPr>
          <a:xfrm xmlns:a="http://schemas.openxmlformats.org/drawingml/2006/main">
            <a:off x="6076950" y="2152650"/>
            <a:ext cx="4667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725" b="1">
                <a:solidFill>
                  <a:srgbClr val="0B1F33"/>
                </a:solidFill>
                <a:latin typeface="Helvetica Neue"/>
                <a:ea typeface="Helvetica Neue"/>
                <a:cs typeface="Helvetica Neue"/>
              </a:defRPr>
            </a:pPr>
            <a:r>
              <a:rPr sz="1725" b="1">
                <a:solidFill>
                  <a:srgbClr val="0B1F33"/>
                </a:solidFill>
                <a:latin typeface="Helvetica Neue"/>
                <a:ea typeface="Helvetica Neue"/>
                <a:cs typeface="Helvetica Neue"/>
              </a:rPr>
              <a:t>VDW899-01-A   VDW899-01-B</a:t>
            </a:r>
          </a:p>
        </p:txBody>
      </p:sp>
      <p:sp>
        <p:nvSpPr>
          <p:cNvPr id="24" name="">
            <a:extLst xmlns:a="http://schemas.openxmlformats.org/drawingml/2006/main">
              <a:ext uri="{FF2B5EF4-FFF2-40B4-BE49-F238E27FC236}">
                <a16:creationId xmlns:a16="http://schemas.microsoft.com/office/drawing/2014/main" id="{FA220966-59BE-4624-B530-7B8EF51709E9}"/>
              </a:ext>
            </a:extLst>
          </p:cNvPr>
          <p:cNvSpPr>
            <a:spLocks xmlns:a="http://schemas.openxmlformats.org/drawingml/2006/main" noGrp="1"/>
          </p:cNvSpPr>
          <p:nvPr/>
        </p:nvSpPr>
        <p:spPr>
          <a:xfrm xmlns:a="http://schemas.openxmlformats.org/drawingml/2006/main">
            <a:off x="6076950" y="2676525"/>
            <a:ext cx="885825" cy="285750"/>
          </a:xfrm>
          <a:prstGeom xmlns:a="http://schemas.openxmlformats.org/drawingml/2006/main" prst="rightArrow">
            <a:avLst/>
          </a:prstGeom>
          <a:solidFill xmlns:a="http://schemas.openxmlformats.org/drawingml/2006/main">
            <a:srgbClr val="178C8C"/>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1C6C6AFD-79C9-41F0-B8CD-5579B1F77FDE}"/>
              </a:ext>
            </a:extLst>
          </p:cNvPr>
          <p:cNvSpPr>
            <a:spLocks xmlns:a="http://schemas.openxmlformats.org/drawingml/2006/main" noGrp="1"/>
          </p:cNvSpPr>
          <p:nvPr/>
        </p:nvSpPr>
        <p:spPr>
          <a:xfrm xmlns:a="http://schemas.openxmlformats.org/drawingml/2006/main">
            <a:off x="7143750" y="2686050"/>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75" b="1">
                <a:solidFill>
                  <a:srgbClr val="0B1F33"/>
                </a:solidFill>
                <a:latin typeface="Helvetica Neue"/>
                <a:ea typeface="Helvetica Neue"/>
                <a:cs typeface="Helvetica Neue"/>
              </a:defRPr>
            </a:pPr>
            <a:r>
              <a:rPr sz="1575" b="1">
                <a:solidFill>
                  <a:srgbClr val="0B1F33"/>
                </a:solidFill>
                <a:latin typeface="Helvetica Neue"/>
                <a:ea typeface="Helvetica Neue"/>
                <a:cs typeface="Helvetica Neue"/>
              </a:rPr>
              <a:t>Create two booking rows</a:t>
            </a:r>
          </a:p>
        </p:txBody>
      </p:sp>
      <p:sp>
        <p:nvSpPr>
          <p:cNvPr id="26" name="">
            <a:extLst xmlns:a="http://schemas.openxmlformats.org/drawingml/2006/main">
              <a:ext uri="{FF2B5EF4-FFF2-40B4-BE49-F238E27FC236}">
                <a16:creationId xmlns:a16="http://schemas.microsoft.com/office/drawing/2014/main" id="{A9C40076-D7EC-463A-A10A-1E572C8953E2}"/>
              </a:ext>
            </a:extLst>
          </p:cNvPr>
          <p:cNvSpPr>
            <a:spLocks xmlns:a="http://schemas.openxmlformats.org/drawingml/2006/main" noGrp="1"/>
          </p:cNvSpPr>
          <p:nvPr/>
        </p:nvSpPr>
        <p:spPr>
          <a:xfrm xmlns:a="http://schemas.openxmlformats.org/drawingml/2006/main">
            <a:off x="6076950" y="3067050"/>
            <a:ext cx="447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275" b="0">
                <a:solidFill>
                  <a:srgbClr val="5E6C78"/>
                </a:solidFill>
                <a:latin typeface="Helvetica Neue"/>
                <a:ea typeface="Helvetica Neue"/>
                <a:cs typeface="Helvetica Neue"/>
              </a:defRPr>
            </a:pPr>
            <a:r>
              <a:rPr sz="1275" b="0">
                <a:solidFill>
                  <a:srgbClr val="5E6C78"/>
                </a:solidFill>
                <a:latin typeface="Helvetica Neue"/>
                <a:ea typeface="Helvetica Neue"/>
                <a:cs typeface="Helvetica Neue"/>
              </a:rPr>
              <a:t>Same Calendly content; one row per child ID.</a:t>
            </a:r>
          </a:p>
        </p:txBody>
      </p:sp>
      <p:sp>
        <p:nvSpPr>
          <p:cNvPr id="27" name="">
            <a:extLst xmlns:a="http://schemas.openxmlformats.org/drawingml/2006/main">
              <a:ext uri="{FF2B5EF4-FFF2-40B4-BE49-F238E27FC236}">
                <a16:creationId xmlns:a16="http://schemas.microsoft.com/office/drawing/2014/main" id="{D1C45493-F546-4C44-BB4C-8F8BC9D3DBB6}"/>
              </a:ext>
            </a:extLst>
          </p:cNvPr>
          <p:cNvSpPr>
            <a:spLocks xmlns:a="http://schemas.openxmlformats.org/drawingml/2006/main" noGrp="1"/>
          </p:cNvSpPr>
          <p:nvPr/>
        </p:nvSpPr>
        <p:spPr>
          <a:xfrm xmlns:a="http://schemas.openxmlformats.org/drawingml/2006/main">
            <a:off x="5810250" y="3695700"/>
            <a:ext cx="5238750" cy="2038350"/>
          </a:xfrm>
          <a:prstGeom xmlns:a="http://schemas.openxmlformats.org/drawingml/2006/main" prst="roundRect">
            <a:avLst>
              <a:gd name="adj" fmla="val 8411"/>
            </a:avLst>
          </a:prstGeom>
          <a:solidFill xmlns:a="http://schemas.openxmlformats.org/drawingml/2006/main">
            <a:srgbClr val="FFF3ED"/>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FE953605-696B-4D25-B382-E19AE45BD284}"/>
              </a:ext>
            </a:extLst>
          </p:cNvPr>
          <p:cNvSpPr>
            <a:spLocks xmlns:a="http://schemas.openxmlformats.org/drawingml/2006/main" noGrp="1"/>
          </p:cNvSpPr>
          <p:nvPr/>
        </p:nvSpPr>
        <p:spPr>
          <a:xfrm xmlns:a="http://schemas.openxmlformats.org/drawingml/2006/main">
            <a:off x="6076950" y="3933825"/>
            <a:ext cx="1752600" cy="323850"/>
          </a:xfrm>
          <a:prstGeom xmlns:a="http://schemas.openxmlformats.org/drawingml/2006/main" prst="roundRect">
            <a:avLst>
              <a:gd name="adj" fmla="val 50000"/>
            </a:avLst>
          </a:prstGeom>
          <a:solidFill xmlns:a="http://schemas.openxmlformats.org/drawingml/2006/main">
            <a:srgbClr val="FADDD3"/>
          </a:solidFill>
          <a:ln xmlns:a="http://schemas.openxmlformats.org/drawingml/2006/main" w="0">
            <a:noFill/>
            <a:prstDash val="solid"/>
          </a:ln>
        </p:spPr>
        <p:txBody>
          <a:bodyPr xmlns:a="http://schemas.openxmlformats.org/drawingml/2006/main" lIns="57150" tIns="19050" rIns="57150" bIns="19050" anchor="ctr">
            <a:noAutofit/>
          </a:bodyPr>
          <a:lstStyle xmlns:a="http://schemas.openxmlformats.org/drawingml/2006/main"/>
          <a:p xmlns:a="http://schemas.openxmlformats.org/drawingml/2006/main">
            <a:pPr algn="ctr">
              <a:defRPr sz="1125" b="1">
                <a:solidFill>
                  <a:srgbClr val="E76F51"/>
                </a:solidFill>
                <a:latin typeface="Helvetica Neue"/>
                <a:ea typeface="Helvetica Neue"/>
                <a:cs typeface="Helvetica Neue"/>
              </a:defRPr>
            </a:pPr>
            <a:r>
              <a:rPr sz="1125" b="1">
                <a:solidFill>
                  <a:srgbClr val="E76F51"/>
                </a:solidFill>
                <a:latin typeface="Helvetica Neue"/>
                <a:ea typeface="Helvetica Neue"/>
                <a:cs typeface="Helvetica Neue"/>
              </a:rPr>
              <a:t>MOTHER CUSTOM ID</a:t>
            </a:r>
          </a:p>
        </p:txBody>
      </p:sp>
      <p:sp>
        <p:nvSpPr>
          <p:cNvPr id="29" name="">
            <a:extLst xmlns:a="http://schemas.openxmlformats.org/drawingml/2006/main">
              <a:ext uri="{FF2B5EF4-FFF2-40B4-BE49-F238E27FC236}">
                <a16:creationId xmlns:a16="http://schemas.microsoft.com/office/drawing/2014/main" id="{04976910-7234-4726-83E7-6B9FB41D3CE4}"/>
              </a:ext>
            </a:extLst>
          </p:cNvPr>
          <p:cNvSpPr>
            <a:spLocks xmlns:a="http://schemas.openxmlformats.org/drawingml/2006/main" noGrp="1"/>
          </p:cNvSpPr>
          <p:nvPr/>
        </p:nvSpPr>
        <p:spPr>
          <a:xfrm xmlns:a="http://schemas.openxmlformats.org/drawingml/2006/main">
            <a:off x="6076950" y="4457700"/>
            <a:ext cx="4572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725" b="1">
                <a:solidFill>
                  <a:srgbClr val="0B1F33"/>
                </a:solidFill>
                <a:latin typeface="Helvetica Neue"/>
                <a:ea typeface="Helvetica Neue"/>
                <a:cs typeface="Helvetica Neue"/>
              </a:defRPr>
            </a:pPr>
            <a:r>
              <a:rPr sz="1725" b="1">
                <a:solidFill>
                  <a:srgbClr val="0B1F33"/>
                </a:solidFill>
                <a:latin typeface="Helvetica Neue"/>
                <a:ea typeface="Helvetica Neue"/>
                <a:cs typeface="Helvetica Neue"/>
              </a:rPr>
              <a:t>Do not match on the mother ID alone</a:t>
            </a:r>
          </a:p>
        </p:txBody>
      </p:sp>
      <p:sp>
        <p:nvSpPr>
          <p:cNvPr id="30" name="">
            <a:extLst xmlns:a="http://schemas.openxmlformats.org/drawingml/2006/main">
              <a:ext uri="{FF2B5EF4-FFF2-40B4-BE49-F238E27FC236}">
                <a16:creationId xmlns:a16="http://schemas.microsoft.com/office/drawing/2014/main" id="{21F7E9EC-BEFF-44E8-88BC-17214F5DADE1}"/>
              </a:ext>
            </a:extLst>
          </p:cNvPr>
          <p:cNvSpPr>
            <a:spLocks xmlns:a="http://schemas.openxmlformats.org/drawingml/2006/main" noGrp="1"/>
          </p:cNvSpPr>
          <p:nvPr/>
        </p:nvSpPr>
        <p:spPr>
          <a:xfrm xmlns:a="http://schemas.openxmlformats.org/drawingml/2006/main">
            <a:off x="6076950" y="4943475"/>
            <a:ext cx="4476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275" b="0">
                <a:solidFill>
                  <a:srgbClr val="5E6C78"/>
                </a:solidFill>
                <a:latin typeface="Helvetica Neue"/>
                <a:ea typeface="Helvetica Neue"/>
                <a:cs typeface="Helvetica Neue"/>
              </a:defRPr>
            </a:pPr>
            <a:r>
              <a:rPr sz="1275" b="0">
                <a:solidFill>
                  <a:srgbClr val="5E6C78"/>
                </a:solidFill>
                <a:latin typeface="Helvetica Neue"/>
                <a:ea typeface="Helvetica Neue"/>
                <a:cs typeface="Helvetica Neue"/>
              </a:rPr>
              <a:t>Require the child’s exact cleaned name before accepting the mapped child ID. This avoids assigning one mother’s booking to multiple children.</a:t>
            </a:r>
          </a:p>
        </p:txBody>
      </p:sp>
    </p:spTree>
    <p:extLst>
      <p:ext uri="{BB962C8B-B14F-4D97-AF65-F5344CB8AC3E}">
        <p14:creationId xmlns:p14="http://schemas.microsoft.com/office/powerpoint/2010/main" val="762104170"/>
      </p:ext>
    </p:extLst>
  </p:cSld>
</p:sld>
</file>

<file path=ppt/slides/slide4.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4B835015-5544-43B4-B8F3-15EAE210EFA7}"/>
              </a:ext>
            </a:extLst>
          </p:cNvPr>
          <p:cNvSpPr>
            <a:spLocks xmlns:a="http://schemas.openxmlformats.org/drawingml/2006/main" noGrp="1"/>
          </p:cNvSpPr>
          <p:nvPr/>
        </p:nvSpPr>
        <p:spPr>
          <a:xfrm xmlns:a="http://schemas.openxmlformats.org/drawingml/2006/main">
            <a:off x="609600" y="400050"/>
            <a:ext cx="1028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700" b="1">
                <a:solidFill>
                  <a:srgbClr val="0B1F33"/>
                </a:solidFill>
                <a:latin typeface="Helvetica Neue"/>
                <a:ea typeface="Helvetica Neue"/>
                <a:cs typeface="Helvetica Neue"/>
              </a:defRPr>
            </a:pPr>
            <a:r>
              <a:rPr sz="2700" b="1">
                <a:solidFill>
                  <a:srgbClr val="0B1F33"/>
                </a:solidFill>
                <a:latin typeface="Helvetica Neue"/>
                <a:ea typeface="Helvetica Neue"/>
                <a:cs typeface="Helvetica Neue"/>
              </a:rPr>
              <a:t>The latest booking within each age band determines IPA status</a:t>
            </a:r>
          </a:p>
        </p:txBody>
      </p:sp>
      <p:sp>
        <p:nvSpPr>
          <p:cNvPr id="2" name="">
            <a:extLst xmlns:a="http://schemas.openxmlformats.org/drawingml/2006/main">
              <a:ext uri="{FF2B5EF4-FFF2-40B4-BE49-F238E27FC236}">
                <a16:creationId xmlns:a16="http://schemas.microsoft.com/office/drawing/2014/main" id="{88C03E0E-77A3-49D9-B1CD-0A81178D7FFE}"/>
              </a:ext>
            </a:extLst>
          </p:cNvPr>
          <p:cNvSpPr>
            <a:spLocks xmlns:a="http://schemas.openxmlformats.org/drawingml/2006/main" noGrp="1"/>
          </p:cNvSpPr>
          <p:nvPr/>
        </p:nvSpPr>
        <p:spPr>
          <a:xfrm xmlns:a="http://schemas.openxmlformats.org/drawingml/2006/main">
            <a:off x="11144250" y="4572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200" b="1">
                <a:solidFill>
                  <a:srgbClr val="178C8C"/>
                </a:solidFill>
                <a:latin typeface="Helvetica Neue"/>
                <a:ea typeface="Helvetica Neue"/>
                <a:cs typeface="Helvetica Neue"/>
              </a:defRPr>
            </a:pPr>
            <a:r>
              <a:rPr sz="1200" b="1">
                <a:solidFill>
                  <a:srgbClr val="178C8C"/>
                </a:solidFill>
                <a:latin typeface="Helvetica Neue"/>
                <a:ea typeface="Helvetica Neue"/>
                <a:cs typeface="Helvetica Neue"/>
              </a:rPr>
              <a:t>04</a:t>
            </a:r>
          </a:p>
        </p:txBody>
      </p:sp>
      <p:sp>
        <p:nvSpPr>
          <p:cNvPr id="3" name="">
            <a:extLst xmlns:a="http://schemas.openxmlformats.org/drawingml/2006/main">
              <a:ext uri="{FF2B5EF4-FFF2-40B4-BE49-F238E27FC236}">
                <a16:creationId xmlns:a16="http://schemas.microsoft.com/office/drawing/2014/main" id="{E8BF781A-050C-4672-86BF-95B219AE558E}"/>
              </a:ext>
            </a:extLst>
          </p:cNvPr>
          <p:cNvSpPr>
            <a:spLocks xmlns:a="http://schemas.openxmlformats.org/drawingml/2006/main" noGrp="1"/>
          </p:cNvSpPr>
          <p:nvPr/>
        </p:nvSpPr>
        <p:spPr>
          <a:xfrm xmlns:a="http://schemas.openxmlformats.org/drawingml/2006/main">
            <a:off x="609600" y="1009650"/>
            <a:ext cx="10972800" cy="0"/>
          </a:xfrm>
          <a:prstGeom xmlns:a="http://schemas.openxmlformats.org/drawingml/2006/main" prst="line">
            <a:avLst/>
          </a:prstGeom>
          <a:noFill xmlns:a="http://schemas.openxmlformats.org/drawingml/2006/main"/>
          <a:ln xmlns:a="http://schemas.openxmlformats.org/drawingml/2006/main" w="9525">
            <a:solidFill>
              <a:srgbClr val="D4DEE5"/>
            </a:solidFill>
            <a:prstDash val="solid"/>
          </a:ln>
        </p:spPr>
      </p:sp>
      <p:sp>
        <p:nvSpPr>
          <p:cNvPr id="4" name="">
            <a:extLst xmlns:a="http://schemas.openxmlformats.org/drawingml/2006/main">
              <a:ext uri="{FF2B5EF4-FFF2-40B4-BE49-F238E27FC236}">
                <a16:creationId xmlns:a16="http://schemas.microsoft.com/office/drawing/2014/main" id="{709DC518-BC7F-484E-9B16-6CFF9982F1F9}"/>
              </a:ext>
            </a:extLst>
          </p:cNvPr>
          <p:cNvSpPr>
            <a:spLocks xmlns:a="http://schemas.openxmlformats.org/drawingml/2006/main" noGrp="1"/>
          </p:cNvSpPr>
          <p:nvPr/>
        </p:nvSpPr>
        <p:spPr>
          <a:xfrm xmlns:a="http://schemas.openxmlformats.org/drawingml/2006/main">
            <a:off x="685800" y="1257300"/>
            <a:ext cx="990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800" b="0">
                <a:solidFill>
                  <a:srgbClr val="5E6C78"/>
                </a:solidFill>
                <a:latin typeface="Helvetica Neue"/>
                <a:ea typeface="Helvetica Neue"/>
                <a:cs typeface="Helvetica Neue"/>
              </a:defRPr>
            </a:pPr>
            <a:r>
              <a:rPr sz="1800" b="0">
                <a:solidFill>
                  <a:srgbClr val="5E6C78"/>
                </a:solidFill>
                <a:latin typeface="Helvetica Neue"/>
                <a:ea typeface="Helvetica Neue"/>
                <a:cs typeface="Helvetica Neue"/>
              </a:rPr>
              <a:t>Records are grouped by participant and IPA age band—not participant alone.</a:t>
            </a:r>
          </a:p>
        </p:txBody>
      </p:sp>
      <p:sp>
        <p:nvSpPr>
          <p:cNvPr id="5" name="">
            <a:extLst xmlns:a="http://schemas.openxmlformats.org/drawingml/2006/main">
              <a:ext uri="{FF2B5EF4-FFF2-40B4-BE49-F238E27FC236}">
                <a16:creationId xmlns:a16="http://schemas.microsoft.com/office/drawing/2014/main" id="{12CE62A5-B629-4367-9272-FE3F19AB0D26}"/>
              </a:ext>
            </a:extLst>
          </p:cNvPr>
          <p:cNvSpPr>
            <a:spLocks xmlns:a="http://schemas.openxmlformats.org/drawingml/2006/main" noGrp="1"/>
          </p:cNvSpPr>
          <p:nvPr/>
        </p:nvSpPr>
        <p:spPr>
          <a:xfrm xmlns:a="http://schemas.openxmlformats.org/drawingml/2006/main">
            <a:off x="685800" y="1847850"/>
            <a:ext cx="2762250" cy="323850"/>
          </a:xfrm>
          <a:prstGeom xmlns:a="http://schemas.openxmlformats.org/drawingml/2006/main" prst="roundRect">
            <a:avLst>
              <a:gd name="adj" fmla="val 50000"/>
            </a:avLst>
          </a:prstGeom>
          <a:solidFill xmlns:a="http://schemas.openxmlformats.org/drawingml/2006/main">
            <a:srgbClr val="E8EFF3"/>
          </a:solidFill>
          <a:ln xmlns:a="http://schemas.openxmlformats.org/drawingml/2006/main" w="0">
            <a:noFill/>
            <a:prstDash val="solid"/>
          </a:ln>
        </p:spPr>
        <p:txBody>
          <a:bodyPr xmlns:a="http://schemas.openxmlformats.org/drawingml/2006/main" lIns="57150" tIns="19050" rIns="57150" bIns="19050" anchor="ctr">
            <a:noAutofit/>
          </a:bodyPr>
          <a:lstStyle xmlns:a="http://schemas.openxmlformats.org/drawingml/2006/main"/>
          <a:p xmlns:a="http://schemas.openxmlformats.org/drawingml/2006/main">
            <a:pPr algn="ctr">
              <a:defRPr sz="1125" b="1">
                <a:solidFill>
                  <a:srgbClr val="0B1F33"/>
                </a:solidFill>
                <a:latin typeface="Helvetica Neue"/>
                <a:ea typeface="Helvetica Neue"/>
                <a:cs typeface="Helvetica Neue"/>
              </a:defRPr>
            </a:pPr>
            <a:r>
              <a:rPr sz="1125" b="1">
                <a:solidFill>
                  <a:srgbClr val="0B1F33"/>
                </a:solidFill>
                <a:latin typeface="Helvetica Neue"/>
                <a:ea typeface="Helvetica Neue"/>
                <a:cs typeface="Helvetica Neue"/>
              </a:rPr>
              <a:t>EXAMPLE: SAME CHILD, SAME AGE BAND</a:t>
            </a:r>
          </a:p>
        </p:txBody>
      </p:sp>
      <p:sp>
        <p:nvSpPr>
          <p:cNvPr id="6" name="">
            <a:extLst xmlns:a="http://schemas.openxmlformats.org/drawingml/2006/main">
              <a:ext uri="{FF2B5EF4-FFF2-40B4-BE49-F238E27FC236}">
                <a16:creationId xmlns:a16="http://schemas.microsoft.com/office/drawing/2014/main" id="{CF1E3202-E3ED-47ED-9FED-439D89375A74}"/>
              </a:ext>
            </a:extLst>
          </p:cNvPr>
          <p:cNvSpPr>
            <a:spLocks xmlns:a="http://schemas.openxmlformats.org/drawingml/2006/main" noGrp="1"/>
          </p:cNvSpPr>
          <p:nvPr/>
        </p:nvSpPr>
        <p:spPr>
          <a:xfrm xmlns:a="http://schemas.openxmlformats.org/drawingml/2006/main">
            <a:off x="704850" y="2457450"/>
            <a:ext cx="2781300" cy="1352550"/>
          </a:xfrm>
          <a:prstGeom xmlns:a="http://schemas.openxmlformats.org/drawingml/2006/main" prst="roundRect">
            <a:avLst>
              <a:gd name="adj" fmla="val 9859"/>
            </a:avLst>
          </a:prstGeom>
          <a:solidFill xmlns:a="http://schemas.openxmlformats.org/drawingml/2006/main">
            <a:srgbClr val="FFFFFF"/>
          </a:solidFill>
          <a:ln xmlns:a="http://schemas.openxmlformats.org/drawingml/2006/main" w="9525">
            <a:solidFill>
              <a:srgbClr val="D4DEE5"/>
            </a:solidFill>
            <a:prstDash val="solid"/>
          </a:ln>
        </p:spPr>
      </p:sp>
      <p:sp>
        <p:nvSpPr>
          <p:cNvPr id="7" name="">
            <a:extLst xmlns:a="http://schemas.openxmlformats.org/drawingml/2006/main">
              <a:ext uri="{FF2B5EF4-FFF2-40B4-BE49-F238E27FC236}">
                <a16:creationId xmlns:a16="http://schemas.microsoft.com/office/drawing/2014/main" id="{93FAAC72-E4A3-4B30-B55D-AA18019A0BFF}"/>
              </a:ext>
            </a:extLst>
          </p:cNvPr>
          <p:cNvSpPr>
            <a:spLocks xmlns:a="http://schemas.openxmlformats.org/drawingml/2006/main" noGrp="1"/>
          </p:cNvSpPr>
          <p:nvPr/>
        </p:nvSpPr>
        <p:spPr>
          <a:xfrm xmlns:a="http://schemas.openxmlformats.org/drawingml/2006/main">
            <a:off x="933450" y="2676525"/>
            <a:ext cx="23241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00" b="1">
                <a:solidFill>
                  <a:srgbClr val="0B1F33"/>
                </a:solidFill>
                <a:latin typeface="Helvetica Neue"/>
                <a:ea typeface="Helvetica Neue"/>
                <a:cs typeface="Helvetica Neue"/>
              </a:defRPr>
            </a:pPr>
            <a:r>
              <a:rPr sz="1500" b="1">
                <a:solidFill>
                  <a:srgbClr val="0B1F33"/>
                </a:solidFill>
                <a:latin typeface="Helvetica Neue"/>
                <a:ea typeface="Helvetica Neue"/>
                <a:cs typeface="Helvetica Neue"/>
              </a:rPr>
              <a:t>Earlier appointment</a:t>
            </a:r>
          </a:p>
        </p:txBody>
      </p:sp>
      <p:sp>
        <p:nvSpPr>
          <p:cNvPr id="8" name="">
            <a:extLst xmlns:a="http://schemas.openxmlformats.org/drawingml/2006/main">
              <a:ext uri="{FF2B5EF4-FFF2-40B4-BE49-F238E27FC236}">
                <a16:creationId xmlns:a16="http://schemas.microsoft.com/office/drawing/2014/main" id="{55B32080-54F4-47A4-A517-879CD6877BB2}"/>
              </a:ext>
            </a:extLst>
          </p:cNvPr>
          <p:cNvSpPr>
            <a:spLocks xmlns:a="http://schemas.openxmlformats.org/drawingml/2006/main" noGrp="1"/>
          </p:cNvSpPr>
          <p:nvPr/>
        </p:nvSpPr>
        <p:spPr>
          <a:xfrm xmlns:a="http://schemas.openxmlformats.org/drawingml/2006/main">
            <a:off x="933450" y="3114675"/>
            <a:ext cx="2324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725" b="1">
                <a:solidFill>
                  <a:srgbClr val="E76F51"/>
                </a:solidFill>
                <a:latin typeface="Helvetica Neue"/>
                <a:ea typeface="Helvetica Neue"/>
                <a:cs typeface="Helvetica Neue"/>
              </a:defRPr>
            </a:pPr>
            <a:r>
              <a:rPr sz="1725" b="1">
                <a:solidFill>
                  <a:srgbClr val="E76F51"/>
                </a:solidFill>
                <a:latin typeface="Helvetica Neue"/>
                <a:ea typeface="Helvetica Neue"/>
                <a:cs typeface="Helvetica Neue"/>
              </a:rPr>
              <a:t>Marked as No Show</a:t>
            </a:r>
          </a:p>
        </p:txBody>
      </p:sp>
      <p:sp>
        <p:nvSpPr>
          <p:cNvPr id="9" name="">
            <a:extLst xmlns:a="http://schemas.openxmlformats.org/drawingml/2006/main">
              <a:ext uri="{FF2B5EF4-FFF2-40B4-BE49-F238E27FC236}">
                <a16:creationId xmlns:a16="http://schemas.microsoft.com/office/drawing/2014/main" id="{40A05350-EFEB-4A0B-A9EB-013F1369E831}"/>
              </a:ext>
            </a:extLst>
          </p:cNvPr>
          <p:cNvSpPr>
            <a:spLocks xmlns:a="http://schemas.openxmlformats.org/drawingml/2006/main" noGrp="1"/>
          </p:cNvSpPr>
          <p:nvPr/>
        </p:nvSpPr>
        <p:spPr>
          <a:xfrm xmlns:a="http://schemas.openxmlformats.org/drawingml/2006/main">
            <a:off x="933450" y="3486150"/>
            <a:ext cx="23241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125" b="0">
                <a:solidFill>
                  <a:srgbClr val="5E6C78"/>
                </a:solidFill>
                <a:latin typeface="Helvetica Neue"/>
                <a:ea typeface="Helvetica Neue"/>
                <a:cs typeface="Helvetica Neue"/>
              </a:defRPr>
            </a:pPr>
            <a:r>
              <a:rPr sz="1125" b="0">
                <a:solidFill>
                  <a:srgbClr val="5E6C78"/>
                </a:solidFill>
                <a:latin typeface="Helvetica Neue"/>
                <a:ea typeface="Helvetica Neue"/>
                <a:cs typeface="Helvetica Neue"/>
              </a:rPr>
              <a:t>May 12</a:t>
            </a:r>
          </a:p>
        </p:txBody>
      </p:sp>
      <p:sp>
        <p:nvSpPr>
          <p:cNvPr id="10" name="">
            <a:extLst xmlns:a="http://schemas.openxmlformats.org/drawingml/2006/main">
              <a:ext uri="{FF2B5EF4-FFF2-40B4-BE49-F238E27FC236}">
                <a16:creationId xmlns:a16="http://schemas.microsoft.com/office/drawing/2014/main" id="{C79FCE9F-739C-45FC-A700-447AB4210360}"/>
              </a:ext>
            </a:extLst>
          </p:cNvPr>
          <p:cNvSpPr>
            <a:spLocks xmlns:a="http://schemas.openxmlformats.org/drawingml/2006/main" noGrp="1"/>
          </p:cNvSpPr>
          <p:nvPr/>
        </p:nvSpPr>
        <p:spPr>
          <a:xfrm xmlns:a="http://schemas.openxmlformats.org/drawingml/2006/main">
            <a:off x="3800475" y="2962275"/>
            <a:ext cx="1181100" cy="285750"/>
          </a:xfrm>
          <a:prstGeom xmlns:a="http://schemas.openxmlformats.org/drawingml/2006/main" prst="rightArrow">
            <a:avLst/>
          </a:prstGeom>
          <a:solidFill xmlns:a="http://schemas.openxmlformats.org/drawingml/2006/main">
            <a:srgbClr val="178C8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0E24C3B3-C63F-40FB-9235-32C26AAB6A56}"/>
              </a:ext>
            </a:extLst>
          </p:cNvPr>
          <p:cNvSpPr>
            <a:spLocks xmlns:a="http://schemas.openxmlformats.org/drawingml/2006/main" noGrp="1"/>
          </p:cNvSpPr>
          <p:nvPr/>
        </p:nvSpPr>
        <p:spPr>
          <a:xfrm xmlns:a="http://schemas.openxmlformats.org/drawingml/2006/main">
            <a:off x="5295900" y="2457450"/>
            <a:ext cx="2781300" cy="1352550"/>
          </a:xfrm>
          <a:prstGeom xmlns:a="http://schemas.openxmlformats.org/drawingml/2006/main" prst="roundRect">
            <a:avLst>
              <a:gd name="adj" fmla="val 9859"/>
            </a:avLst>
          </a:prstGeom>
          <a:solidFill xmlns:a="http://schemas.openxmlformats.org/drawingml/2006/main">
            <a:srgbClr val="FFFFFF"/>
          </a:solidFill>
          <a:ln xmlns:a="http://schemas.openxmlformats.org/drawingml/2006/main" w="9525">
            <a:solidFill>
              <a:srgbClr val="D4DEE5"/>
            </a:solidFill>
            <a:prstDash val="solid"/>
          </a:ln>
        </p:spPr>
      </p:sp>
      <p:sp>
        <p:nvSpPr>
          <p:cNvPr id="12" name="">
            <a:extLst xmlns:a="http://schemas.openxmlformats.org/drawingml/2006/main">
              <a:ext uri="{FF2B5EF4-FFF2-40B4-BE49-F238E27FC236}">
                <a16:creationId xmlns:a16="http://schemas.microsoft.com/office/drawing/2014/main" id="{02E537A8-4FD4-4538-9FA0-2A2B33021055}"/>
              </a:ext>
            </a:extLst>
          </p:cNvPr>
          <p:cNvSpPr>
            <a:spLocks xmlns:a="http://schemas.openxmlformats.org/drawingml/2006/main" noGrp="1"/>
          </p:cNvSpPr>
          <p:nvPr/>
        </p:nvSpPr>
        <p:spPr>
          <a:xfrm xmlns:a="http://schemas.openxmlformats.org/drawingml/2006/main">
            <a:off x="5524500" y="2676525"/>
            <a:ext cx="23241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00" b="1">
                <a:solidFill>
                  <a:srgbClr val="0B1F33"/>
                </a:solidFill>
                <a:latin typeface="Helvetica Neue"/>
                <a:ea typeface="Helvetica Neue"/>
                <a:cs typeface="Helvetica Neue"/>
              </a:defRPr>
            </a:pPr>
            <a:r>
              <a:rPr sz="1500" b="1">
                <a:solidFill>
                  <a:srgbClr val="0B1F33"/>
                </a:solidFill>
                <a:latin typeface="Helvetica Neue"/>
                <a:ea typeface="Helvetica Neue"/>
                <a:cs typeface="Helvetica Neue"/>
              </a:rPr>
              <a:t>Latest appointment</a:t>
            </a:r>
          </a:p>
        </p:txBody>
      </p:sp>
      <p:sp>
        <p:nvSpPr>
          <p:cNvPr id="13" name="">
            <a:extLst xmlns:a="http://schemas.openxmlformats.org/drawingml/2006/main">
              <a:ext uri="{FF2B5EF4-FFF2-40B4-BE49-F238E27FC236}">
                <a16:creationId xmlns:a16="http://schemas.microsoft.com/office/drawing/2014/main" id="{F63A4DFD-2886-48B8-90D2-1DF816058623}"/>
              </a:ext>
            </a:extLst>
          </p:cNvPr>
          <p:cNvSpPr>
            <a:spLocks xmlns:a="http://schemas.openxmlformats.org/drawingml/2006/main" noGrp="1"/>
          </p:cNvSpPr>
          <p:nvPr/>
        </p:nvSpPr>
        <p:spPr>
          <a:xfrm xmlns:a="http://schemas.openxmlformats.org/drawingml/2006/main">
            <a:off x="5524500" y="3114675"/>
            <a:ext cx="2324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725" b="1">
                <a:solidFill>
                  <a:srgbClr val="2A9D63"/>
                </a:solidFill>
                <a:latin typeface="Helvetica Neue"/>
                <a:ea typeface="Helvetica Neue"/>
                <a:cs typeface="Helvetica Neue"/>
              </a:defRPr>
            </a:pPr>
            <a:r>
              <a:rPr sz="1725" b="1">
                <a:solidFill>
                  <a:srgbClr val="2A9D63"/>
                </a:solidFill>
                <a:latin typeface="Helvetica Neue"/>
                <a:ea typeface="Helvetica Neue"/>
                <a:cs typeface="Helvetica Neue"/>
              </a:rPr>
              <a:t>Completed</a:t>
            </a:r>
          </a:p>
        </p:txBody>
      </p:sp>
      <p:sp>
        <p:nvSpPr>
          <p:cNvPr id="14" name="">
            <a:extLst xmlns:a="http://schemas.openxmlformats.org/drawingml/2006/main">
              <a:ext uri="{FF2B5EF4-FFF2-40B4-BE49-F238E27FC236}">
                <a16:creationId xmlns:a16="http://schemas.microsoft.com/office/drawing/2014/main" id="{100225B8-F635-4BF5-941E-B65DFD03A402}"/>
              </a:ext>
            </a:extLst>
          </p:cNvPr>
          <p:cNvSpPr>
            <a:spLocks xmlns:a="http://schemas.openxmlformats.org/drawingml/2006/main" noGrp="1"/>
          </p:cNvSpPr>
          <p:nvPr/>
        </p:nvSpPr>
        <p:spPr>
          <a:xfrm xmlns:a="http://schemas.openxmlformats.org/drawingml/2006/main">
            <a:off x="5524500" y="3486150"/>
            <a:ext cx="23241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125" b="0">
                <a:solidFill>
                  <a:srgbClr val="5E6C78"/>
                </a:solidFill>
                <a:latin typeface="Helvetica Neue"/>
                <a:ea typeface="Helvetica Neue"/>
                <a:cs typeface="Helvetica Neue"/>
              </a:defRPr>
            </a:pPr>
            <a:r>
              <a:rPr sz="1125" b="0">
                <a:solidFill>
                  <a:srgbClr val="5E6C78"/>
                </a:solidFill>
                <a:latin typeface="Helvetica Neue"/>
                <a:ea typeface="Helvetica Neue"/>
                <a:cs typeface="Helvetica Neue"/>
              </a:rPr>
              <a:t>June 03</a:t>
            </a:r>
          </a:p>
        </p:txBody>
      </p:sp>
      <p:sp>
        <p:nvSpPr>
          <p:cNvPr id="15" name="">
            <a:extLst xmlns:a="http://schemas.openxmlformats.org/drawingml/2006/main">
              <a:ext uri="{FF2B5EF4-FFF2-40B4-BE49-F238E27FC236}">
                <a16:creationId xmlns:a16="http://schemas.microsoft.com/office/drawing/2014/main" id="{57E4ED33-D12D-4CD6-9E24-F99A2F54E593}"/>
              </a:ext>
            </a:extLst>
          </p:cNvPr>
          <p:cNvSpPr>
            <a:spLocks xmlns:a="http://schemas.openxmlformats.org/drawingml/2006/main" noGrp="1"/>
          </p:cNvSpPr>
          <p:nvPr/>
        </p:nvSpPr>
        <p:spPr>
          <a:xfrm xmlns:a="http://schemas.openxmlformats.org/drawingml/2006/main">
            <a:off x="8391525" y="2962275"/>
            <a:ext cx="762000" cy="285750"/>
          </a:xfrm>
          <a:prstGeom xmlns:a="http://schemas.openxmlformats.org/drawingml/2006/main" prst="rightArrow">
            <a:avLst/>
          </a:prstGeom>
          <a:solidFill xmlns:a="http://schemas.openxmlformats.org/drawingml/2006/main">
            <a:srgbClr val="2A9D63"/>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1E80ECB7-6BAF-475D-85AF-0FD107BFD011}"/>
              </a:ext>
            </a:extLst>
          </p:cNvPr>
          <p:cNvSpPr>
            <a:spLocks xmlns:a="http://schemas.openxmlformats.org/drawingml/2006/main" noGrp="1"/>
          </p:cNvSpPr>
          <p:nvPr/>
        </p:nvSpPr>
        <p:spPr>
          <a:xfrm xmlns:a="http://schemas.openxmlformats.org/drawingml/2006/main">
            <a:off x="9467850" y="2352675"/>
            <a:ext cx="2000250" cy="1562100"/>
          </a:xfrm>
          <a:prstGeom xmlns:a="http://schemas.openxmlformats.org/drawingml/2006/main" prst="roundRect">
            <a:avLst>
              <a:gd name="adj" fmla="val 10976"/>
            </a:avLst>
          </a:prstGeom>
          <a:solidFill xmlns:a="http://schemas.openxmlformats.org/drawingml/2006/main">
            <a:srgbClr val="DFF2E7"/>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EC9DE291-664E-434F-B072-BD259A6AADAD}"/>
              </a:ext>
            </a:extLst>
          </p:cNvPr>
          <p:cNvSpPr>
            <a:spLocks xmlns:a="http://schemas.openxmlformats.org/drawingml/2006/main" noGrp="1"/>
          </p:cNvSpPr>
          <p:nvPr/>
        </p:nvSpPr>
        <p:spPr>
          <a:xfrm xmlns:a="http://schemas.openxmlformats.org/drawingml/2006/main">
            <a:off x="9686925" y="2609850"/>
            <a:ext cx="1581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425" b="1">
                <a:solidFill>
                  <a:srgbClr val="0B1F33"/>
                </a:solidFill>
                <a:latin typeface="Helvetica Neue"/>
                <a:ea typeface="Helvetica Neue"/>
                <a:cs typeface="Helvetica Neue"/>
              </a:defRPr>
            </a:pPr>
            <a:r>
              <a:rPr sz="1425" b="1">
                <a:solidFill>
                  <a:srgbClr val="0B1F33"/>
                </a:solidFill>
                <a:latin typeface="Helvetica Neue"/>
                <a:ea typeface="Helvetica Neue"/>
                <a:cs typeface="Helvetica Neue"/>
              </a:rPr>
              <a:t>Final IPA outcome</a:t>
            </a:r>
          </a:p>
        </p:txBody>
      </p:sp>
      <p:sp>
        <p:nvSpPr>
          <p:cNvPr id="18" name="">
            <a:extLst xmlns:a="http://schemas.openxmlformats.org/drawingml/2006/main">
              <a:ext uri="{FF2B5EF4-FFF2-40B4-BE49-F238E27FC236}">
                <a16:creationId xmlns:a16="http://schemas.microsoft.com/office/drawing/2014/main" id="{7C039DCE-3539-4F24-9C1F-E1017C02D9A6}"/>
              </a:ext>
            </a:extLst>
          </p:cNvPr>
          <p:cNvSpPr>
            <a:spLocks xmlns:a="http://schemas.openxmlformats.org/drawingml/2006/main" noGrp="1"/>
          </p:cNvSpPr>
          <p:nvPr/>
        </p:nvSpPr>
        <p:spPr>
          <a:xfrm xmlns:a="http://schemas.openxmlformats.org/drawingml/2006/main">
            <a:off x="9686925" y="3114675"/>
            <a:ext cx="15811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2175" b="1">
                <a:solidFill>
                  <a:srgbClr val="2A9D63"/>
                </a:solidFill>
                <a:latin typeface="Helvetica Neue"/>
                <a:ea typeface="Helvetica Neue"/>
                <a:cs typeface="Helvetica Neue"/>
              </a:defRPr>
            </a:pPr>
            <a:r>
              <a:rPr sz="2175" b="1">
                <a:solidFill>
                  <a:srgbClr val="2A9D63"/>
                </a:solidFill>
                <a:latin typeface="Helvetica Neue"/>
                <a:ea typeface="Helvetica Neue"/>
                <a:cs typeface="Helvetica Neue"/>
              </a:rPr>
              <a:t>COMPLETE</a:t>
            </a:r>
          </a:p>
        </p:txBody>
      </p:sp>
      <p:sp>
        <p:nvSpPr>
          <p:cNvPr id="19" name="">
            <a:extLst xmlns:a="http://schemas.openxmlformats.org/drawingml/2006/main">
              <a:ext uri="{FF2B5EF4-FFF2-40B4-BE49-F238E27FC236}">
                <a16:creationId xmlns:a16="http://schemas.microsoft.com/office/drawing/2014/main" id="{4754488F-445C-432B-B869-C54E955A781B}"/>
              </a:ext>
            </a:extLst>
          </p:cNvPr>
          <p:cNvSpPr>
            <a:spLocks xmlns:a="http://schemas.openxmlformats.org/drawingml/2006/main" noGrp="1"/>
          </p:cNvSpPr>
          <p:nvPr/>
        </p:nvSpPr>
        <p:spPr>
          <a:xfrm xmlns:a="http://schemas.openxmlformats.org/drawingml/2006/main">
            <a:off x="9686925" y="3571875"/>
            <a:ext cx="15811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200" b="0">
                <a:solidFill>
                  <a:srgbClr val="5E6C78"/>
                </a:solidFill>
                <a:latin typeface="Helvetica Neue"/>
                <a:ea typeface="Helvetica Neue"/>
                <a:cs typeface="Helvetica Neue"/>
              </a:defRPr>
            </a:pPr>
            <a:r>
              <a:rPr sz="1200" b="0">
                <a:solidFill>
                  <a:srgbClr val="5E6C78"/>
                </a:solidFill>
                <a:latin typeface="Helvetica Neue"/>
                <a:ea typeface="Helvetica Neue"/>
                <a:cs typeface="Helvetica Neue"/>
              </a:rPr>
              <a:t>Credit = 1.00</a:t>
            </a:r>
          </a:p>
        </p:txBody>
      </p:sp>
      <p:sp>
        <p:nvSpPr>
          <p:cNvPr id="20" name="">
            <a:extLst xmlns:a="http://schemas.openxmlformats.org/drawingml/2006/main">
              <a:ext uri="{FF2B5EF4-FFF2-40B4-BE49-F238E27FC236}">
                <a16:creationId xmlns:a16="http://schemas.microsoft.com/office/drawing/2014/main" id="{63CC2CC4-A418-433B-8039-400834F44842}"/>
              </a:ext>
            </a:extLst>
          </p:cNvPr>
          <p:cNvSpPr>
            <a:spLocks xmlns:a="http://schemas.openxmlformats.org/drawingml/2006/main" noGrp="1"/>
          </p:cNvSpPr>
          <p:nvPr/>
        </p:nvSpPr>
        <p:spPr>
          <a:xfrm xmlns:a="http://schemas.openxmlformats.org/drawingml/2006/main">
            <a:off x="704850" y="4457700"/>
            <a:ext cx="10763250" cy="0"/>
          </a:xfrm>
          <a:prstGeom xmlns:a="http://schemas.openxmlformats.org/drawingml/2006/main" prst="line">
            <a:avLst/>
          </a:prstGeom>
          <a:noFill xmlns:a="http://schemas.openxmlformats.org/drawingml/2006/main"/>
          <a:ln xmlns:a="http://schemas.openxmlformats.org/drawingml/2006/main" w="9525">
            <a:solidFill>
              <a:srgbClr val="D4DEE5"/>
            </a:solidFill>
            <a:prstDash val="solid"/>
          </a:ln>
        </p:spPr>
      </p:sp>
      <p:sp>
        <p:nvSpPr>
          <p:cNvPr id="21" name="">
            <a:extLst xmlns:a="http://schemas.openxmlformats.org/drawingml/2006/main">
              <a:ext uri="{FF2B5EF4-FFF2-40B4-BE49-F238E27FC236}">
                <a16:creationId xmlns:a16="http://schemas.microsoft.com/office/drawing/2014/main" id="{CC49A609-AAC6-4030-84E5-89B67D523F3F}"/>
              </a:ext>
            </a:extLst>
          </p:cNvPr>
          <p:cNvSpPr>
            <a:spLocks xmlns:a="http://schemas.openxmlformats.org/drawingml/2006/main" noGrp="1"/>
          </p:cNvSpPr>
          <p:nvPr/>
        </p:nvSpPr>
        <p:spPr>
          <a:xfrm xmlns:a="http://schemas.openxmlformats.org/drawingml/2006/main">
            <a:off x="704850" y="4762500"/>
            <a:ext cx="247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75" b="1">
                <a:solidFill>
                  <a:srgbClr val="0B1F33"/>
                </a:solidFill>
                <a:latin typeface="Helvetica Neue"/>
                <a:ea typeface="Helvetica Neue"/>
                <a:cs typeface="Helvetica Neue"/>
              </a:defRPr>
            </a:pPr>
            <a:r>
              <a:rPr sz="1575" b="1">
                <a:solidFill>
                  <a:srgbClr val="0B1F33"/>
                </a:solidFill>
                <a:latin typeface="Helvetica Neue"/>
                <a:ea typeface="Helvetica Neue"/>
                <a:cs typeface="Helvetica Neue"/>
              </a:rPr>
              <a:t>Supported IPA age bands</a:t>
            </a:r>
          </a:p>
        </p:txBody>
      </p:sp>
      <p:sp>
        <p:nvSpPr>
          <p:cNvPr id="22" name="">
            <a:extLst xmlns:a="http://schemas.openxmlformats.org/drawingml/2006/main">
              <a:ext uri="{FF2B5EF4-FFF2-40B4-BE49-F238E27FC236}">
                <a16:creationId xmlns:a16="http://schemas.microsoft.com/office/drawing/2014/main" id="{9F96E450-326D-418B-9934-A02F819A13F1}"/>
              </a:ext>
            </a:extLst>
          </p:cNvPr>
          <p:cNvSpPr>
            <a:spLocks xmlns:a="http://schemas.openxmlformats.org/drawingml/2006/main" noGrp="1"/>
          </p:cNvSpPr>
          <p:nvPr/>
        </p:nvSpPr>
        <p:spPr>
          <a:xfrm xmlns:a="http://schemas.openxmlformats.org/drawingml/2006/main">
            <a:off x="704850" y="5257800"/>
            <a:ext cx="1190625" cy="323850"/>
          </a:xfrm>
          <a:prstGeom xmlns:a="http://schemas.openxmlformats.org/drawingml/2006/main" prst="roundRect">
            <a:avLst>
              <a:gd name="adj" fmla="val 50000"/>
            </a:avLst>
          </a:prstGeom>
          <a:solidFill xmlns:a="http://schemas.openxmlformats.org/drawingml/2006/main">
            <a:srgbClr val="E6EEF3"/>
          </a:solidFill>
          <a:ln xmlns:a="http://schemas.openxmlformats.org/drawingml/2006/main" w="0">
            <a:noFill/>
            <a:prstDash val="solid"/>
          </a:ln>
        </p:spPr>
        <p:txBody>
          <a:bodyPr xmlns:a="http://schemas.openxmlformats.org/drawingml/2006/main" lIns="57150" tIns="19050" rIns="57150" bIns="19050" anchor="ctr">
            <a:noAutofit/>
          </a:bodyPr>
          <a:lstStyle xmlns:a="http://schemas.openxmlformats.org/drawingml/2006/main"/>
          <a:p xmlns:a="http://schemas.openxmlformats.org/drawingml/2006/main">
            <a:pPr algn="ctr">
              <a:defRPr sz="1125" b="1">
                <a:solidFill>
                  <a:srgbClr val="0B1F33"/>
                </a:solidFill>
                <a:latin typeface="Helvetica Neue"/>
                <a:ea typeface="Helvetica Neue"/>
                <a:cs typeface="Helvetica Neue"/>
              </a:defRPr>
            </a:pPr>
            <a:r>
              <a:rPr sz="1125" b="1">
                <a:solidFill>
                  <a:srgbClr val="0B1F33"/>
                </a:solidFill>
                <a:latin typeface="Helvetica Neue"/>
                <a:ea typeface="Helvetica Neue"/>
                <a:cs typeface="Helvetica Neue"/>
              </a:rPr>
              <a:t>12–23 mo</a:t>
            </a:r>
          </a:p>
        </p:txBody>
      </p:sp>
      <p:sp>
        <p:nvSpPr>
          <p:cNvPr id="23" name="">
            <a:extLst xmlns:a="http://schemas.openxmlformats.org/drawingml/2006/main">
              <a:ext uri="{FF2B5EF4-FFF2-40B4-BE49-F238E27FC236}">
                <a16:creationId xmlns:a16="http://schemas.microsoft.com/office/drawing/2014/main" id="{505FAB7A-0265-4355-8FE9-D9F85402D1E7}"/>
              </a:ext>
            </a:extLst>
          </p:cNvPr>
          <p:cNvSpPr>
            <a:spLocks xmlns:a="http://schemas.openxmlformats.org/drawingml/2006/main" noGrp="1"/>
          </p:cNvSpPr>
          <p:nvPr/>
        </p:nvSpPr>
        <p:spPr>
          <a:xfrm xmlns:a="http://schemas.openxmlformats.org/drawingml/2006/main">
            <a:off x="2009775" y="5257800"/>
            <a:ext cx="1190625" cy="323850"/>
          </a:xfrm>
          <a:prstGeom xmlns:a="http://schemas.openxmlformats.org/drawingml/2006/main" prst="roundRect">
            <a:avLst>
              <a:gd name="adj" fmla="val 50000"/>
            </a:avLst>
          </a:prstGeom>
          <a:solidFill xmlns:a="http://schemas.openxmlformats.org/drawingml/2006/main">
            <a:srgbClr val="E6EEF3"/>
          </a:solidFill>
          <a:ln xmlns:a="http://schemas.openxmlformats.org/drawingml/2006/main" w="0">
            <a:noFill/>
            <a:prstDash val="solid"/>
          </a:ln>
        </p:spPr>
        <p:txBody>
          <a:bodyPr xmlns:a="http://schemas.openxmlformats.org/drawingml/2006/main" lIns="57150" tIns="19050" rIns="57150" bIns="19050" anchor="ctr">
            <a:noAutofit/>
          </a:bodyPr>
          <a:lstStyle xmlns:a="http://schemas.openxmlformats.org/drawingml/2006/main"/>
          <a:p xmlns:a="http://schemas.openxmlformats.org/drawingml/2006/main">
            <a:pPr algn="ctr">
              <a:defRPr sz="1125" b="1">
                <a:solidFill>
                  <a:srgbClr val="0B1F33"/>
                </a:solidFill>
                <a:latin typeface="Helvetica Neue"/>
                <a:ea typeface="Helvetica Neue"/>
                <a:cs typeface="Helvetica Neue"/>
              </a:defRPr>
            </a:pPr>
            <a:r>
              <a:rPr sz="1125" b="1">
                <a:solidFill>
                  <a:srgbClr val="0B1F33"/>
                </a:solidFill>
                <a:latin typeface="Helvetica Neue"/>
                <a:ea typeface="Helvetica Neue"/>
                <a:cs typeface="Helvetica Neue"/>
              </a:rPr>
              <a:t>24–35 mo</a:t>
            </a:r>
          </a:p>
        </p:txBody>
      </p:sp>
      <p:sp>
        <p:nvSpPr>
          <p:cNvPr id="24" name="">
            <a:extLst xmlns:a="http://schemas.openxmlformats.org/drawingml/2006/main">
              <a:ext uri="{FF2B5EF4-FFF2-40B4-BE49-F238E27FC236}">
                <a16:creationId xmlns:a16="http://schemas.microsoft.com/office/drawing/2014/main" id="{C8D6BF07-677E-4379-AEAA-0F8E7A83B5BD}"/>
              </a:ext>
            </a:extLst>
          </p:cNvPr>
          <p:cNvSpPr>
            <a:spLocks xmlns:a="http://schemas.openxmlformats.org/drawingml/2006/main" noGrp="1"/>
          </p:cNvSpPr>
          <p:nvPr/>
        </p:nvSpPr>
        <p:spPr>
          <a:xfrm xmlns:a="http://schemas.openxmlformats.org/drawingml/2006/main">
            <a:off x="3314700" y="5257800"/>
            <a:ext cx="1190625" cy="323850"/>
          </a:xfrm>
          <a:prstGeom xmlns:a="http://schemas.openxmlformats.org/drawingml/2006/main" prst="roundRect">
            <a:avLst>
              <a:gd name="adj" fmla="val 50000"/>
            </a:avLst>
          </a:prstGeom>
          <a:solidFill xmlns:a="http://schemas.openxmlformats.org/drawingml/2006/main">
            <a:srgbClr val="E6EEF3"/>
          </a:solidFill>
          <a:ln xmlns:a="http://schemas.openxmlformats.org/drawingml/2006/main" w="0">
            <a:noFill/>
            <a:prstDash val="solid"/>
          </a:ln>
        </p:spPr>
        <p:txBody>
          <a:bodyPr xmlns:a="http://schemas.openxmlformats.org/drawingml/2006/main" lIns="57150" tIns="19050" rIns="57150" bIns="19050" anchor="ctr">
            <a:noAutofit/>
          </a:bodyPr>
          <a:lstStyle xmlns:a="http://schemas.openxmlformats.org/drawingml/2006/main"/>
          <a:p xmlns:a="http://schemas.openxmlformats.org/drawingml/2006/main">
            <a:pPr algn="ctr">
              <a:defRPr sz="1125" b="1">
                <a:solidFill>
                  <a:srgbClr val="0B1F33"/>
                </a:solidFill>
                <a:latin typeface="Helvetica Neue"/>
                <a:ea typeface="Helvetica Neue"/>
                <a:cs typeface="Helvetica Neue"/>
              </a:defRPr>
            </a:pPr>
            <a:r>
              <a:rPr sz="1125" b="1">
                <a:solidFill>
                  <a:srgbClr val="0B1F33"/>
                </a:solidFill>
                <a:latin typeface="Helvetica Neue"/>
                <a:ea typeface="Helvetica Neue"/>
                <a:cs typeface="Helvetica Neue"/>
              </a:rPr>
              <a:t>3–5 yr</a:t>
            </a:r>
          </a:p>
        </p:txBody>
      </p:sp>
      <p:sp>
        <p:nvSpPr>
          <p:cNvPr id="25" name="">
            <a:extLst xmlns:a="http://schemas.openxmlformats.org/drawingml/2006/main">
              <a:ext uri="{FF2B5EF4-FFF2-40B4-BE49-F238E27FC236}">
                <a16:creationId xmlns:a16="http://schemas.microsoft.com/office/drawing/2014/main" id="{CD878962-C7CF-41BA-8719-080A96466B35}"/>
              </a:ext>
            </a:extLst>
          </p:cNvPr>
          <p:cNvSpPr>
            <a:spLocks xmlns:a="http://schemas.openxmlformats.org/drawingml/2006/main" noGrp="1"/>
          </p:cNvSpPr>
          <p:nvPr/>
        </p:nvSpPr>
        <p:spPr>
          <a:xfrm xmlns:a="http://schemas.openxmlformats.org/drawingml/2006/main">
            <a:off x="4619625" y="5257800"/>
            <a:ext cx="1190625" cy="323850"/>
          </a:xfrm>
          <a:prstGeom xmlns:a="http://schemas.openxmlformats.org/drawingml/2006/main" prst="roundRect">
            <a:avLst>
              <a:gd name="adj" fmla="val 50000"/>
            </a:avLst>
          </a:prstGeom>
          <a:solidFill xmlns:a="http://schemas.openxmlformats.org/drawingml/2006/main">
            <a:srgbClr val="E6EEF3"/>
          </a:solidFill>
          <a:ln xmlns:a="http://schemas.openxmlformats.org/drawingml/2006/main" w="0">
            <a:noFill/>
            <a:prstDash val="solid"/>
          </a:ln>
        </p:spPr>
        <p:txBody>
          <a:bodyPr xmlns:a="http://schemas.openxmlformats.org/drawingml/2006/main" lIns="57150" tIns="19050" rIns="57150" bIns="19050" anchor="ctr">
            <a:noAutofit/>
          </a:bodyPr>
          <a:lstStyle xmlns:a="http://schemas.openxmlformats.org/drawingml/2006/main"/>
          <a:p xmlns:a="http://schemas.openxmlformats.org/drawingml/2006/main">
            <a:pPr algn="ctr">
              <a:defRPr sz="1125" b="1">
                <a:solidFill>
                  <a:srgbClr val="0B1F33"/>
                </a:solidFill>
                <a:latin typeface="Helvetica Neue"/>
                <a:ea typeface="Helvetica Neue"/>
                <a:cs typeface="Helvetica Neue"/>
              </a:defRPr>
            </a:pPr>
            <a:r>
              <a:rPr sz="1125" b="1">
                <a:solidFill>
                  <a:srgbClr val="0B1F33"/>
                </a:solidFill>
                <a:latin typeface="Helvetica Neue"/>
                <a:ea typeface="Helvetica Neue"/>
                <a:cs typeface="Helvetica Neue"/>
              </a:rPr>
              <a:t>6–10 yr</a:t>
            </a:r>
          </a:p>
        </p:txBody>
      </p:sp>
      <p:sp>
        <p:nvSpPr>
          <p:cNvPr id="26" name="">
            <a:extLst xmlns:a="http://schemas.openxmlformats.org/drawingml/2006/main">
              <a:ext uri="{FF2B5EF4-FFF2-40B4-BE49-F238E27FC236}">
                <a16:creationId xmlns:a16="http://schemas.microsoft.com/office/drawing/2014/main" id="{D7F52BDE-3F79-4776-AAFE-648592DD72F3}"/>
              </a:ext>
            </a:extLst>
          </p:cNvPr>
          <p:cNvSpPr>
            <a:spLocks xmlns:a="http://schemas.openxmlformats.org/drawingml/2006/main" noGrp="1"/>
          </p:cNvSpPr>
          <p:nvPr/>
        </p:nvSpPr>
        <p:spPr>
          <a:xfrm xmlns:a="http://schemas.openxmlformats.org/drawingml/2006/main">
            <a:off x="5924550" y="5257800"/>
            <a:ext cx="1295400" cy="323850"/>
          </a:xfrm>
          <a:prstGeom xmlns:a="http://schemas.openxmlformats.org/drawingml/2006/main" prst="roundRect">
            <a:avLst>
              <a:gd name="adj" fmla="val 50000"/>
            </a:avLst>
          </a:prstGeom>
          <a:solidFill xmlns:a="http://schemas.openxmlformats.org/drawingml/2006/main">
            <a:srgbClr val="E6EEF3"/>
          </a:solidFill>
          <a:ln xmlns:a="http://schemas.openxmlformats.org/drawingml/2006/main" w="0">
            <a:noFill/>
            <a:prstDash val="solid"/>
          </a:ln>
        </p:spPr>
        <p:txBody>
          <a:bodyPr xmlns:a="http://schemas.openxmlformats.org/drawingml/2006/main" lIns="57150" tIns="19050" rIns="57150" bIns="19050" anchor="ctr">
            <a:noAutofit/>
          </a:bodyPr>
          <a:lstStyle xmlns:a="http://schemas.openxmlformats.org/drawingml/2006/main"/>
          <a:p xmlns:a="http://schemas.openxmlformats.org/drawingml/2006/main">
            <a:pPr algn="ctr">
              <a:defRPr sz="1125" b="1">
                <a:solidFill>
                  <a:srgbClr val="0B1F33"/>
                </a:solidFill>
                <a:latin typeface="Helvetica Neue"/>
                <a:ea typeface="Helvetica Neue"/>
                <a:cs typeface="Helvetica Neue"/>
              </a:defRPr>
            </a:pPr>
            <a:r>
              <a:rPr sz="1125" b="1">
                <a:solidFill>
                  <a:srgbClr val="0B1F33"/>
                </a:solidFill>
                <a:latin typeface="Helvetica Neue"/>
                <a:ea typeface="Helvetica Neue"/>
                <a:cs typeface="Helvetica Neue"/>
              </a:rPr>
              <a:t>11–17 yr</a:t>
            </a:r>
          </a:p>
        </p:txBody>
      </p:sp>
      <p:sp>
        <p:nvSpPr>
          <p:cNvPr id="27" name="">
            <a:extLst xmlns:a="http://schemas.openxmlformats.org/drawingml/2006/main">
              <a:ext uri="{FF2B5EF4-FFF2-40B4-BE49-F238E27FC236}">
                <a16:creationId xmlns:a16="http://schemas.microsoft.com/office/drawing/2014/main" id="{DFD5D93A-9FFD-489E-A429-4E4D7E7ECCA5}"/>
              </a:ext>
            </a:extLst>
          </p:cNvPr>
          <p:cNvSpPr>
            <a:spLocks xmlns:a="http://schemas.openxmlformats.org/drawingml/2006/main" noGrp="1"/>
          </p:cNvSpPr>
          <p:nvPr/>
        </p:nvSpPr>
        <p:spPr>
          <a:xfrm xmlns:a="http://schemas.openxmlformats.org/drawingml/2006/main">
            <a:off x="7334250" y="5257800"/>
            <a:ext cx="1190625" cy="323850"/>
          </a:xfrm>
          <a:prstGeom xmlns:a="http://schemas.openxmlformats.org/drawingml/2006/main" prst="roundRect">
            <a:avLst>
              <a:gd name="adj" fmla="val 50000"/>
            </a:avLst>
          </a:prstGeom>
          <a:solidFill xmlns:a="http://schemas.openxmlformats.org/drawingml/2006/main">
            <a:srgbClr val="E6EEF3"/>
          </a:solidFill>
          <a:ln xmlns:a="http://schemas.openxmlformats.org/drawingml/2006/main" w="0">
            <a:noFill/>
            <a:prstDash val="solid"/>
          </a:ln>
        </p:spPr>
        <p:txBody>
          <a:bodyPr xmlns:a="http://schemas.openxmlformats.org/drawingml/2006/main" lIns="57150" tIns="19050" rIns="57150" bIns="19050" anchor="ctr">
            <a:noAutofit/>
          </a:bodyPr>
          <a:lstStyle xmlns:a="http://schemas.openxmlformats.org/drawingml/2006/main"/>
          <a:p xmlns:a="http://schemas.openxmlformats.org/drawingml/2006/main">
            <a:pPr algn="ctr">
              <a:defRPr sz="1125" b="1">
                <a:solidFill>
                  <a:srgbClr val="0B1F33"/>
                </a:solidFill>
                <a:latin typeface="Helvetica Neue"/>
                <a:ea typeface="Helvetica Neue"/>
                <a:cs typeface="Helvetica Neue"/>
              </a:defRPr>
            </a:pPr>
            <a:r>
              <a:rPr sz="1125" b="1">
                <a:solidFill>
                  <a:srgbClr val="0B1F33"/>
                </a:solidFill>
                <a:latin typeface="Helvetica Neue"/>
                <a:ea typeface="Helvetica Neue"/>
                <a:cs typeface="Helvetica Neue"/>
              </a:rPr>
              <a:t>18–20 yr</a:t>
            </a:r>
          </a:p>
        </p:txBody>
      </p:sp>
      <p:sp>
        <p:nvSpPr>
          <p:cNvPr id="28" name="">
            <a:extLst xmlns:a="http://schemas.openxmlformats.org/drawingml/2006/main">
              <a:ext uri="{FF2B5EF4-FFF2-40B4-BE49-F238E27FC236}">
                <a16:creationId xmlns:a16="http://schemas.microsoft.com/office/drawing/2014/main" id="{82DBEBD3-1B26-48F2-B7DD-081D87BE2D86}"/>
              </a:ext>
            </a:extLst>
          </p:cNvPr>
          <p:cNvSpPr>
            <a:spLocks xmlns:a="http://schemas.openxmlformats.org/drawingml/2006/main" noGrp="1"/>
          </p:cNvSpPr>
          <p:nvPr/>
        </p:nvSpPr>
        <p:spPr>
          <a:xfrm xmlns:a="http://schemas.openxmlformats.org/drawingml/2006/main">
            <a:off x="704850" y="5905500"/>
            <a:ext cx="9620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350" b="0">
                <a:solidFill>
                  <a:srgbClr val="5E6C78"/>
                </a:solidFill>
                <a:latin typeface="Helvetica Neue"/>
                <a:ea typeface="Helvetica Neue"/>
                <a:cs typeface="Helvetica Neue"/>
              </a:defRPr>
            </a:pPr>
            <a:r>
              <a:rPr sz="1350" b="0">
                <a:solidFill>
                  <a:srgbClr val="5E6C78"/>
                </a:solidFill>
                <a:latin typeface="Helvetica Neue"/>
                <a:ea typeface="Helvetica Neue"/>
                <a:cs typeface="Helvetica Neue"/>
              </a:rPr>
              <a:t>A participant can have a separate latest record in every age band.</a:t>
            </a:r>
          </a:p>
        </p:txBody>
      </p:sp>
    </p:spTree>
    <p:extLst>
      <p:ext uri="{BB962C8B-B14F-4D97-AF65-F5344CB8AC3E}">
        <p14:creationId xmlns:p14="http://schemas.microsoft.com/office/powerpoint/2010/main" val="47090173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81EA601C-E784-42BE-A039-96DBA81AEE82}"/>
              </a:ext>
            </a:extLst>
          </p:cNvPr>
          <p:cNvSpPr>
            <a:spLocks xmlns:a="http://schemas.openxmlformats.org/drawingml/2006/main" noGrp="1"/>
          </p:cNvSpPr>
          <p:nvPr/>
        </p:nvSpPr>
        <p:spPr>
          <a:xfrm xmlns:a="http://schemas.openxmlformats.org/drawingml/2006/main">
            <a:off x="609600" y="400050"/>
            <a:ext cx="1028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700" b="1">
                <a:solidFill>
                  <a:srgbClr val="0B1F33"/>
                </a:solidFill>
                <a:latin typeface="Helvetica Neue"/>
                <a:ea typeface="Helvetica Neue"/>
                <a:cs typeface="Helvetica Neue"/>
              </a:defRPr>
            </a:pPr>
            <a:r>
              <a:rPr sz="2700" b="1">
                <a:solidFill>
                  <a:srgbClr val="0B1F33"/>
                </a:solidFill>
                <a:latin typeface="Helvetica Neue"/>
                <a:ea typeface="Helvetica Neue"/>
                <a:cs typeface="Helvetica Neue"/>
              </a:rPr>
              <a:t>Outcomes roll up through a consistent score and denominator</a:t>
            </a:r>
          </a:p>
        </p:txBody>
      </p:sp>
      <p:sp>
        <p:nvSpPr>
          <p:cNvPr id="2" name="">
            <a:extLst xmlns:a="http://schemas.openxmlformats.org/drawingml/2006/main">
              <a:ext uri="{FF2B5EF4-FFF2-40B4-BE49-F238E27FC236}">
                <a16:creationId xmlns:a16="http://schemas.microsoft.com/office/drawing/2014/main" id="{90F67BAE-B356-4D68-A95B-9278C0DCF8B6}"/>
              </a:ext>
            </a:extLst>
          </p:cNvPr>
          <p:cNvSpPr>
            <a:spLocks xmlns:a="http://schemas.openxmlformats.org/drawingml/2006/main" noGrp="1"/>
          </p:cNvSpPr>
          <p:nvPr/>
        </p:nvSpPr>
        <p:spPr>
          <a:xfrm xmlns:a="http://schemas.openxmlformats.org/drawingml/2006/main">
            <a:off x="11144250" y="4572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200" b="1">
                <a:solidFill>
                  <a:srgbClr val="178C8C"/>
                </a:solidFill>
                <a:latin typeface="Helvetica Neue"/>
                <a:ea typeface="Helvetica Neue"/>
                <a:cs typeface="Helvetica Neue"/>
              </a:defRPr>
            </a:pPr>
            <a:r>
              <a:rPr sz="1200" b="1">
                <a:solidFill>
                  <a:srgbClr val="178C8C"/>
                </a:solidFill>
                <a:latin typeface="Helvetica Neue"/>
                <a:ea typeface="Helvetica Neue"/>
                <a:cs typeface="Helvetica Neue"/>
              </a:rPr>
              <a:t>05</a:t>
            </a:r>
          </a:p>
        </p:txBody>
      </p:sp>
      <p:sp>
        <p:nvSpPr>
          <p:cNvPr id="3" name="">
            <a:extLst xmlns:a="http://schemas.openxmlformats.org/drawingml/2006/main">
              <a:ext uri="{FF2B5EF4-FFF2-40B4-BE49-F238E27FC236}">
                <a16:creationId xmlns:a16="http://schemas.microsoft.com/office/drawing/2014/main" id="{91F18784-C671-4268-A42C-77171AC76FB1}"/>
              </a:ext>
            </a:extLst>
          </p:cNvPr>
          <p:cNvSpPr>
            <a:spLocks xmlns:a="http://schemas.openxmlformats.org/drawingml/2006/main" noGrp="1"/>
          </p:cNvSpPr>
          <p:nvPr/>
        </p:nvSpPr>
        <p:spPr>
          <a:xfrm xmlns:a="http://schemas.openxmlformats.org/drawingml/2006/main">
            <a:off x="609600" y="1009650"/>
            <a:ext cx="10972800" cy="0"/>
          </a:xfrm>
          <a:prstGeom xmlns:a="http://schemas.openxmlformats.org/drawingml/2006/main" prst="line">
            <a:avLst/>
          </a:prstGeom>
          <a:noFill xmlns:a="http://schemas.openxmlformats.org/drawingml/2006/main"/>
          <a:ln xmlns:a="http://schemas.openxmlformats.org/drawingml/2006/main" w="9525">
            <a:solidFill>
              <a:srgbClr val="D4DEE5"/>
            </a:solidFill>
            <a:prstDash val="solid"/>
          </a:ln>
        </p:spPr>
      </p:sp>
      <p:sp>
        <p:nvSpPr>
          <p:cNvPr id="4" name="">
            <a:extLst xmlns:a="http://schemas.openxmlformats.org/drawingml/2006/main">
              <a:ext uri="{FF2B5EF4-FFF2-40B4-BE49-F238E27FC236}">
                <a16:creationId xmlns:a16="http://schemas.microsoft.com/office/drawing/2014/main" id="{09DBE7E6-5CF5-4A4A-8FE5-F9F7B5A43686}"/>
              </a:ext>
            </a:extLst>
          </p:cNvPr>
          <p:cNvSpPr>
            <a:spLocks xmlns:a="http://schemas.openxmlformats.org/drawingml/2006/main" noGrp="1"/>
          </p:cNvSpPr>
          <p:nvPr/>
        </p:nvSpPr>
        <p:spPr>
          <a:xfrm xmlns:a="http://schemas.openxmlformats.org/drawingml/2006/main">
            <a:off x="819150" y="1543050"/>
            <a:ext cx="238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350" b="1">
                <a:solidFill>
                  <a:srgbClr val="5E6C78"/>
                </a:solidFill>
                <a:latin typeface="Helvetica Neue"/>
                <a:ea typeface="Helvetica Neue"/>
                <a:cs typeface="Helvetica Neue"/>
              </a:defRPr>
            </a:pPr>
            <a:r>
              <a:rPr sz="1350" b="1">
                <a:solidFill>
                  <a:srgbClr val="5E6C78"/>
                </a:solidFill>
                <a:latin typeface="Helvetica Neue"/>
                <a:ea typeface="Helvetica Neue"/>
                <a:cs typeface="Helvetica Neue"/>
              </a:rPr>
              <a:t>Outcome</a:t>
            </a:r>
          </a:p>
        </p:txBody>
      </p:sp>
      <p:sp>
        <p:nvSpPr>
          <p:cNvPr id="5" name="">
            <a:extLst xmlns:a="http://schemas.openxmlformats.org/drawingml/2006/main">
              <a:ext uri="{FF2B5EF4-FFF2-40B4-BE49-F238E27FC236}">
                <a16:creationId xmlns:a16="http://schemas.microsoft.com/office/drawing/2014/main" id="{2BE227E5-8C2D-4DD2-A481-016ECC614B88}"/>
              </a:ext>
            </a:extLst>
          </p:cNvPr>
          <p:cNvSpPr>
            <a:spLocks xmlns:a="http://schemas.openxmlformats.org/drawingml/2006/main" noGrp="1"/>
          </p:cNvSpPr>
          <p:nvPr/>
        </p:nvSpPr>
        <p:spPr>
          <a:xfrm xmlns:a="http://schemas.openxmlformats.org/drawingml/2006/main">
            <a:off x="3638550" y="1543050"/>
            <a:ext cx="123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350" b="1">
                <a:solidFill>
                  <a:srgbClr val="5E6C78"/>
                </a:solidFill>
                <a:latin typeface="Helvetica Neue"/>
                <a:ea typeface="Helvetica Neue"/>
                <a:cs typeface="Helvetica Neue"/>
              </a:defRPr>
            </a:pPr>
            <a:r>
              <a:rPr sz="1350" b="1">
                <a:solidFill>
                  <a:srgbClr val="5E6C78"/>
                </a:solidFill>
                <a:latin typeface="Helvetica Neue"/>
                <a:ea typeface="Helvetica Neue"/>
                <a:cs typeface="Helvetica Neue"/>
              </a:rPr>
              <a:t>Score</a:t>
            </a:r>
          </a:p>
        </p:txBody>
      </p:sp>
      <p:sp>
        <p:nvSpPr>
          <p:cNvPr id="6" name="">
            <a:extLst xmlns:a="http://schemas.openxmlformats.org/drawingml/2006/main">
              <a:ext uri="{FF2B5EF4-FFF2-40B4-BE49-F238E27FC236}">
                <a16:creationId xmlns:a16="http://schemas.microsoft.com/office/drawing/2014/main" id="{83CC495B-0BA6-4620-98A4-80124D7D9AA3}"/>
              </a:ext>
            </a:extLst>
          </p:cNvPr>
          <p:cNvSpPr>
            <a:spLocks xmlns:a="http://schemas.openxmlformats.org/drawingml/2006/main" noGrp="1"/>
          </p:cNvSpPr>
          <p:nvPr/>
        </p:nvSpPr>
        <p:spPr>
          <a:xfrm xmlns:a="http://schemas.openxmlformats.org/drawingml/2006/main">
            <a:off x="5486400" y="1543050"/>
            <a:ext cx="4667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350" b="1">
                <a:solidFill>
                  <a:srgbClr val="5E6C78"/>
                </a:solidFill>
                <a:latin typeface="Helvetica Neue"/>
                <a:ea typeface="Helvetica Neue"/>
                <a:cs typeface="Helvetica Neue"/>
              </a:defRPr>
            </a:pPr>
            <a:r>
              <a:rPr sz="1350" b="1">
                <a:solidFill>
                  <a:srgbClr val="5E6C78"/>
                </a:solidFill>
                <a:latin typeface="Helvetica Neue"/>
                <a:ea typeface="Helvetica Neue"/>
                <a:cs typeface="Helvetica Neue"/>
              </a:rPr>
              <a:t>Interpretation</a:t>
            </a:r>
          </a:p>
        </p:txBody>
      </p:sp>
      <p:sp>
        <p:nvSpPr>
          <p:cNvPr id="7" name="">
            <a:extLst xmlns:a="http://schemas.openxmlformats.org/drawingml/2006/main">
              <a:ext uri="{FF2B5EF4-FFF2-40B4-BE49-F238E27FC236}">
                <a16:creationId xmlns:a16="http://schemas.microsoft.com/office/drawing/2014/main" id="{B6A9C273-F116-4AD6-932F-5B36284C1F5C}"/>
              </a:ext>
            </a:extLst>
          </p:cNvPr>
          <p:cNvSpPr>
            <a:spLocks xmlns:a="http://schemas.openxmlformats.org/drawingml/2006/main" noGrp="1"/>
          </p:cNvSpPr>
          <p:nvPr/>
        </p:nvSpPr>
        <p:spPr>
          <a:xfrm xmlns:a="http://schemas.openxmlformats.org/drawingml/2006/main">
            <a:off x="685800" y="1990725"/>
            <a:ext cx="10172700" cy="666750"/>
          </a:xfrm>
          <a:prstGeom xmlns:a="http://schemas.openxmlformats.org/drawingml/2006/main" prst="roundRect">
            <a:avLst>
              <a:gd name="adj" fmla="val 11429"/>
            </a:avLst>
          </a:prstGeom>
          <a:solidFill xmlns:a="http://schemas.openxmlformats.org/drawingml/2006/main">
            <a:srgbClr val="F4F7FA"/>
          </a:solidFill>
          <a:ln xmlns:a="http://schemas.openxmlformats.org/drawingml/2006/main" w="9525">
            <a:solidFill>
              <a:srgbClr val="D4DEE5"/>
            </a:solidFill>
            <a:prstDash val="solid"/>
          </a:ln>
        </p:spPr>
      </p:sp>
      <p:sp>
        <p:nvSpPr>
          <p:cNvPr id="8" name="">
            <a:extLst xmlns:a="http://schemas.openxmlformats.org/drawingml/2006/main">
              <a:ext uri="{FF2B5EF4-FFF2-40B4-BE49-F238E27FC236}">
                <a16:creationId xmlns:a16="http://schemas.microsoft.com/office/drawing/2014/main" id="{6BA8883B-D4BA-47C3-B37B-8C1BA94A199A}"/>
              </a:ext>
            </a:extLst>
          </p:cNvPr>
          <p:cNvSpPr>
            <a:spLocks xmlns:a="http://schemas.openxmlformats.org/drawingml/2006/main" noGrp="1"/>
          </p:cNvSpPr>
          <p:nvPr/>
        </p:nvSpPr>
        <p:spPr>
          <a:xfrm xmlns:a="http://schemas.openxmlformats.org/drawingml/2006/main">
            <a:off x="819150" y="2171700"/>
            <a:ext cx="133350" cy="304800"/>
          </a:xfrm>
          <a:prstGeom xmlns:a="http://schemas.openxmlformats.org/drawingml/2006/main" prst="roundRect">
            <a:avLst>
              <a:gd name="adj" fmla="val 50000"/>
            </a:avLst>
          </a:prstGeom>
          <a:solidFill xmlns:a="http://schemas.openxmlformats.org/drawingml/2006/main">
            <a:srgbClr val="2A9D63"/>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3FBFD375-99B7-49CA-B64C-B123D15E4A96}"/>
              </a:ext>
            </a:extLst>
          </p:cNvPr>
          <p:cNvSpPr>
            <a:spLocks xmlns:a="http://schemas.openxmlformats.org/drawingml/2006/main" noGrp="1"/>
          </p:cNvSpPr>
          <p:nvPr/>
        </p:nvSpPr>
        <p:spPr>
          <a:xfrm xmlns:a="http://schemas.openxmlformats.org/drawingml/2006/main">
            <a:off x="1123950" y="2171700"/>
            <a:ext cx="2095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75" b="1">
                <a:solidFill>
                  <a:srgbClr val="0B1F33"/>
                </a:solidFill>
                <a:latin typeface="Helvetica Neue"/>
                <a:ea typeface="Helvetica Neue"/>
                <a:cs typeface="Helvetica Neue"/>
              </a:defRPr>
            </a:pPr>
            <a:r>
              <a:rPr sz="1575" b="1">
                <a:solidFill>
                  <a:srgbClr val="0B1F33"/>
                </a:solidFill>
                <a:latin typeface="Helvetica Neue"/>
                <a:ea typeface="Helvetica Neue"/>
                <a:cs typeface="Helvetica Neue"/>
              </a:rPr>
              <a:t>Complete</a:t>
            </a:r>
          </a:p>
        </p:txBody>
      </p:sp>
      <p:sp>
        <p:nvSpPr>
          <p:cNvPr id="10" name="">
            <a:extLst xmlns:a="http://schemas.openxmlformats.org/drawingml/2006/main">
              <a:ext uri="{FF2B5EF4-FFF2-40B4-BE49-F238E27FC236}">
                <a16:creationId xmlns:a16="http://schemas.microsoft.com/office/drawing/2014/main" id="{D7294EA3-8EA4-4F20-B166-C1956D39A6BE}"/>
              </a:ext>
            </a:extLst>
          </p:cNvPr>
          <p:cNvSpPr>
            <a:spLocks xmlns:a="http://schemas.openxmlformats.org/drawingml/2006/main" noGrp="1"/>
          </p:cNvSpPr>
          <p:nvPr/>
        </p:nvSpPr>
        <p:spPr>
          <a:xfrm xmlns:a="http://schemas.openxmlformats.org/drawingml/2006/main">
            <a:off x="3638550" y="2162175"/>
            <a:ext cx="1238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725" b="1">
                <a:solidFill>
                  <a:srgbClr val="2A9D63"/>
                </a:solidFill>
                <a:latin typeface="Helvetica Neue"/>
                <a:ea typeface="Helvetica Neue"/>
                <a:cs typeface="Helvetica Neue"/>
              </a:defRPr>
            </a:pPr>
            <a:r>
              <a:rPr sz="1725" b="1">
                <a:solidFill>
                  <a:srgbClr val="2A9D63"/>
                </a:solidFill>
                <a:latin typeface="Helvetica Neue"/>
                <a:ea typeface="Helvetica Neue"/>
                <a:cs typeface="Helvetica Neue"/>
              </a:rPr>
              <a:t>1.00</a:t>
            </a:r>
          </a:p>
        </p:txBody>
      </p:sp>
      <p:sp>
        <p:nvSpPr>
          <p:cNvPr id="11" name="">
            <a:extLst xmlns:a="http://schemas.openxmlformats.org/drawingml/2006/main">
              <a:ext uri="{FF2B5EF4-FFF2-40B4-BE49-F238E27FC236}">
                <a16:creationId xmlns:a16="http://schemas.microsoft.com/office/drawing/2014/main" id="{6821AA52-3DF6-4C38-9A5D-9AAE114CD464}"/>
              </a:ext>
            </a:extLst>
          </p:cNvPr>
          <p:cNvSpPr>
            <a:spLocks xmlns:a="http://schemas.openxmlformats.org/drawingml/2006/main" noGrp="1"/>
          </p:cNvSpPr>
          <p:nvPr/>
        </p:nvSpPr>
        <p:spPr>
          <a:xfrm xmlns:a="http://schemas.openxmlformats.org/drawingml/2006/main">
            <a:off x="5486400" y="2181225"/>
            <a:ext cx="504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350" b="0">
                <a:solidFill>
                  <a:srgbClr val="5E6C78"/>
                </a:solidFill>
                <a:latin typeface="Helvetica Neue"/>
                <a:ea typeface="Helvetica Neue"/>
                <a:cs typeface="Helvetica Neue"/>
              </a:defRPr>
            </a:pPr>
            <a:r>
              <a:rPr sz="1350" b="0">
                <a:solidFill>
                  <a:srgbClr val="5E6C78"/>
                </a:solidFill>
                <a:latin typeface="Helvetica Neue"/>
                <a:ea typeface="Helvetica Neue"/>
                <a:cs typeface="Helvetica Neue"/>
              </a:rPr>
              <a:t>Task completed</a:t>
            </a:r>
          </a:p>
        </p:txBody>
      </p:sp>
      <p:sp>
        <p:nvSpPr>
          <p:cNvPr id="12" name="">
            <a:extLst xmlns:a="http://schemas.openxmlformats.org/drawingml/2006/main">
              <a:ext uri="{FF2B5EF4-FFF2-40B4-BE49-F238E27FC236}">
                <a16:creationId xmlns:a16="http://schemas.microsoft.com/office/drawing/2014/main" id="{8509CD12-4998-455F-840E-C8E002C94B0C}"/>
              </a:ext>
            </a:extLst>
          </p:cNvPr>
          <p:cNvSpPr>
            <a:spLocks xmlns:a="http://schemas.openxmlformats.org/drawingml/2006/main" noGrp="1"/>
          </p:cNvSpPr>
          <p:nvPr/>
        </p:nvSpPr>
        <p:spPr>
          <a:xfrm xmlns:a="http://schemas.openxmlformats.org/drawingml/2006/main">
            <a:off x="685800" y="2771775"/>
            <a:ext cx="10172700" cy="666750"/>
          </a:xfrm>
          <a:prstGeom xmlns:a="http://schemas.openxmlformats.org/drawingml/2006/main" prst="roundRect">
            <a:avLst>
              <a:gd name="adj" fmla="val 11429"/>
            </a:avLst>
          </a:prstGeom>
          <a:solidFill xmlns:a="http://schemas.openxmlformats.org/drawingml/2006/main">
            <a:srgbClr val="F4F7FA"/>
          </a:solidFill>
          <a:ln xmlns:a="http://schemas.openxmlformats.org/drawingml/2006/main" w="9525">
            <a:solidFill>
              <a:srgbClr val="D4DEE5"/>
            </a:solidFill>
            <a:prstDash val="solid"/>
          </a:ln>
        </p:spPr>
      </p:sp>
      <p:sp>
        <p:nvSpPr>
          <p:cNvPr id="13" name="">
            <a:extLst xmlns:a="http://schemas.openxmlformats.org/drawingml/2006/main">
              <a:ext uri="{FF2B5EF4-FFF2-40B4-BE49-F238E27FC236}">
                <a16:creationId xmlns:a16="http://schemas.microsoft.com/office/drawing/2014/main" id="{E7ECDB56-B5CF-4161-98A3-501BD5422E64}"/>
              </a:ext>
            </a:extLst>
          </p:cNvPr>
          <p:cNvSpPr>
            <a:spLocks xmlns:a="http://schemas.openxmlformats.org/drawingml/2006/main" noGrp="1"/>
          </p:cNvSpPr>
          <p:nvPr/>
        </p:nvSpPr>
        <p:spPr>
          <a:xfrm xmlns:a="http://schemas.openxmlformats.org/drawingml/2006/main">
            <a:off x="819150" y="2952750"/>
            <a:ext cx="133350" cy="304800"/>
          </a:xfrm>
          <a:prstGeom xmlns:a="http://schemas.openxmlformats.org/drawingml/2006/main" prst="roundRect">
            <a:avLst>
              <a:gd name="adj" fmla="val 50000"/>
            </a:avLst>
          </a:prstGeom>
          <a:solidFill xmlns:a="http://schemas.openxmlformats.org/drawingml/2006/main">
            <a:srgbClr val="E76F51"/>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6645A6BD-B407-4BD2-8676-17CB8CEA9BFF}"/>
              </a:ext>
            </a:extLst>
          </p:cNvPr>
          <p:cNvSpPr>
            <a:spLocks xmlns:a="http://schemas.openxmlformats.org/drawingml/2006/main" noGrp="1"/>
          </p:cNvSpPr>
          <p:nvPr/>
        </p:nvSpPr>
        <p:spPr>
          <a:xfrm xmlns:a="http://schemas.openxmlformats.org/drawingml/2006/main">
            <a:off x="1123950" y="2952750"/>
            <a:ext cx="2095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75" b="1">
                <a:solidFill>
                  <a:srgbClr val="0B1F33"/>
                </a:solidFill>
                <a:latin typeface="Helvetica Neue"/>
                <a:ea typeface="Helvetica Neue"/>
                <a:cs typeface="Helvetica Neue"/>
              </a:defRPr>
            </a:pPr>
            <a:r>
              <a:rPr sz="1575" b="1">
                <a:solidFill>
                  <a:srgbClr val="0B1F33"/>
                </a:solidFill>
                <a:latin typeface="Helvetica Neue"/>
                <a:ea typeface="Helvetica Neue"/>
                <a:cs typeface="Helvetica Neue"/>
              </a:rPr>
              <a:t>No-Show</a:t>
            </a:r>
          </a:p>
        </p:txBody>
      </p:sp>
      <p:sp>
        <p:nvSpPr>
          <p:cNvPr id="15" name="">
            <a:extLst xmlns:a="http://schemas.openxmlformats.org/drawingml/2006/main">
              <a:ext uri="{FF2B5EF4-FFF2-40B4-BE49-F238E27FC236}">
                <a16:creationId xmlns:a16="http://schemas.microsoft.com/office/drawing/2014/main" id="{ECF6AB07-BEE0-4A36-B38A-402B3BCC44AC}"/>
              </a:ext>
            </a:extLst>
          </p:cNvPr>
          <p:cNvSpPr>
            <a:spLocks xmlns:a="http://schemas.openxmlformats.org/drawingml/2006/main" noGrp="1"/>
          </p:cNvSpPr>
          <p:nvPr/>
        </p:nvSpPr>
        <p:spPr>
          <a:xfrm xmlns:a="http://schemas.openxmlformats.org/drawingml/2006/main">
            <a:off x="3638550" y="2943225"/>
            <a:ext cx="1238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725" b="1">
                <a:solidFill>
                  <a:srgbClr val="E76F51"/>
                </a:solidFill>
                <a:latin typeface="Helvetica Neue"/>
                <a:ea typeface="Helvetica Neue"/>
                <a:cs typeface="Helvetica Neue"/>
              </a:defRPr>
            </a:pPr>
            <a:r>
              <a:rPr sz="1725" b="1">
                <a:solidFill>
                  <a:srgbClr val="E76F51"/>
                </a:solidFill>
                <a:latin typeface="Helvetica Neue"/>
                <a:ea typeface="Helvetica Neue"/>
                <a:cs typeface="Helvetica Neue"/>
              </a:rPr>
              <a:t>0.25</a:t>
            </a:r>
          </a:p>
        </p:txBody>
      </p:sp>
      <p:sp>
        <p:nvSpPr>
          <p:cNvPr id="16" name="">
            <a:extLst xmlns:a="http://schemas.openxmlformats.org/drawingml/2006/main">
              <a:ext uri="{FF2B5EF4-FFF2-40B4-BE49-F238E27FC236}">
                <a16:creationId xmlns:a16="http://schemas.microsoft.com/office/drawing/2014/main" id="{B2B1F04A-9994-45C6-8874-B075D4F45DE8}"/>
              </a:ext>
            </a:extLst>
          </p:cNvPr>
          <p:cNvSpPr>
            <a:spLocks xmlns:a="http://schemas.openxmlformats.org/drawingml/2006/main" noGrp="1"/>
          </p:cNvSpPr>
          <p:nvPr/>
        </p:nvSpPr>
        <p:spPr>
          <a:xfrm xmlns:a="http://schemas.openxmlformats.org/drawingml/2006/main">
            <a:off x="5486400" y="2962275"/>
            <a:ext cx="504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350" b="0">
                <a:solidFill>
                  <a:srgbClr val="5E6C78"/>
                </a:solidFill>
                <a:latin typeface="Helvetica Neue"/>
                <a:ea typeface="Helvetica Neue"/>
                <a:cs typeface="Helvetica Neue"/>
              </a:defRPr>
            </a:pPr>
            <a:r>
              <a:rPr sz="1350" b="0">
                <a:solidFill>
                  <a:srgbClr val="5E6C78"/>
                </a:solidFill>
                <a:latin typeface="Helvetica Neue"/>
                <a:ea typeface="Helvetica Neue"/>
                <a:cs typeface="Helvetica Neue"/>
              </a:rPr>
              <a:t>Calendly marked no-show</a:t>
            </a:r>
          </a:p>
        </p:txBody>
      </p:sp>
      <p:sp>
        <p:nvSpPr>
          <p:cNvPr id="17" name="">
            <a:extLst xmlns:a="http://schemas.openxmlformats.org/drawingml/2006/main">
              <a:ext uri="{FF2B5EF4-FFF2-40B4-BE49-F238E27FC236}">
                <a16:creationId xmlns:a16="http://schemas.microsoft.com/office/drawing/2014/main" id="{471BC839-ADFC-42BE-A336-EEF44C268894}"/>
              </a:ext>
            </a:extLst>
          </p:cNvPr>
          <p:cNvSpPr>
            <a:spLocks xmlns:a="http://schemas.openxmlformats.org/drawingml/2006/main" noGrp="1"/>
          </p:cNvSpPr>
          <p:nvPr/>
        </p:nvSpPr>
        <p:spPr>
          <a:xfrm xmlns:a="http://schemas.openxmlformats.org/drawingml/2006/main">
            <a:off x="685800" y="3552825"/>
            <a:ext cx="10172700" cy="666750"/>
          </a:xfrm>
          <a:prstGeom xmlns:a="http://schemas.openxmlformats.org/drawingml/2006/main" prst="roundRect">
            <a:avLst>
              <a:gd name="adj" fmla="val 11429"/>
            </a:avLst>
          </a:prstGeom>
          <a:solidFill xmlns:a="http://schemas.openxmlformats.org/drawingml/2006/main">
            <a:srgbClr val="F4F7FA"/>
          </a:solidFill>
          <a:ln xmlns:a="http://schemas.openxmlformats.org/drawingml/2006/main" w="9525">
            <a:solidFill>
              <a:srgbClr val="D4DEE5"/>
            </a:solidFill>
            <a:prstDash val="solid"/>
          </a:ln>
        </p:spPr>
      </p:sp>
      <p:sp>
        <p:nvSpPr>
          <p:cNvPr id="18" name="">
            <a:extLst xmlns:a="http://schemas.openxmlformats.org/drawingml/2006/main">
              <a:ext uri="{FF2B5EF4-FFF2-40B4-BE49-F238E27FC236}">
                <a16:creationId xmlns:a16="http://schemas.microsoft.com/office/drawing/2014/main" id="{108BFA12-2CB9-4350-8B15-E37C06275371}"/>
              </a:ext>
            </a:extLst>
          </p:cNvPr>
          <p:cNvSpPr>
            <a:spLocks xmlns:a="http://schemas.openxmlformats.org/drawingml/2006/main" noGrp="1"/>
          </p:cNvSpPr>
          <p:nvPr/>
        </p:nvSpPr>
        <p:spPr>
          <a:xfrm xmlns:a="http://schemas.openxmlformats.org/drawingml/2006/main">
            <a:off x="819150" y="3733800"/>
            <a:ext cx="133350" cy="304800"/>
          </a:xfrm>
          <a:prstGeom xmlns:a="http://schemas.openxmlformats.org/drawingml/2006/main" prst="roundRect">
            <a:avLst>
              <a:gd name="adj" fmla="val 50000"/>
            </a:avLst>
          </a:prstGeom>
          <a:solidFill xmlns:a="http://schemas.openxmlformats.org/drawingml/2006/main">
            <a:srgbClr val="F2C14E"/>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781F2503-97E6-4E11-A7EF-29E017A04D71}"/>
              </a:ext>
            </a:extLst>
          </p:cNvPr>
          <p:cNvSpPr>
            <a:spLocks xmlns:a="http://schemas.openxmlformats.org/drawingml/2006/main" noGrp="1"/>
          </p:cNvSpPr>
          <p:nvPr/>
        </p:nvSpPr>
        <p:spPr>
          <a:xfrm xmlns:a="http://schemas.openxmlformats.org/drawingml/2006/main">
            <a:off x="1123950" y="3733800"/>
            <a:ext cx="2095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75" b="1">
                <a:solidFill>
                  <a:srgbClr val="0B1F33"/>
                </a:solidFill>
                <a:latin typeface="Helvetica Neue"/>
                <a:ea typeface="Helvetica Neue"/>
                <a:cs typeface="Helvetica Neue"/>
              </a:defRPr>
            </a:pPr>
            <a:r>
              <a:rPr sz="1575" b="1">
                <a:solidFill>
                  <a:srgbClr val="0B1F33"/>
                </a:solidFill>
                <a:latin typeface="Helvetica Neue"/>
                <a:ea typeface="Helvetica Neue"/>
                <a:cs typeface="Helvetica Neue"/>
              </a:rPr>
              <a:t>Incomplete</a:t>
            </a:r>
          </a:p>
        </p:txBody>
      </p:sp>
      <p:sp>
        <p:nvSpPr>
          <p:cNvPr id="20" name="">
            <a:extLst xmlns:a="http://schemas.openxmlformats.org/drawingml/2006/main">
              <a:ext uri="{FF2B5EF4-FFF2-40B4-BE49-F238E27FC236}">
                <a16:creationId xmlns:a16="http://schemas.microsoft.com/office/drawing/2014/main" id="{2C7B0F84-4DCA-4457-9A12-853E84B756B2}"/>
              </a:ext>
            </a:extLst>
          </p:cNvPr>
          <p:cNvSpPr>
            <a:spLocks xmlns:a="http://schemas.openxmlformats.org/drawingml/2006/main" noGrp="1"/>
          </p:cNvSpPr>
          <p:nvPr/>
        </p:nvSpPr>
        <p:spPr>
          <a:xfrm xmlns:a="http://schemas.openxmlformats.org/drawingml/2006/main">
            <a:off x="3638550" y="3724275"/>
            <a:ext cx="1238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725" b="1">
                <a:solidFill>
                  <a:srgbClr val="F2C14E"/>
                </a:solidFill>
                <a:latin typeface="Helvetica Neue"/>
                <a:ea typeface="Helvetica Neue"/>
                <a:cs typeface="Helvetica Neue"/>
              </a:defRPr>
            </a:pPr>
            <a:r>
              <a:rPr sz="1725" b="1">
                <a:solidFill>
                  <a:srgbClr val="F2C14E"/>
                </a:solidFill>
                <a:latin typeface="Helvetica Neue"/>
                <a:ea typeface="Helvetica Neue"/>
                <a:cs typeface="Helvetica Neue"/>
              </a:rPr>
              <a:t>0.00</a:t>
            </a:r>
          </a:p>
        </p:txBody>
      </p:sp>
      <p:sp>
        <p:nvSpPr>
          <p:cNvPr id="21" name="">
            <a:extLst xmlns:a="http://schemas.openxmlformats.org/drawingml/2006/main">
              <a:ext uri="{FF2B5EF4-FFF2-40B4-BE49-F238E27FC236}">
                <a16:creationId xmlns:a16="http://schemas.microsoft.com/office/drawing/2014/main" id="{072F9D30-F096-40C2-9A58-FC30A34C031D}"/>
              </a:ext>
            </a:extLst>
          </p:cNvPr>
          <p:cNvSpPr>
            <a:spLocks xmlns:a="http://schemas.openxmlformats.org/drawingml/2006/main" noGrp="1"/>
          </p:cNvSpPr>
          <p:nvPr/>
        </p:nvSpPr>
        <p:spPr>
          <a:xfrm xmlns:a="http://schemas.openxmlformats.org/drawingml/2006/main">
            <a:off x="5486400" y="3743325"/>
            <a:ext cx="504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350" b="0">
                <a:solidFill>
                  <a:srgbClr val="5E6C78"/>
                </a:solidFill>
                <a:latin typeface="Helvetica Neue"/>
                <a:ea typeface="Helvetica Neue"/>
                <a:cs typeface="Helvetica Neue"/>
              </a:defRPr>
            </a:pPr>
            <a:r>
              <a:rPr sz="1350" b="0">
                <a:solidFill>
                  <a:srgbClr val="5E6C78"/>
                </a:solidFill>
                <a:latin typeface="Helvetica Neue"/>
                <a:ea typeface="Helvetica Neue"/>
                <a:cs typeface="Helvetica Neue"/>
              </a:rPr>
              <a:t>Applicable task not complete</a:t>
            </a:r>
          </a:p>
        </p:txBody>
      </p:sp>
      <p:sp>
        <p:nvSpPr>
          <p:cNvPr id="22" name="">
            <a:extLst xmlns:a="http://schemas.openxmlformats.org/drawingml/2006/main">
              <a:ext uri="{FF2B5EF4-FFF2-40B4-BE49-F238E27FC236}">
                <a16:creationId xmlns:a16="http://schemas.microsoft.com/office/drawing/2014/main" id="{77DC2737-CA84-4FDB-AE22-F0092DBD9544}"/>
              </a:ext>
            </a:extLst>
          </p:cNvPr>
          <p:cNvSpPr>
            <a:spLocks xmlns:a="http://schemas.openxmlformats.org/drawingml/2006/main" noGrp="1"/>
          </p:cNvSpPr>
          <p:nvPr/>
        </p:nvSpPr>
        <p:spPr>
          <a:xfrm xmlns:a="http://schemas.openxmlformats.org/drawingml/2006/main">
            <a:off x="685800" y="4333875"/>
            <a:ext cx="10172700" cy="666750"/>
          </a:xfrm>
          <a:prstGeom xmlns:a="http://schemas.openxmlformats.org/drawingml/2006/main" prst="roundRect">
            <a:avLst>
              <a:gd name="adj" fmla="val 11429"/>
            </a:avLst>
          </a:prstGeom>
          <a:solidFill xmlns:a="http://schemas.openxmlformats.org/drawingml/2006/main">
            <a:srgbClr val="F4F7FA"/>
          </a:solidFill>
          <a:ln xmlns:a="http://schemas.openxmlformats.org/drawingml/2006/main" w="9525">
            <a:solidFill>
              <a:srgbClr val="D4DEE5"/>
            </a:solidFill>
            <a:prstDash val="solid"/>
          </a:ln>
        </p:spPr>
      </p:sp>
      <p:sp>
        <p:nvSpPr>
          <p:cNvPr id="23" name="">
            <a:extLst xmlns:a="http://schemas.openxmlformats.org/drawingml/2006/main">
              <a:ext uri="{FF2B5EF4-FFF2-40B4-BE49-F238E27FC236}">
                <a16:creationId xmlns:a16="http://schemas.microsoft.com/office/drawing/2014/main" id="{E2CC7BE0-50CA-4B9F-9CC0-0FCEB623EA89}"/>
              </a:ext>
            </a:extLst>
          </p:cNvPr>
          <p:cNvSpPr>
            <a:spLocks xmlns:a="http://schemas.openxmlformats.org/drawingml/2006/main" noGrp="1"/>
          </p:cNvSpPr>
          <p:nvPr/>
        </p:nvSpPr>
        <p:spPr>
          <a:xfrm xmlns:a="http://schemas.openxmlformats.org/drawingml/2006/main">
            <a:off x="819150" y="4514850"/>
            <a:ext cx="133350" cy="304800"/>
          </a:xfrm>
          <a:prstGeom xmlns:a="http://schemas.openxmlformats.org/drawingml/2006/main" prst="roundRect">
            <a:avLst>
              <a:gd name="adj" fmla="val 50000"/>
            </a:avLst>
          </a:prstGeom>
          <a:solidFill xmlns:a="http://schemas.openxmlformats.org/drawingml/2006/main">
            <a:srgbClr val="5E6C78"/>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15B4E5AF-0D1E-4B92-A34D-F56F9D9B728C}"/>
              </a:ext>
            </a:extLst>
          </p:cNvPr>
          <p:cNvSpPr>
            <a:spLocks xmlns:a="http://schemas.openxmlformats.org/drawingml/2006/main" noGrp="1"/>
          </p:cNvSpPr>
          <p:nvPr/>
        </p:nvSpPr>
        <p:spPr>
          <a:xfrm xmlns:a="http://schemas.openxmlformats.org/drawingml/2006/main">
            <a:off x="1123950" y="4514850"/>
            <a:ext cx="2095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75" b="1">
                <a:solidFill>
                  <a:srgbClr val="0B1F33"/>
                </a:solidFill>
                <a:latin typeface="Helvetica Neue"/>
                <a:ea typeface="Helvetica Neue"/>
                <a:cs typeface="Helvetica Neue"/>
              </a:defRPr>
            </a:pPr>
            <a:r>
              <a:rPr sz="1575" b="1">
                <a:solidFill>
                  <a:srgbClr val="0B1F33"/>
                </a:solidFill>
                <a:latin typeface="Helvetica Neue"/>
                <a:ea typeface="Helvetica Neue"/>
                <a:cs typeface="Helvetica Neue"/>
              </a:rPr>
              <a:t>No record</a:t>
            </a:r>
          </a:p>
        </p:txBody>
      </p:sp>
      <p:sp>
        <p:nvSpPr>
          <p:cNvPr id="25" name="">
            <a:extLst xmlns:a="http://schemas.openxmlformats.org/drawingml/2006/main">
              <a:ext uri="{FF2B5EF4-FFF2-40B4-BE49-F238E27FC236}">
                <a16:creationId xmlns:a16="http://schemas.microsoft.com/office/drawing/2014/main" id="{AE49BF13-BE04-46FD-99F4-A38D790FDB33}"/>
              </a:ext>
            </a:extLst>
          </p:cNvPr>
          <p:cNvSpPr>
            <a:spLocks xmlns:a="http://schemas.openxmlformats.org/drawingml/2006/main" noGrp="1"/>
          </p:cNvSpPr>
          <p:nvPr/>
        </p:nvSpPr>
        <p:spPr>
          <a:xfrm xmlns:a="http://schemas.openxmlformats.org/drawingml/2006/main">
            <a:off x="3638550" y="4505325"/>
            <a:ext cx="1238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725" b="1">
                <a:solidFill>
                  <a:srgbClr val="5E6C78"/>
                </a:solidFill>
                <a:latin typeface="Helvetica Neue"/>
                <a:ea typeface="Helvetica Neue"/>
                <a:cs typeface="Helvetica Neue"/>
              </a:defRPr>
            </a:pPr>
            <a:r>
              <a:rPr sz="1725" b="1">
                <a:solidFill>
                  <a:srgbClr val="5E6C78"/>
                </a:solidFill>
                <a:latin typeface="Helvetica Neue"/>
                <a:ea typeface="Helvetica Neue"/>
                <a:cs typeface="Helvetica Neue"/>
              </a:rPr>
              <a:t>NA → 0</a:t>
            </a:r>
          </a:p>
        </p:txBody>
      </p:sp>
      <p:sp>
        <p:nvSpPr>
          <p:cNvPr id="26" name="">
            <a:extLst xmlns:a="http://schemas.openxmlformats.org/drawingml/2006/main">
              <a:ext uri="{FF2B5EF4-FFF2-40B4-BE49-F238E27FC236}">
                <a16:creationId xmlns:a16="http://schemas.microsoft.com/office/drawing/2014/main" id="{41D833F7-E29F-4F1C-AEA5-C21000F5DF7F}"/>
              </a:ext>
            </a:extLst>
          </p:cNvPr>
          <p:cNvSpPr>
            <a:spLocks xmlns:a="http://schemas.openxmlformats.org/drawingml/2006/main" noGrp="1"/>
          </p:cNvSpPr>
          <p:nvPr/>
        </p:nvSpPr>
        <p:spPr>
          <a:xfrm xmlns:a="http://schemas.openxmlformats.org/drawingml/2006/main">
            <a:off x="5486400" y="4524375"/>
            <a:ext cx="504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350" b="0">
                <a:solidFill>
                  <a:srgbClr val="5E6C78"/>
                </a:solidFill>
                <a:latin typeface="Helvetica Neue"/>
                <a:ea typeface="Helvetica Neue"/>
                <a:cs typeface="Helvetica Neue"/>
              </a:defRPr>
            </a:pPr>
            <a:r>
              <a:rPr sz="1350" b="0">
                <a:solidFill>
                  <a:srgbClr val="5E6C78"/>
                </a:solidFill>
                <a:latin typeface="Helvetica Neue"/>
                <a:ea typeface="Helvetica Neue"/>
                <a:cs typeface="Helvetica Neue"/>
              </a:rPr>
              <a:t>Missing raw score; zero in progress denominator</a:t>
            </a:r>
          </a:p>
        </p:txBody>
      </p:sp>
      <p:sp>
        <p:nvSpPr>
          <p:cNvPr id="27" name="">
            <a:extLst xmlns:a="http://schemas.openxmlformats.org/drawingml/2006/main">
              <a:ext uri="{FF2B5EF4-FFF2-40B4-BE49-F238E27FC236}">
                <a16:creationId xmlns:a16="http://schemas.microsoft.com/office/drawing/2014/main" id="{29CA1B40-8FA7-42F3-B81A-9A6B5B19FA78}"/>
              </a:ext>
            </a:extLst>
          </p:cNvPr>
          <p:cNvSpPr>
            <a:spLocks xmlns:a="http://schemas.openxmlformats.org/drawingml/2006/main" noGrp="1"/>
          </p:cNvSpPr>
          <p:nvPr/>
        </p:nvSpPr>
        <p:spPr>
          <a:xfrm xmlns:a="http://schemas.openxmlformats.org/drawingml/2006/main">
            <a:off x="685800" y="5391150"/>
            <a:ext cx="10172700" cy="876300"/>
          </a:xfrm>
          <a:prstGeom xmlns:a="http://schemas.openxmlformats.org/drawingml/2006/main" prst="roundRect">
            <a:avLst>
              <a:gd name="adj" fmla="val 15217"/>
            </a:avLst>
          </a:prstGeom>
          <a:solidFill xmlns:a="http://schemas.openxmlformats.org/drawingml/2006/main">
            <a:srgbClr val="0B1F33"/>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83370930-B561-4C20-8743-1FAD1D4B4479}"/>
              </a:ext>
            </a:extLst>
          </p:cNvPr>
          <p:cNvSpPr>
            <a:spLocks xmlns:a="http://schemas.openxmlformats.org/drawingml/2006/main" noGrp="1"/>
          </p:cNvSpPr>
          <p:nvPr/>
        </p:nvSpPr>
        <p:spPr>
          <a:xfrm xmlns:a="http://schemas.openxmlformats.org/drawingml/2006/main">
            <a:off x="914400" y="5572125"/>
            <a:ext cx="238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00" b="1">
                <a:solidFill>
                  <a:srgbClr val="A9C3D3"/>
                </a:solidFill>
                <a:latin typeface="Helvetica Neue"/>
                <a:ea typeface="Helvetica Neue"/>
                <a:cs typeface="Helvetica Neue"/>
              </a:defRPr>
            </a:pPr>
            <a:r>
              <a:rPr sz="1500" b="1">
                <a:solidFill>
                  <a:srgbClr val="A9C3D3"/>
                </a:solidFill>
                <a:latin typeface="Helvetica Neue"/>
                <a:ea typeface="Helvetica Neue"/>
                <a:cs typeface="Helvetica Neue"/>
              </a:rPr>
              <a:t>Weighted progress</a:t>
            </a:r>
          </a:p>
        </p:txBody>
      </p:sp>
      <p:sp>
        <p:nvSpPr>
          <p:cNvPr id="29" name="">
            <a:extLst xmlns:a="http://schemas.openxmlformats.org/drawingml/2006/main">
              <a:ext uri="{FF2B5EF4-FFF2-40B4-BE49-F238E27FC236}">
                <a16:creationId xmlns:a16="http://schemas.microsoft.com/office/drawing/2014/main" id="{16AA1905-AD45-41B4-8E4A-0B85215AAB6E}"/>
              </a:ext>
            </a:extLst>
          </p:cNvPr>
          <p:cNvSpPr>
            <a:spLocks xmlns:a="http://schemas.openxmlformats.org/drawingml/2006/main" noGrp="1"/>
          </p:cNvSpPr>
          <p:nvPr/>
        </p:nvSpPr>
        <p:spPr>
          <a:xfrm xmlns:a="http://schemas.openxmlformats.org/drawingml/2006/main">
            <a:off x="3524250" y="5553075"/>
            <a:ext cx="685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2025" b="1">
                <a:solidFill>
                  <a:srgbClr val="FFFFFF"/>
                </a:solidFill>
                <a:latin typeface="Helvetica Neue"/>
                <a:ea typeface="Helvetica Neue"/>
                <a:cs typeface="Helvetica Neue"/>
              </a:defRPr>
            </a:pPr>
            <a:r>
              <a:rPr sz="2025" b="1">
                <a:solidFill>
                  <a:srgbClr val="FFFFFF"/>
                </a:solidFill>
                <a:latin typeface="Helvetica Neue"/>
                <a:ea typeface="Helvetica Neue"/>
                <a:cs typeface="Helvetica Neue"/>
              </a:rPr>
              <a:t>Σ task scores  ÷  number of applicable participant–task rows</a:t>
            </a:r>
          </a:p>
        </p:txBody>
      </p:sp>
      <p:sp>
        <p:nvSpPr>
          <p:cNvPr id="30" name="">
            <a:extLst xmlns:a="http://schemas.openxmlformats.org/drawingml/2006/main">
              <a:ext uri="{FF2B5EF4-FFF2-40B4-BE49-F238E27FC236}">
                <a16:creationId xmlns:a16="http://schemas.microsoft.com/office/drawing/2014/main" id="{9DBE9EFF-22F0-4F98-A960-945FF5E0A856}"/>
              </a:ext>
            </a:extLst>
          </p:cNvPr>
          <p:cNvSpPr>
            <a:spLocks xmlns:a="http://schemas.openxmlformats.org/drawingml/2006/main" noGrp="1"/>
          </p:cNvSpPr>
          <p:nvPr/>
        </p:nvSpPr>
        <p:spPr>
          <a:xfrm xmlns:a="http://schemas.openxmlformats.org/drawingml/2006/main">
            <a:off x="3524250" y="5953125"/>
            <a:ext cx="6858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200" b="0">
                <a:solidFill>
                  <a:srgbClr val="BCD0DD"/>
                </a:solidFill>
                <a:latin typeface="Helvetica Neue"/>
                <a:ea typeface="Helvetica Neue"/>
                <a:cs typeface="Helvetica Neue"/>
              </a:defRPr>
            </a:pPr>
            <a:r>
              <a:rPr sz="1200" b="0">
                <a:solidFill>
                  <a:srgbClr val="BCD0DD"/>
                </a:solidFill>
                <a:latin typeface="Helvetica Neue"/>
                <a:ea typeface="Helvetica Neue"/>
                <a:cs typeface="Helvetica Neue"/>
              </a:rPr>
              <a:t>IPA status uses Ripple + Calendly. All other task outcomes use Ripple only.</a:t>
            </a:r>
          </a:p>
        </p:txBody>
      </p:sp>
    </p:spTree>
    <p:extLst>
      <p:ext uri="{BB962C8B-B14F-4D97-AF65-F5344CB8AC3E}">
        <p14:creationId xmlns:p14="http://schemas.microsoft.com/office/powerpoint/2010/main" val="1002957588"/>
      </p:ext>
    </p:extLst>
  </p:cSld>
</p:sld>
</file>

<file path=ppt/slides/slide6.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E37F367A-FF32-4573-A83F-09E85AE22944}"/>
              </a:ext>
            </a:extLst>
          </p:cNvPr>
          <p:cNvSpPr>
            <a:spLocks xmlns:a="http://schemas.openxmlformats.org/drawingml/2006/main" noGrp="1"/>
          </p:cNvSpPr>
          <p:nvPr/>
        </p:nvSpPr>
        <p:spPr>
          <a:xfrm xmlns:a="http://schemas.openxmlformats.org/drawingml/2006/main">
            <a:off x="609600" y="400050"/>
            <a:ext cx="1028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700" b="1">
                <a:solidFill>
                  <a:srgbClr val="0B1F33"/>
                </a:solidFill>
                <a:latin typeface="Helvetica Neue"/>
                <a:ea typeface="Helvetica Neue"/>
                <a:cs typeface="Helvetica Neue"/>
              </a:defRPr>
            </a:pPr>
            <a:r>
              <a:rPr sz="2700" b="1">
                <a:solidFill>
                  <a:srgbClr val="0B1F33"/>
                </a:solidFill>
                <a:latin typeface="Helvetica Neue"/>
                <a:ea typeface="Helvetica Neue"/>
                <a:cs typeface="Helvetica Neue"/>
              </a:rPr>
              <a:t>Responsibility is effective-dated and locked at the age-band task level</a:t>
            </a:r>
          </a:p>
        </p:txBody>
      </p:sp>
      <p:sp>
        <p:nvSpPr>
          <p:cNvPr id="2" name="">
            <a:extLst xmlns:a="http://schemas.openxmlformats.org/drawingml/2006/main">
              <a:ext uri="{FF2B5EF4-FFF2-40B4-BE49-F238E27FC236}">
                <a16:creationId xmlns:a16="http://schemas.microsoft.com/office/drawing/2014/main" id="{9768EECF-DAE6-43AF-BE04-721A395021D5}"/>
              </a:ext>
            </a:extLst>
          </p:cNvPr>
          <p:cNvSpPr>
            <a:spLocks xmlns:a="http://schemas.openxmlformats.org/drawingml/2006/main" noGrp="1"/>
          </p:cNvSpPr>
          <p:nvPr/>
        </p:nvSpPr>
        <p:spPr>
          <a:xfrm xmlns:a="http://schemas.openxmlformats.org/drawingml/2006/main">
            <a:off x="11144250" y="4572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200" b="1">
                <a:solidFill>
                  <a:srgbClr val="178C8C"/>
                </a:solidFill>
                <a:latin typeface="Helvetica Neue"/>
                <a:ea typeface="Helvetica Neue"/>
                <a:cs typeface="Helvetica Neue"/>
              </a:defRPr>
            </a:pPr>
            <a:r>
              <a:rPr sz="1200" b="1">
                <a:solidFill>
                  <a:srgbClr val="178C8C"/>
                </a:solidFill>
                <a:latin typeface="Helvetica Neue"/>
                <a:ea typeface="Helvetica Neue"/>
                <a:cs typeface="Helvetica Neue"/>
              </a:rPr>
              <a:t>06</a:t>
            </a:r>
          </a:p>
        </p:txBody>
      </p:sp>
      <p:sp>
        <p:nvSpPr>
          <p:cNvPr id="3" name="">
            <a:extLst xmlns:a="http://schemas.openxmlformats.org/drawingml/2006/main">
              <a:ext uri="{FF2B5EF4-FFF2-40B4-BE49-F238E27FC236}">
                <a16:creationId xmlns:a16="http://schemas.microsoft.com/office/drawing/2014/main" id="{E464A831-6355-4DF0-BD8C-512AF595F5D1}"/>
              </a:ext>
            </a:extLst>
          </p:cNvPr>
          <p:cNvSpPr>
            <a:spLocks xmlns:a="http://schemas.openxmlformats.org/drawingml/2006/main" noGrp="1"/>
          </p:cNvSpPr>
          <p:nvPr/>
        </p:nvSpPr>
        <p:spPr>
          <a:xfrm xmlns:a="http://schemas.openxmlformats.org/drawingml/2006/main">
            <a:off x="609600" y="1009650"/>
            <a:ext cx="10972800" cy="0"/>
          </a:xfrm>
          <a:prstGeom xmlns:a="http://schemas.openxmlformats.org/drawingml/2006/main" prst="line">
            <a:avLst/>
          </a:prstGeom>
          <a:noFill xmlns:a="http://schemas.openxmlformats.org/drawingml/2006/main"/>
          <a:ln xmlns:a="http://schemas.openxmlformats.org/drawingml/2006/main" w="9525">
            <a:solidFill>
              <a:srgbClr val="D4DEE5"/>
            </a:solidFill>
            <a:prstDash val="solid"/>
          </a:ln>
        </p:spPr>
      </p:sp>
      <p:sp>
        <p:nvSpPr>
          <p:cNvPr id="4" name="">
            <a:extLst xmlns:a="http://schemas.openxmlformats.org/drawingml/2006/main">
              <a:ext uri="{FF2B5EF4-FFF2-40B4-BE49-F238E27FC236}">
                <a16:creationId xmlns:a16="http://schemas.microsoft.com/office/drawing/2014/main" id="{3FB38A73-5F64-4891-A84A-5465931CBE5F}"/>
              </a:ext>
            </a:extLst>
          </p:cNvPr>
          <p:cNvSpPr>
            <a:spLocks xmlns:a="http://schemas.openxmlformats.org/drawingml/2006/main" noGrp="1"/>
          </p:cNvSpPr>
          <p:nvPr/>
        </p:nvSpPr>
        <p:spPr>
          <a:xfrm xmlns:a="http://schemas.openxmlformats.org/drawingml/2006/main">
            <a:off x="704850" y="1333500"/>
            <a:ext cx="2286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00" b="1">
                <a:solidFill>
                  <a:srgbClr val="178C8C"/>
                </a:solidFill>
                <a:latin typeface="Helvetica Neue"/>
                <a:ea typeface="Helvetica Neue"/>
                <a:cs typeface="Helvetica Neue"/>
              </a:defRPr>
            </a:pPr>
            <a:r>
              <a:rPr sz="1500" b="1">
                <a:solidFill>
                  <a:srgbClr val="178C8C"/>
                </a:solidFill>
                <a:latin typeface="Helvetica Neue"/>
                <a:ea typeface="Helvetica Neue"/>
                <a:cs typeface="Helvetica Neue"/>
              </a:rPr>
              <a:t>Current FTM source</a:t>
            </a:r>
          </a:p>
        </p:txBody>
      </p:sp>
      <p:sp>
        <p:nvSpPr>
          <p:cNvPr id="5" name="">
            <a:extLst xmlns:a="http://schemas.openxmlformats.org/drawingml/2006/main">
              <a:ext uri="{FF2B5EF4-FFF2-40B4-BE49-F238E27FC236}">
                <a16:creationId xmlns:a16="http://schemas.microsoft.com/office/drawing/2014/main" id="{FA0E7AF7-235E-436E-B482-CEF4B4DEF01D}"/>
              </a:ext>
            </a:extLst>
          </p:cNvPr>
          <p:cNvSpPr>
            <a:spLocks xmlns:a="http://schemas.openxmlformats.org/drawingml/2006/main" noGrp="1"/>
          </p:cNvSpPr>
          <p:nvPr/>
        </p:nvSpPr>
        <p:spPr>
          <a:xfrm xmlns:a="http://schemas.openxmlformats.org/drawingml/2006/main">
            <a:off x="685800" y="1724025"/>
            <a:ext cx="2952750" cy="1352550"/>
          </a:xfrm>
          <a:prstGeom xmlns:a="http://schemas.openxmlformats.org/drawingml/2006/main" prst="roundRect">
            <a:avLst>
              <a:gd name="adj" fmla="val 9859"/>
            </a:avLst>
          </a:prstGeom>
          <a:solidFill xmlns:a="http://schemas.openxmlformats.org/drawingml/2006/main">
            <a:srgbClr val="FFFFFF"/>
          </a:solidFill>
          <a:ln xmlns:a="http://schemas.openxmlformats.org/drawingml/2006/main" w="9525">
            <a:solidFill>
              <a:srgbClr val="D4DEE5"/>
            </a:solidFill>
            <a:prstDash val="solid"/>
          </a:ln>
        </p:spPr>
      </p:sp>
      <p:sp>
        <p:nvSpPr>
          <p:cNvPr id="6" name="">
            <a:extLst xmlns:a="http://schemas.openxmlformats.org/drawingml/2006/main">
              <a:ext uri="{FF2B5EF4-FFF2-40B4-BE49-F238E27FC236}">
                <a16:creationId xmlns:a16="http://schemas.microsoft.com/office/drawing/2014/main" id="{08C864CF-B1C0-4C70-AD6A-CF1FC90E7519}"/>
              </a:ext>
            </a:extLst>
          </p:cNvPr>
          <p:cNvSpPr>
            <a:spLocks xmlns:a="http://schemas.openxmlformats.org/drawingml/2006/main" noGrp="1"/>
          </p:cNvSpPr>
          <p:nvPr/>
        </p:nvSpPr>
        <p:spPr>
          <a:xfrm xmlns:a="http://schemas.openxmlformats.org/drawingml/2006/main">
            <a:off x="685800" y="1724025"/>
            <a:ext cx="85725" cy="1352550"/>
          </a:xfrm>
          <a:prstGeom xmlns:a="http://schemas.openxmlformats.org/drawingml/2006/main" prst="roundRect">
            <a:avLst>
              <a:gd name="adj" fmla="val 44444"/>
            </a:avLst>
          </a:prstGeom>
          <a:solidFill xmlns:a="http://schemas.openxmlformats.org/drawingml/2006/main">
            <a:srgbClr val="178C8C"/>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DF3D4EBB-02EF-4B95-B6DE-6F2D36815D0D}"/>
              </a:ext>
            </a:extLst>
          </p:cNvPr>
          <p:cNvSpPr>
            <a:spLocks xmlns:a="http://schemas.openxmlformats.org/drawingml/2006/main" noGrp="1"/>
          </p:cNvSpPr>
          <p:nvPr/>
        </p:nvSpPr>
        <p:spPr>
          <a:xfrm xmlns:a="http://schemas.openxmlformats.org/drawingml/2006/main">
            <a:off x="952500" y="1933575"/>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725" b="1">
                <a:solidFill>
                  <a:srgbClr val="0B1F33"/>
                </a:solidFill>
                <a:latin typeface="Helvetica Neue"/>
                <a:ea typeface="Helvetica Neue"/>
                <a:cs typeface="Helvetica Neue"/>
              </a:defRPr>
            </a:pPr>
            <a:r>
              <a:rPr sz="1725" b="1">
                <a:solidFill>
                  <a:srgbClr val="0B1F33"/>
                </a:solidFill>
                <a:latin typeface="Helvetica Neue"/>
                <a:ea typeface="Helvetica Neue"/>
                <a:cs typeface="Helvetica Neue"/>
              </a:rPr>
              <a:t>6–35 months</a:t>
            </a:r>
          </a:p>
        </p:txBody>
      </p:sp>
      <p:sp>
        <p:nvSpPr>
          <p:cNvPr id="8" name="">
            <a:extLst xmlns:a="http://schemas.openxmlformats.org/drawingml/2006/main">
              <a:ext uri="{FF2B5EF4-FFF2-40B4-BE49-F238E27FC236}">
                <a16:creationId xmlns:a16="http://schemas.microsoft.com/office/drawing/2014/main" id="{631424B1-30E1-45DA-BE3D-9F3B21F8C0AA}"/>
              </a:ext>
            </a:extLst>
          </p:cNvPr>
          <p:cNvSpPr>
            <a:spLocks xmlns:a="http://schemas.openxmlformats.org/drawingml/2006/main" noGrp="1"/>
          </p:cNvSpPr>
          <p:nvPr/>
        </p:nvSpPr>
        <p:spPr>
          <a:xfrm xmlns:a="http://schemas.openxmlformats.org/drawingml/2006/main">
            <a:off x="952500" y="2352675"/>
            <a:ext cx="2476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350" b="0">
                <a:solidFill>
                  <a:srgbClr val="5E6C78"/>
                </a:solidFill>
                <a:latin typeface="Helvetica Neue"/>
                <a:ea typeface="Helvetica Neue"/>
                <a:cs typeface="Helvetica Neue"/>
              </a:defRPr>
            </a:pPr>
            <a:r>
              <a:rPr sz="1350" b="0">
                <a:solidFill>
                  <a:srgbClr val="5E6C78"/>
                </a:solidFill>
                <a:latin typeface="Helvetica Neue"/>
                <a:ea typeface="Helvetica Neue"/>
                <a:cs typeface="Helvetica Neue"/>
              </a:rPr>
              <a:t>Current assignment comes from Ripple.</a:t>
            </a:r>
          </a:p>
        </p:txBody>
      </p:sp>
      <p:sp>
        <p:nvSpPr>
          <p:cNvPr id="9" name="">
            <a:extLst xmlns:a="http://schemas.openxmlformats.org/drawingml/2006/main">
              <a:ext uri="{FF2B5EF4-FFF2-40B4-BE49-F238E27FC236}">
                <a16:creationId xmlns:a16="http://schemas.microsoft.com/office/drawing/2014/main" id="{D1216876-9051-420C-9396-E2A1EC095858}"/>
              </a:ext>
            </a:extLst>
          </p:cNvPr>
          <p:cNvSpPr>
            <a:spLocks xmlns:a="http://schemas.openxmlformats.org/drawingml/2006/main" noGrp="1"/>
          </p:cNvSpPr>
          <p:nvPr/>
        </p:nvSpPr>
        <p:spPr>
          <a:xfrm xmlns:a="http://schemas.openxmlformats.org/drawingml/2006/main">
            <a:off x="685800" y="3286125"/>
            <a:ext cx="2952750" cy="1352550"/>
          </a:xfrm>
          <a:prstGeom xmlns:a="http://schemas.openxmlformats.org/drawingml/2006/main" prst="roundRect">
            <a:avLst>
              <a:gd name="adj" fmla="val 9859"/>
            </a:avLst>
          </a:prstGeom>
          <a:solidFill xmlns:a="http://schemas.openxmlformats.org/drawingml/2006/main">
            <a:srgbClr val="FFFFFF"/>
          </a:solidFill>
          <a:ln xmlns:a="http://schemas.openxmlformats.org/drawingml/2006/main" w="9525">
            <a:solidFill>
              <a:srgbClr val="D4DEE5"/>
            </a:solidFill>
            <a:prstDash val="solid"/>
          </a:ln>
        </p:spPr>
      </p:sp>
      <p:sp>
        <p:nvSpPr>
          <p:cNvPr id="10" name="">
            <a:extLst xmlns:a="http://schemas.openxmlformats.org/drawingml/2006/main">
              <a:ext uri="{FF2B5EF4-FFF2-40B4-BE49-F238E27FC236}">
                <a16:creationId xmlns:a16="http://schemas.microsoft.com/office/drawing/2014/main" id="{A2E3430A-3129-43E0-B334-F68231D88419}"/>
              </a:ext>
            </a:extLst>
          </p:cNvPr>
          <p:cNvSpPr>
            <a:spLocks xmlns:a="http://schemas.openxmlformats.org/drawingml/2006/main" noGrp="1"/>
          </p:cNvSpPr>
          <p:nvPr/>
        </p:nvSpPr>
        <p:spPr>
          <a:xfrm xmlns:a="http://schemas.openxmlformats.org/drawingml/2006/main">
            <a:off x="685800" y="3286125"/>
            <a:ext cx="85725" cy="1352550"/>
          </a:xfrm>
          <a:prstGeom xmlns:a="http://schemas.openxmlformats.org/drawingml/2006/main" prst="roundRect">
            <a:avLst>
              <a:gd name="adj" fmla="val 44444"/>
            </a:avLst>
          </a:prstGeom>
          <a:solidFill xmlns:a="http://schemas.openxmlformats.org/drawingml/2006/main">
            <a:srgbClr val="E76F51"/>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05C63973-4B0B-492C-A72F-6135521092D2}"/>
              </a:ext>
            </a:extLst>
          </p:cNvPr>
          <p:cNvSpPr>
            <a:spLocks xmlns:a="http://schemas.openxmlformats.org/drawingml/2006/main" noGrp="1"/>
          </p:cNvSpPr>
          <p:nvPr/>
        </p:nvSpPr>
        <p:spPr>
          <a:xfrm xmlns:a="http://schemas.openxmlformats.org/drawingml/2006/main">
            <a:off x="952500" y="3495675"/>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725" b="1">
                <a:solidFill>
                  <a:srgbClr val="0B1F33"/>
                </a:solidFill>
                <a:latin typeface="Helvetica Neue"/>
                <a:ea typeface="Helvetica Neue"/>
                <a:cs typeface="Helvetica Neue"/>
              </a:defRPr>
            </a:pPr>
            <a:r>
              <a:rPr sz="1725" b="1">
                <a:solidFill>
                  <a:srgbClr val="0B1F33"/>
                </a:solidFill>
                <a:latin typeface="Helvetica Neue"/>
                <a:ea typeface="Helvetica Neue"/>
                <a:cs typeface="Helvetica Neue"/>
              </a:rPr>
              <a:t>3–20 years</a:t>
            </a:r>
          </a:p>
        </p:txBody>
      </p:sp>
      <p:sp>
        <p:nvSpPr>
          <p:cNvPr id="12" name="">
            <a:extLst xmlns:a="http://schemas.openxmlformats.org/drawingml/2006/main">
              <a:ext uri="{FF2B5EF4-FFF2-40B4-BE49-F238E27FC236}">
                <a16:creationId xmlns:a16="http://schemas.microsoft.com/office/drawing/2014/main" id="{C9F1E9CD-1B8F-4D07-9AD6-1E125179B9CD}"/>
              </a:ext>
            </a:extLst>
          </p:cNvPr>
          <p:cNvSpPr>
            <a:spLocks xmlns:a="http://schemas.openxmlformats.org/drawingml/2006/main" noGrp="1"/>
          </p:cNvSpPr>
          <p:nvPr/>
        </p:nvSpPr>
        <p:spPr>
          <a:xfrm xmlns:a="http://schemas.openxmlformats.org/drawingml/2006/main">
            <a:off x="952500" y="3914775"/>
            <a:ext cx="2476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350" b="0">
                <a:solidFill>
                  <a:srgbClr val="5E6C78"/>
                </a:solidFill>
                <a:latin typeface="Helvetica Neue"/>
                <a:ea typeface="Helvetica Neue"/>
                <a:cs typeface="Helvetica Neue"/>
              </a:defRPr>
            </a:pPr>
            <a:r>
              <a:rPr sz="1350" b="0">
                <a:solidFill>
                  <a:srgbClr val="5E6C78"/>
                </a:solidFill>
                <a:latin typeface="Helvetica Neue"/>
                <a:ea typeface="Helvetica Neue"/>
                <a:cs typeface="Helvetica Neue"/>
              </a:rPr>
              <a:t>Current assignment comes from the manually maintained call list.</a:t>
            </a:r>
          </a:p>
        </p:txBody>
      </p:sp>
      <p:sp>
        <p:nvSpPr>
          <p:cNvPr id="13" name="">
            <a:extLst xmlns:a="http://schemas.openxmlformats.org/drawingml/2006/main">
              <a:ext uri="{FF2B5EF4-FFF2-40B4-BE49-F238E27FC236}">
                <a16:creationId xmlns:a16="http://schemas.microsoft.com/office/drawing/2014/main" id="{5A211E38-B6B5-44A0-9F49-CB646F9C3762}"/>
              </a:ext>
            </a:extLst>
          </p:cNvPr>
          <p:cNvSpPr>
            <a:spLocks xmlns:a="http://schemas.openxmlformats.org/drawingml/2006/main" noGrp="1"/>
          </p:cNvSpPr>
          <p:nvPr/>
        </p:nvSpPr>
        <p:spPr>
          <a:xfrm xmlns:a="http://schemas.openxmlformats.org/drawingml/2006/main">
            <a:off x="4229100" y="133350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00" b="1">
                <a:solidFill>
                  <a:srgbClr val="178C8C"/>
                </a:solidFill>
                <a:latin typeface="Helvetica Neue"/>
                <a:ea typeface="Helvetica Neue"/>
                <a:cs typeface="Helvetica Neue"/>
              </a:defRPr>
            </a:pPr>
            <a:r>
              <a:rPr sz="1500" b="1">
                <a:solidFill>
                  <a:srgbClr val="178C8C"/>
                </a:solidFill>
                <a:latin typeface="Helvetica Neue"/>
                <a:ea typeface="Helvetica Neue"/>
                <a:cs typeface="Helvetica Neue"/>
              </a:rPr>
              <a:t>Assignment history</a:t>
            </a:r>
          </a:p>
        </p:txBody>
      </p:sp>
      <p:sp>
        <p:nvSpPr>
          <p:cNvPr id="14" name="">
            <a:extLst xmlns:a="http://schemas.openxmlformats.org/drawingml/2006/main">
              <a:ext uri="{FF2B5EF4-FFF2-40B4-BE49-F238E27FC236}">
                <a16:creationId xmlns:a16="http://schemas.microsoft.com/office/drawing/2014/main" id="{864B305D-E669-48FC-A95E-516D767DC067}"/>
              </a:ext>
            </a:extLst>
          </p:cNvPr>
          <p:cNvSpPr>
            <a:spLocks xmlns:a="http://schemas.openxmlformats.org/drawingml/2006/main" noGrp="1"/>
          </p:cNvSpPr>
          <p:nvPr/>
        </p:nvSpPr>
        <p:spPr>
          <a:xfrm xmlns:a="http://schemas.openxmlformats.org/drawingml/2006/main">
            <a:off x="4267200" y="1762125"/>
            <a:ext cx="361950" cy="361950"/>
          </a:xfrm>
          <a:prstGeom xmlns:a="http://schemas.openxmlformats.org/drawingml/2006/main" prst="roundRect">
            <a:avLst>
              <a:gd name="adj" fmla="val 50000"/>
            </a:avLst>
          </a:prstGeom>
          <a:solidFill xmlns:a="http://schemas.openxmlformats.org/drawingml/2006/main">
            <a:srgbClr val="0B1F33"/>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513623BF-150C-4256-B101-C9ECAB118803}"/>
              </a:ext>
            </a:extLst>
          </p:cNvPr>
          <p:cNvSpPr>
            <a:spLocks xmlns:a="http://schemas.openxmlformats.org/drawingml/2006/main" noGrp="1"/>
          </p:cNvSpPr>
          <p:nvPr/>
        </p:nvSpPr>
        <p:spPr>
          <a:xfrm xmlns:a="http://schemas.openxmlformats.org/drawingml/2006/main">
            <a:off x="4267200" y="1790700"/>
            <a:ext cx="361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0000"/>
              </a:lnSpc>
              <a:buNone/>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1</a:t>
            </a:r>
          </a:p>
        </p:txBody>
      </p:sp>
      <p:sp>
        <p:nvSpPr>
          <p:cNvPr id="16" name="">
            <a:extLst xmlns:a="http://schemas.openxmlformats.org/drawingml/2006/main">
              <a:ext uri="{FF2B5EF4-FFF2-40B4-BE49-F238E27FC236}">
                <a16:creationId xmlns:a16="http://schemas.microsoft.com/office/drawing/2014/main" id="{5911A039-0541-40F3-AB3E-5C71BAF3DB91}"/>
              </a:ext>
            </a:extLst>
          </p:cNvPr>
          <p:cNvSpPr>
            <a:spLocks xmlns:a="http://schemas.openxmlformats.org/drawingml/2006/main" noGrp="1"/>
          </p:cNvSpPr>
          <p:nvPr/>
        </p:nvSpPr>
        <p:spPr>
          <a:xfrm xmlns:a="http://schemas.openxmlformats.org/drawingml/2006/main">
            <a:off x="4838700" y="1762125"/>
            <a:ext cx="123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425" b="1">
                <a:solidFill>
                  <a:srgbClr val="0B1F33"/>
                </a:solidFill>
                <a:latin typeface="Helvetica Neue"/>
                <a:ea typeface="Helvetica Neue"/>
                <a:cs typeface="Helvetica Neue"/>
              </a:defRPr>
            </a:pPr>
            <a:r>
              <a:rPr sz="1425" b="1">
                <a:solidFill>
                  <a:srgbClr val="0B1F33"/>
                </a:solidFill>
                <a:latin typeface="Helvetica Neue"/>
                <a:ea typeface="Helvetica Neue"/>
                <a:cs typeface="Helvetica Neue"/>
              </a:rPr>
              <a:t>Start</a:t>
            </a:r>
          </a:p>
        </p:txBody>
      </p:sp>
      <p:sp>
        <p:nvSpPr>
          <p:cNvPr id="17" name="">
            <a:extLst xmlns:a="http://schemas.openxmlformats.org/drawingml/2006/main">
              <a:ext uri="{FF2B5EF4-FFF2-40B4-BE49-F238E27FC236}">
                <a16:creationId xmlns:a16="http://schemas.microsoft.com/office/drawing/2014/main" id="{52ADF8F1-FA5B-4E39-8AE2-1CE3048EBF32}"/>
              </a:ext>
            </a:extLst>
          </p:cNvPr>
          <p:cNvSpPr>
            <a:spLocks xmlns:a="http://schemas.openxmlformats.org/drawingml/2006/main" noGrp="1"/>
          </p:cNvSpPr>
          <p:nvPr/>
        </p:nvSpPr>
        <p:spPr>
          <a:xfrm xmlns:a="http://schemas.openxmlformats.org/drawingml/2006/main">
            <a:off x="4838700" y="2057400"/>
            <a:ext cx="304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200" b="0">
                <a:solidFill>
                  <a:srgbClr val="5E6C78"/>
                </a:solidFill>
                <a:latin typeface="Helvetica Neue"/>
                <a:ea typeface="Helvetica Neue"/>
                <a:cs typeface="Helvetica Neue"/>
              </a:defRPr>
            </a:pPr>
            <a:r>
              <a:rPr sz="1200" b="0">
                <a:solidFill>
                  <a:srgbClr val="5E6C78"/>
                </a:solidFill>
                <a:latin typeface="Helvetica Neue"/>
                <a:ea typeface="Helvetica Neue"/>
                <a:cs typeface="Helvetica Neue"/>
              </a:rPr>
              <a:t>Record FTM + effective date + age band at start</a:t>
            </a:r>
          </a:p>
        </p:txBody>
      </p:sp>
      <p:sp>
        <p:nvSpPr>
          <p:cNvPr id="18" name="">
            <a:extLst xmlns:a="http://schemas.openxmlformats.org/drawingml/2006/main">
              <a:ext uri="{FF2B5EF4-FFF2-40B4-BE49-F238E27FC236}">
                <a16:creationId xmlns:a16="http://schemas.microsoft.com/office/drawing/2014/main" id="{EE43AE58-5967-43DA-AF87-F4C08DE95E2B}"/>
              </a:ext>
            </a:extLst>
          </p:cNvPr>
          <p:cNvSpPr>
            <a:spLocks xmlns:a="http://schemas.openxmlformats.org/drawingml/2006/main" noGrp="1"/>
          </p:cNvSpPr>
          <p:nvPr/>
        </p:nvSpPr>
        <p:spPr>
          <a:xfrm xmlns:a="http://schemas.openxmlformats.org/drawingml/2006/main">
            <a:off x="4448175" y="2152650"/>
            <a:ext cx="0" cy="619125"/>
          </a:xfrm>
          <a:prstGeom xmlns:a="http://schemas.openxmlformats.org/drawingml/2006/main" prst="line">
            <a:avLst/>
          </a:prstGeom>
          <a:noFill xmlns:a="http://schemas.openxmlformats.org/drawingml/2006/main"/>
          <a:ln xmlns:a="http://schemas.openxmlformats.org/drawingml/2006/main" w="28575">
            <a:solidFill>
              <a:srgbClr val="67B7B7"/>
            </a:solidFill>
            <a:prstDash val="solid"/>
          </a:ln>
        </p:spPr>
      </p:sp>
      <p:sp>
        <p:nvSpPr>
          <p:cNvPr id="19" name="">
            <a:extLst xmlns:a="http://schemas.openxmlformats.org/drawingml/2006/main">
              <a:ext uri="{FF2B5EF4-FFF2-40B4-BE49-F238E27FC236}">
                <a16:creationId xmlns:a16="http://schemas.microsoft.com/office/drawing/2014/main" id="{2E5548A2-BC09-4966-B028-D4620A91C9FC}"/>
              </a:ext>
            </a:extLst>
          </p:cNvPr>
          <p:cNvSpPr>
            <a:spLocks xmlns:a="http://schemas.openxmlformats.org/drawingml/2006/main" noGrp="1"/>
          </p:cNvSpPr>
          <p:nvPr/>
        </p:nvSpPr>
        <p:spPr>
          <a:xfrm xmlns:a="http://schemas.openxmlformats.org/drawingml/2006/main">
            <a:off x="4267200" y="2905125"/>
            <a:ext cx="361950" cy="361950"/>
          </a:xfrm>
          <a:prstGeom xmlns:a="http://schemas.openxmlformats.org/drawingml/2006/main" prst="roundRect">
            <a:avLst>
              <a:gd name="adj" fmla="val 50000"/>
            </a:avLst>
          </a:prstGeom>
          <a:solidFill xmlns:a="http://schemas.openxmlformats.org/drawingml/2006/main">
            <a:srgbClr val="0B1F33"/>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D02F21F0-CA40-4BAD-8B0B-1BBC704E3B71}"/>
              </a:ext>
            </a:extLst>
          </p:cNvPr>
          <p:cNvSpPr>
            <a:spLocks xmlns:a="http://schemas.openxmlformats.org/drawingml/2006/main" noGrp="1"/>
          </p:cNvSpPr>
          <p:nvPr/>
        </p:nvSpPr>
        <p:spPr>
          <a:xfrm xmlns:a="http://schemas.openxmlformats.org/drawingml/2006/main">
            <a:off x="4267200" y="2933700"/>
            <a:ext cx="361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0000"/>
              </a:lnSpc>
              <a:buNone/>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2</a:t>
            </a:r>
          </a:p>
        </p:txBody>
      </p:sp>
      <p:sp>
        <p:nvSpPr>
          <p:cNvPr id="21" name="">
            <a:extLst xmlns:a="http://schemas.openxmlformats.org/drawingml/2006/main">
              <a:ext uri="{FF2B5EF4-FFF2-40B4-BE49-F238E27FC236}">
                <a16:creationId xmlns:a16="http://schemas.microsoft.com/office/drawing/2014/main" id="{A2885C02-0977-4FAD-AE42-7B880C92DB71}"/>
              </a:ext>
            </a:extLst>
          </p:cNvPr>
          <p:cNvSpPr>
            <a:spLocks xmlns:a="http://schemas.openxmlformats.org/drawingml/2006/main" noGrp="1"/>
          </p:cNvSpPr>
          <p:nvPr/>
        </p:nvSpPr>
        <p:spPr>
          <a:xfrm xmlns:a="http://schemas.openxmlformats.org/drawingml/2006/main">
            <a:off x="4838700" y="2905125"/>
            <a:ext cx="123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425" b="1">
                <a:solidFill>
                  <a:srgbClr val="0B1F33"/>
                </a:solidFill>
                <a:latin typeface="Helvetica Neue"/>
                <a:ea typeface="Helvetica Neue"/>
                <a:cs typeface="Helvetica Neue"/>
              </a:defRPr>
            </a:pPr>
            <a:r>
              <a:rPr sz="1425" b="1">
                <a:solidFill>
                  <a:srgbClr val="0B1F33"/>
                </a:solidFill>
                <a:latin typeface="Helvetica Neue"/>
                <a:ea typeface="Helvetica Neue"/>
                <a:cs typeface="Helvetica Neue"/>
              </a:rPr>
              <a:t>Observe</a:t>
            </a:r>
          </a:p>
        </p:txBody>
      </p:sp>
      <p:sp>
        <p:nvSpPr>
          <p:cNvPr id="22" name="">
            <a:extLst xmlns:a="http://schemas.openxmlformats.org/drawingml/2006/main">
              <a:ext uri="{FF2B5EF4-FFF2-40B4-BE49-F238E27FC236}">
                <a16:creationId xmlns:a16="http://schemas.microsoft.com/office/drawing/2014/main" id="{C3130ECC-F866-43F0-873E-9C1E98A0340F}"/>
              </a:ext>
            </a:extLst>
          </p:cNvPr>
          <p:cNvSpPr>
            <a:spLocks xmlns:a="http://schemas.openxmlformats.org/drawingml/2006/main" noGrp="1"/>
          </p:cNvSpPr>
          <p:nvPr/>
        </p:nvSpPr>
        <p:spPr>
          <a:xfrm xmlns:a="http://schemas.openxmlformats.org/drawingml/2006/main">
            <a:off x="4838700" y="3200400"/>
            <a:ext cx="304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200" b="0">
                <a:solidFill>
                  <a:srgbClr val="5E6C78"/>
                </a:solidFill>
                <a:latin typeface="Helvetica Neue"/>
                <a:ea typeface="Helvetica Neue"/>
                <a:cs typeface="Helvetica Neue"/>
              </a:defRPr>
            </a:pPr>
            <a:r>
              <a:rPr sz="1200" b="0">
                <a:solidFill>
                  <a:srgbClr val="5E6C78"/>
                </a:solidFill>
                <a:latin typeface="Helvetica Neue"/>
                <a:ea typeface="Helvetica Neue"/>
                <a:cs typeface="Helvetica Neue"/>
              </a:rPr>
              <a:t>Update age band at last observation</a:t>
            </a:r>
          </a:p>
        </p:txBody>
      </p:sp>
      <p:sp>
        <p:nvSpPr>
          <p:cNvPr id="23" name="">
            <a:extLst xmlns:a="http://schemas.openxmlformats.org/drawingml/2006/main">
              <a:ext uri="{FF2B5EF4-FFF2-40B4-BE49-F238E27FC236}">
                <a16:creationId xmlns:a16="http://schemas.microsoft.com/office/drawing/2014/main" id="{D629BB6F-CCF9-4B3C-B838-A0C1766F601A}"/>
              </a:ext>
            </a:extLst>
          </p:cNvPr>
          <p:cNvSpPr>
            <a:spLocks xmlns:a="http://schemas.openxmlformats.org/drawingml/2006/main" noGrp="1"/>
          </p:cNvSpPr>
          <p:nvPr/>
        </p:nvSpPr>
        <p:spPr>
          <a:xfrm xmlns:a="http://schemas.openxmlformats.org/drawingml/2006/main">
            <a:off x="4448175" y="3295650"/>
            <a:ext cx="0" cy="619125"/>
          </a:xfrm>
          <a:prstGeom xmlns:a="http://schemas.openxmlformats.org/drawingml/2006/main" prst="line">
            <a:avLst/>
          </a:prstGeom>
          <a:noFill xmlns:a="http://schemas.openxmlformats.org/drawingml/2006/main"/>
          <a:ln xmlns:a="http://schemas.openxmlformats.org/drawingml/2006/main" w="28575">
            <a:solidFill>
              <a:srgbClr val="67B7B7"/>
            </a:solidFill>
            <a:prstDash val="solid"/>
          </a:ln>
        </p:spPr>
      </p:sp>
      <p:sp>
        <p:nvSpPr>
          <p:cNvPr id="24" name="">
            <a:extLst xmlns:a="http://schemas.openxmlformats.org/drawingml/2006/main">
              <a:ext uri="{FF2B5EF4-FFF2-40B4-BE49-F238E27FC236}">
                <a16:creationId xmlns:a16="http://schemas.microsoft.com/office/drawing/2014/main" id="{F5FC3B95-E356-43F5-AC19-FBE040D17039}"/>
              </a:ext>
            </a:extLst>
          </p:cNvPr>
          <p:cNvSpPr>
            <a:spLocks xmlns:a="http://schemas.openxmlformats.org/drawingml/2006/main" noGrp="1"/>
          </p:cNvSpPr>
          <p:nvPr/>
        </p:nvSpPr>
        <p:spPr>
          <a:xfrm xmlns:a="http://schemas.openxmlformats.org/drawingml/2006/main">
            <a:off x="4267200" y="4048125"/>
            <a:ext cx="361950" cy="361950"/>
          </a:xfrm>
          <a:prstGeom xmlns:a="http://schemas.openxmlformats.org/drawingml/2006/main" prst="roundRect">
            <a:avLst>
              <a:gd name="adj" fmla="val 50000"/>
            </a:avLst>
          </a:prstGeom>
          <a:solidFill xmlns:a="http://schemas.openxmlformats.org/drawingml/2006/main">
            <a:srgbClr val="E76F51"/>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8A1A03AB-42D5-4618-B3D1-78F2206BBE13}"/>
              </a:ext>
            </a:extLst>
          </p:cNvPr>
          <p:cNvSpPr>
            <a:spLocks xmlns:a="http://schemas.openxmlformats.org/drawingml/2006/main" noGrp="1"/>
          </p:cNvSpPr>
          <p:nvPr/>
        </p:nvSpPr>
        <p:spPr>
          <a:xfrm xmlns:a="http://schemas.openxmlformats.org/drawingml/2006/main">
            <a:off x="4267200" y="4076700"/>
            <a:ext cx="361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0000"/>
              </a:lnSpc>
              <a:buNone/>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3</a:t>
            </a:r>
          </a:p>
        </p:txBody>
      </p:sp>
      <p:sp>
        <p:nvSpPr>
          <p:cNvPr id="26" name="">
            <a:extLst xmlns:a="http://schemas.openxmlformats.org/drawingml/2006/main">
              <a:ext uri="{FF2B5EF4-FFF2-40B4-BE49-F238E27FC236}">
                <a16:creationId xmlns:a16="http://schemas.microsoft.com/office/drawing/2014/main" id="{8C6F8BA5-BE50-484E-BA38-513AE662FB17}"/>
              </a:ext>
            </a:extLst>
          </p:cNvPr>
          <p:cNvSpPr>
            <a:spLocks xmlns:a="http://schemas.openxmlformats.org/drawingml/2006/main" noGrp="1"/>
          </p:cNvSpPr>
          <p:nvPr/>
        </p:nvSpPr>
        <p:spPr>
          <a:xfrm xmlns:a="http://schemas.openxmlformats.org/drawingml/2006/main">
            <a:off x="4838700" y="4048125"/>
            <a:ext cx="123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425" b="1">
                <a:solidFill>
                  <a:srgbClr val="0B1F33"/>
                </a:solidFill>
                <a:latin typeface="Helvetica Neue"/>
                <a:ea typeface="Helvetica Neue"/>
                <a:cs typeface="Helvetica Neue"/>
              </a:defRPr>
            </a:pPr>
            <a:r>
              <a:rPr sz="1425" b="1">
                <a:solidFill>
                  <a:srgbClr val="0B1F33"/>
                </a:solidFill>
                <a:latin typeface="Helvetica Neue"/>
                <a:ea typeface="Helvetica Neue"/>
                <a:cs typeface="Helvetica Neue"/>
              </a:rPr>
              <a:t>Change</a:t>
            </a:r>
          </a:p>
        </p:txBody>
      </p:sp>
      <p:sp>
        <p:nvSpPr>
          <p:cNvPr id="27" name="">
            <a:extLst xmlns:a="http://schemas.openxmlformats.org/drawingml/2006/main">
              <a:ext uri="{FF2B5EF4-FFF2-40B4-BE49-F238E27FC236}">
                <a16:creationId xmlns:a16="http://schemas.microsoft.com/office/drawing/2014/main" id="{2D10228D-07E2-4ECC-853A-F566798E136F}"/>
              </a:ext>
            </a:extLst>
          </p:cNvPr>
          <p:cNvSpPr>
            <a:spLocks xmlns:a="http://schemas.openxmlformats.org/drawingml/2006/main" noGrp="1"/>
          </p:cNvSpPr>
          <p:nvPr/>
        </p:nvSpPr>
        <p:spPr>
          <a:xfrm xmlns:a="http://schemas.openxmlformats.org/drawingml/2006/main">
            <a:off x="4838700" y="4343400"/>
            <a:ext cx="304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200" b="0">
                <a:solidFill>
                  <a:srgbClr val="5E6C78"/>
                </a:solidFill>
                <a:latin typeface="Helvetica Neue"/>
                <a:ea typeface="Helvetica Neue"/>
                <a:cs typeface="Helvetica Neue"/>
              </a:defRPr>
            </a:pPr>
            <a:r>
              <a:rPr sz="1200" b="0">
                <a:solidFill>
                  <a:srgbClr val="5E6C78"/>
                </a:solidFill>
                <a:latin typeface="Helvetica Neue"/>
                <a:ea typeface="Helvetica Neue"/>
                <a:cs typeface="Helvetica Neue"/>
              </a:rPr>
              <a:t>Only an administrator’s FTM change closes and opens assignments</a:t>
            </a:r>
          </a:p>
        </p:txBody>
      </p:sp>
      <p:sp>
        <p:nvSpPr>
          <p:cNvPr id="28" name="">
            <a:extLst xmlns:a="http://schemas.openxmlformats.org/drawingml/2006/main">
              <a:ext uri="{FF2B5EF4-FFF2-40B4-BE49-F238E27FC236}">
                <a16:creationId xmlns:a16="http://schemas.microsoft.com/office/drawing/2014/main" id="{46D94A02-464E-41A1-98BF-DCFD061EFD79}"/>
              </a:ext>
            </a:extLst>
          </p:cNvPr>
          <p:cNvSpPr>
            <a:spLocks xmlns:a="http://schemas.openxmlformats.org/drawingml/2006/main" noGrp="1"/>
          </p:cNvSpPr>
          <p:nvPr/>
        </p:nvSpPr>
        <p:spPr>
          <a:xfrm xmlns:a="http://schemas.openxmlformats.org/drawingml/2006/main">
            <a:off x="8286750" y="1600200"/>
            <a:ext cx="3143250" cy="3276600"/>
          </a:xfrm>
          <a:prstGeom xmlns:a="http://schemas.openxmlformats.org/drawingml/2006/main" prst="roundRect">
            <a:avLst>
              <a:gd name="adj" fmla="val 5455"/>
            </a:avLst>
          </a:prstGeom>
          <a:solidFill xmlns:a="http://schemas.openxmlformats.org/drawingml/2006/main">
            <a:srgbClr val="0B1F33"/>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CFAAADA7-2FB5-4A4B-B53E-EF9AFE7BBA7F}"/>
              </a:ext>
            </a:extLst>
          </p:cNvPr>
          <p:cNvSpPr>
            <a:spLocks xmlns:a="http://schemas.openxmlformats.org/drawingml/2006/main" noGrp="1"/>
          </p:cNvSpPr>
          <p:nvPr/>
        </p:nvSpPr>
        <p:spPr>
          <a:xfrm xmlns:a="http://schemas.openxmlformats.org/drawingml/2006/main">
            <a:off x="8543925" y="1838325"/>
            <a:ext cx="2619375" cy="323850"/>
          </a:xfrm>
          <a:prstGeom xmlns:a="http://schemas.openxmlformats.org/drawingml/2006/main" prst="roundRect">
            <a:avLst>
              <a:gd name="adj" fmla="val 50000"/>
            </a:avLst>
          </a:prstGeom>
          <a:solidFill xmlns:a="http://schemas.openxmlformats.org/drawingml/2006/main">
            <a:srgbClr val="183B55"/>
          </a:solidFill>
          <a:ln xmlns:a="http://schemas.openxmlformats.org/drawingml/2006/main" w="0">
            <a:noFill/>
            <a:prstDash val="solid"/>
          </a:ln>
        </p:spPr>
        <p:txBody>
          <a:bodyPr xmlns:a="http://schemas.openxmlformats.org/drawingml/2006/main" lIns="57150" tIns="19050" rIns="57150" bIns="19050" anchor="ctr">
            <a:noAutofit/>
          </a:bodyPr>
          <a:lstStyle xmlns:a="http://schemas.openxmlformats.org/drawingml/2006/main"/>
          <a:p xmlns:a="http://schemas.openxmlformats.org/drawingml/2006/main">
            <a:pPr algn="ctr">
              <a:defRPr sz="1125" b="1">
                <a:solidFill>
                  <a:srgbClr val="FFFFFF"/>
                </a:solidFill>
                <a:latin typeface="Helvetica Neue"/>
                <a:ea typeface="Helvetica Neue"/>
                <a:cs typeface="Helvetica Neue"/>
              </a:defRPr>
            </a:pPr>
            <a:r>
              <a:rPr sz="1125" b="1">
                <a:solidFill>
                  <a:srgbClr val="FFFFFF"/>
                </a:solidFill>
                <a:latin typeface="Helvetica Neue"/>
                <a:ea typeface="Helvetica Neue"/>
                <a:cs typeface="Helvetica Neue"/>
              </a:rPr>
              <a:t>TASK RESPONSIBILITY LEDGER</a:t>
            </a:r>
          </a:p>
        </p:txBody>
      </p:sp>
      <p:sp>
        <p:nvSpPr>
          <p:cNvPr id="30" name="">
            <a:extLst xmlns:a="http://schemas.openxmlformats.org/drawingml/2006/main">
              <a:ext uri="{FF2B5EF4-FFF2-40B4-BE49-F238E27FC236}">
                <a16:creationId xmlns:a16="http://schemas.microsoft.com/office/drawing/2014/main" id="{02FD46F7-55DC-4ACF-B5DF-B5014C236141}"/>
              </a:ext>
            </a:extLst>
          </p:cNvPr>
          <p:cNvSpPr>
            <a:spLocks xmlns:a="http://schemas.openxmlformats.org/drawingml/2006/main" noGrp="1"/>
          </p:cNvSpPr>
          <p:nvPr/>
        </p:nvSpPr>
        <p:spPr>
          <a:xfrm xmlns:a="http://schemas.openxmlformats.org/drawingml/2006/main">
            <a:off x="8591550" y="2371725"/>
            <a:ext cx="25527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3000"/>
              </a:lnSpc>
              <a:buNone/>
              <a:defRPr sz="1725" b="1">
                <a:solidFill>
                  <a:srgbClr val="FFFFFF"/>
                </a:solidFill>
                <a:latin typeface="Helvetica Neue"/>
                <a:ea typeface="Helvetica Neue"/>
                <a:cs typeface="Helvetica Neue"/>
              </a:defRPr>
            </a:pPr>
            <a:r>
              <a:rPr sz="1725" b="1">
                <a:solidFill>
                  <a:srgbClr val="FFFFFF"/>
                </a:solidFill>
                <a:latin typeface="Helvetica Neue"/>
                <a:ea typeface="Helvetica Neue"/>
                <a:cs typeface="Helvetica Neue"/>
              </a:rPr>
              <a:t>Every applicable task is locked to the FTM responsible at that stage.</a:t>
            </a:r>
          </a:p>
        </p:txBody>
      </p:sp>
      <p:sp>
        <p:nvSpPr>
          <p:cNvPr id="31" name="">
            <a:extLst xmlns:a="http://schemas.openxmlformats.org/drawingml/2006/main">
              <a:ext uri="{FF2B5EF4-FFF2-40B4-BE49-F238E27FC236}">
                <a16:creationId xmlns:a16="http://schemas.microsoft.com/office/drawing/2014/main" id="{E4A9D330-8AF2-4EAA-A711-4E330E5024EF}"/>
              </a:ext>
            </a:extLst>
          </p:cNvPr>
          <p:cNvSpPr>
            <a:spLocks xmlns:a="http://schemas.openxmlformats.org/drawingml/2006/main" noGrp="1"/>
          </p:cNvSpPr>
          <p:nvPr/>
        </p:nvSpPr>
        <p:spPr>
          <a:xfrm xmlns:a="http://schemas.openxmlformats.org/drawingml/2006/main">
            <a:off x="8686800" y="3286125"/>
            <a:ext cx="2362200" cy="0"/>
          </a:xfrm>
          <a:prstGeom xmlns:a="http://schemas.openxmlformats.org/drawingml/2006/main" prst="line">
            <a:avLst/>
          </a:prstGeom>
          <a:noFill xmlns:a="http://schemas.openxmlformats.org/drawingml/2006/main"/>
          <a:ln xmlns:a="http://schemas.openxmlformats.org/drawingml/2006/main" w="9525">
            <a:solidFill>
              <a:srgbClr val="527089"/>
            </a:solidFill>
            <a:prstDash val="solid"/>
          </a:ln>
        </p:spPr>
      </p:sp>
      <p:sp>
        <p:nvSpPr>
          <p:cNvPr id="32" name="">
            <a:extLst xmlns:a="http://schemas.openxmlformats.org/drawingml/2006/main">
              <a:ext uri="{FF2B5EF4-FFF2-40B4-BE49-F238E27FC236}">
                <a16:creationId xmlns:a16="http://schemas.microsoft.com/office/drawing/2014/main" id="{F734B979-0758-4085-8B25-0E95F5C19F89}"/>
              </a:ext>
            </a:extLst>
          </p:cNvPr>
          <p:cNvSpPr>
            <a:spLocks xmlns:a="http://schemas.openxmlformats.org/drawingml/2006/main" noGrp="1"/>
          </p:cNvSpPr>
          <p:nvPr/>
        </p:nvSpPr>
        <p:spPr>
          <a:xfrm xmlns:a="http://schemas.openxmlformats.org/drawingml/2006/main">
            <a:off x="8829675" y="3524250"/>
            <a:ext cx="2095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6000"/>
              </a:lnSpc>
              <a:buNone/>
              <a:defRPr sz="1500" b="0">
                <a:solidFill>
                  <a:srgbClr val="D7E3EA"/>
                </a:solidFill>
                <a:latin typeface="Helvetica Neue"/>
                <a:ea typeface="Helvetica Neue"/>
                <a:cs typeface="Helvetica Neue"/>
              </a:defRPr>
            </a:pPr>
            <a:r>
              <a:rPr sz="1500" b="0">
                <a:solidFill>
                  <a:srgbClr val="D7E3EA"/>
                </a:solidFill>
                <a:latin typeface="Helvetica Neue"/>
                <a:ea typeface="Helvetica Neue"/>
                <a:cs typeface="Helvetica Neue"/>
              </a:rPr>
              <a:t>Participant ID</a:t>
            </a:r>
          </a:p>
          <a:p xmlns:a="http://schemas.openxmlformats.org/drawingml/2006/main">
            <a:pPr algn="ctr">
              <a:lnSpc>
                <a:spcPct val="106000"/>
              </a:lnSpc>
              <a:buNone/>
              <a:defRPr sz="1500" b="0">
                <a:solidFill>
                  <a:srgbClr val="D7E3EA"/>
                </a:solidFill>
                <a:latin typeface="Helvetica Neue"/>
                <a:ea typeface="Helvetica Neue"/>
                <a:cs typeface="Helvetica Neue"/>
              </a:defRPr>
            </a:pPr>
            <a:r>
              <a:rPr sz="1500" b="0">
                <a:solidFill>
                  <a:srgbClr val="D7E3EA"/>
                </a:solidFill>
                <a:latin typeface="Helvetica Neue"/>
                <a:ea typeface="Helvetica Neue"/>
                <a:cs typeface="Helvetica Neue"/>
              </a:rPr>
              <a:t>+ Cohort</a:t>
            </a:r>
          </a:p>
          <a:p xmlns:a="http://schemas.openxmlformats.org/drawingml/2006/main">
            <a:pPr algn="ctr">
              <a:lnSpc>
                <a:spcPct val="106000"/>
              </a:lnSpc>
              <a:buNone/>
              <a:defRPr sz="1500" b="0">
                <a:solidFill>
                  <a:srgbClr val="D7E3EA"/>
                </a:solidFill>
                <a:latin typeface="Helvetica Neue"/>
                <a:ea typeface="Helvetica Neue"/>
                <a:cs typeface="Helvetica Neue"/>
              </a:defRPr>
            </a:pPr>
            <a:r>
              <a:rPr sz="1500" b="0">
                <a:solidFill>
                  <a:srgbClr val="D7E3EA"/>
                </a:solidFill>
                <a:latin typeface="Helvetica Neue"/>
                <a:ea typeface="Helvetica Neue"/>
                <a:cs typeface="Helvetica Neue"/>
              </a:rPr>
              <a:t>+ IPA age band</a:t>
            </a:r>
          </a:p>
          <a:p xmlns:a="http://schemas.openxmlformats.org/drawingml/2006/main">
            <a:pPr algn="ctr">
              <a:lnSpc>
                <a:spcPct val="106000"/>
              </a:lnSpc>
              <a:buNone/>
              <a:defRPr sz="1500" b="0">
                <a:solidFill>
                  <a:srgbClr val="D7E3EA"/>
                </a:solidFill>
                <a:latin typeface="Helvetica Neue"/>
                <a:ea typeface="Helvetica Neue"/>
                <a:cs typeface="Helvetica Neue"/>
              </a:defRPr>
            </a:pPr>
            <a:r>
              <a:rPr sz="1500" b="0">
                <a:solidFill>
                  <a:srgbClr val="D7E3EA"/>
                </a:solidFill>
                <a:latin typeface="Helvetica Neue"/>
                <a:ea typeface="Helvetica Neue"/>
                <a:cs typeface="Helvetica Neue"/>
              </a:rPr>
              <a:t>+ Task</a:t>
            </a:r>
          </a:p>
        </p:txBody>
      </p:sp>
      <p:sp>
        <p:nvSpPr>
          <p:cNvPr id="33" name="">
            <a:extLst xmlns:a="http://schemas.openxmlformats.org/drawingml/2006/main">
              <a:ext uri="{FF2B5EF4-FFF2-40B4-BE49-F238E27FC236}">
                <a16:creationId xmlns:a16="http://schemas.microsoft.com/office/drawing/2014/main" id="{1DE8764C-A583-44FB-8DA3-834092E05FF8}"/>
              </a:ext>
            </a:extLst>
          </p:cNvPr>
          <p:cNvSpPr>
            <a:spLocks xmlns:a="http://schemas.openxmlformats.org/drawingml/2006/main" noGrp="1"/>
          </p:cNvSpPr>
          <p:nvPr/>
        </p:nvSpPr>
        <p:spPr>
          <a:xfrm xmlns:a="http://schemas.openxmlformats.org/drawingml/2006/main">
            <a:off x="685800" y="5362575"/>
            <a:ext cx="10744200" cy="704850"/>
          </a:xfrm>
          <a:prstGeom xmlns:a="http://schemas.openxmlformats.org/drawingml/2006/main" prst="roundRect">
            <a:avLst>
              <a:gd name="adj" fmla="val 16216"/>
            </a:avLst>
          </a:prstGeom>
          <a:solidFill xmlns:a="http://schemas.openxmlformats.org/drawingml/2006/main">
            <a:srgbClr val="E7F3F2"/>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D0E338BA-CC5B-4E4C-828C-F6F0E50C052D}"/>
              </a:ext>
            </a:extLst>
          </p:cNvPr>
          <p:cNvSpPr>
            <a:spLocks xmlns:a="http://schemas.openxmlformats.org/drawingml/2006/main" noGrp="1"/>
          </p:cNvSpPr>
          <p:nvPr/>
        </p:nvSpPr>
        <p:spPr>
          <a:xfrm xmlns:a="http://schemas.openxmlformats.org/drawingml/2006/main">
            <a:off x="971550" y="5553075"/>
            <a:ext cx="101727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500" b="1">
                <a:solidFill>
                  <a:srgbClr val="0B1F33"/>
                </a:solidFill>
                <a:latin typeface="Helvetica Neue"/>
                <a:ea typeface="Helvetica Neue"/>
                <a:cs typeface="Helvetica Neue"/>
              </a:defRPr>
            </a:pPr>
            <a:r>
              <a:rPr sz="1500" b="1">
                <a:solidFill>
                  <a:srgbClr val="0B1F33"/>
                </a:solidFill>
                <a:latin typeface="Helvetica Neue"/>
                <a:ea typeface="Helvetica Neue"/>
                <a:cs typeface="Helvetica Neue"/>
              </a:rPr>
              <a:t>Age-band changes are recorded, but they do not change the FTM assignment. Only an actual manual FTM reassignment does.</a:t>
            </a:r>
          </a:p>
        </p:txBody>
      </p:sp>
    </p:spTree>
    <p:extLst>
      <p:ext uri="{BB962C8B-B14F-4D97-AF65-F5344CB8AC3E}">
        <p14:creationId xmlns:p14="http://schemas.microsoft.com/office/powerpoint/2010/main" val="236487763"/>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02F6B3CA-8E98-45DC-AB9F-AF112D8E0F5B}"/>
              </a:ext>
            </a:extLst>
          </p:cNvPr>
          <p:cNvSpPr>
            <a:spLocks xmlns:a="http://schemas.openxmlformats.org/drawingml/2006/main" noGrp="1"/>
          </p:cNvSpPr>
          <p:nvPr/>
        </p:nvSpPr>
        <p:spPr>
          <a:xfrm xmlns:a="http://schemas.openxmlformats.org/drawingml/2006/main">
            <a:off x="609600" y="400050"/>
            <a:ext cx="1028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700" b="1">
                <a:solidFill>
                  <a:srgbClr val="0B1F33"/>
                </a:solidFill>
                <a:latin typeface="Helvetica Neue"/>
                <a:ea typeface="Helvetica Neue"/>
                <a:cs typeface="Helvetica Neue"/>
              </a:defRPr>
            </a:pPr>
            <a:r>
              <a:rPr sz="2700" b="1">
                <a:solidFill>
                  <a:srgbClr val="0B1F33"/>
                </a:solidFill>
                <a:latin typeface="Helvetica Neue"/>
                <a:ea typeface="Helvetica Neue"/>
                <a:cs typeface="Helvetica Neue"/>
              </a:rPr>
              <a:t>Each successful update becomes a point in the FTM performance trend</a:t>
            </a:r>
          </a:p>
        </p:txBody>
      </p:sp>
      <p:sp>
        <p:nvSpPr>
          <p:cNvPr id="2" name="">
            <a:extLst xmlns:a="http://schemas.openxmlformats.org/drawingml/2006/main">
              <a:ext uri="{FF2B5EF4-FFF2-40B4-BE49-F238E27FC236}">
                <a16:creationId xmlns:a16="http://schemas.microsoft.com/office/drawing/2014/main" id="{772A9522-D8BC-4012-B91F-9D174DEEDA2E}"/>
              </a:ext>
            </a:extLst>
          </p:cNvPr>
          <p:cNvSpPr>
            <a:spLocks xmlns:a="http://schemas.openxmlformats.org/drawingml/2006/main" noGrp="1"/>
          </p:cNvSpPr>
          <p:nvPr/>
        </p:nvSpPr>
        <p:spPr>
          <a:xfrm xmlns:a="http://schemas.openxmlformats.org/drawingml/2006/main">
            <a:off x="11144250" y="4572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200" b="1">
                <a:solidFill>
                  <a:srgbClr val="178C8C"/>
                </a:solidFill>
                <a:latin typeface="Helvetica Neue"/>
                <a:ea typeface="Helvetica Neue"/>
                <a:cs typeface="Helvetica Neue"/>
              </a:defRPr>
            </a:pPr>
            <a:r>
              <a:rPr sz="1200" b="1">
                <a:solidFill>
                  <a:srgbClr val="178C8C"/>
                </a:solidFill>
                <a:latin typeface="Helvetica Neue"/>
                <a:ea typeface="Helvetica Neue"/>
                <a:cs typeface="Helvetica Neue"/>
              </a:rPr>
              <a:t>07</a:t>
            </a:r>
          </a:p>
        </p:txBody>
      </p:sp>
      <p:sp>
        <p:nvSpPr>
          <p:cNvPr id="3" name="">
            <a:extLst xmlns:a="http://schemas.openxmlformats.org/drawingml/2006/main">
              <a:ext uri="{FF2B5EF4-FFF2-40B4-BE49-F238E27FC236}">
                <a16:creationId xmlns:a16="http://schemas.microsoft.com/office/drawing/2014/main" id="{B26772EE-931A-442F-89AD-7763B65C11D1}"/>
              </a:ext>
            </a:extLst>
          </p:cNvPr>
          <p:cNvSpPr>
            <a:spLocks xmlns:a="http://schemas.openxmlformats.org/drawingml/2006/main" noGrp="1"/>
          </p:cNvSpPr>
          <p:nvPr/>
        </p:nvSpPr>
        <p:spPr>
          <a:xfrm xmlns:a="http://schemas.openxmlformats.org/drawingml/2006/main">
            <a:off x="609600" y="1009650"/>
            <a:ext cx="10972800" cy="0"/>
          </a:xfrm>
          <a:prstGeom xmlns:a="http://schemas.openxmlformats.org/drawingml/2006/main" prst="line">
            <a:avLst/>
          </a:prstGeom>
          <a:noFill xmlns:a="http://schemas.openxmlformats.org/drawingml/2006/main"/>
          <a:ln xmlns:a="http://schemas.openxmlformats.org/drawingml/2006/main" w="9525">
            <a:solidFill>
              <a:srgbClr val="D4DEE5"/>
            </a:solidFill>
            <a:prstDash val="solid"/>
          </a:ln>
        </p:spPr>
      </p:sp>
      <p:sp>
        <p:nvSpPr>
          <p:cNvPr id="4" name="">
            <a:extLst xmlns:a="http://schemas.openxmlformats.org/drawingml/2006/main">
              <a:ext uri="{FF2B5EF4-FFF2-40B4-BE49-F238E27FC236}">
                <a16:creationId xmlns:a16="http://schemas.microsoft.com/office/drawing/2014/main" id="{FD85DBF4-47AA-4BA0-AC47-009EE63EF2DD}"/>
              </a:ext>
            </a:extLst>
          </p:cNvPr>
          <p:cNvSpPr>
            <a:spLocks xmlns:a="http://schemas.openxmlformats.org/drawingml/2006/main" noGrp="1"/>
          </p:cNvSpPr>
          <p:nvPr/>
        </p:nvSpPr>
        <p:spPr>
          <a:xfrm xmlns:a="http://schemas.openxmlformats.org/drawingml/2006/main">
            <a:off x="1238250" y="2381250"/>
            <a:ext cx="8858250" cy="0"/>
          </a:xfrm>
          <a:prstGeom xmlns:a="http://schemas.openxmlformats.org/drawingml/2006/main" prst="line">
            <a:avLst/>
          </a:prstGeom>
          <a:noFill xmlns:a="http://schemas.openxmlformats.org/drawingml/2006/main"/>
          <a:ln xmlns:a="http://schemas.openxmlformats.org/drawingml/2006/main" w="47625">
            <a:solidFill>
              <a:srgbClr val="D4DEE5"/>
            </a:solidFill>
            <a:prstDash val="solid"/>
          </a:ln>
        </p:spPr>
      </p:sp>
      <p:sp>
        <p:nvSpPr>
          <p:cNvPr id="5" name="">
            <a:extLst xmlns:a="http://schemas.openxmlformats.org/drawingml/2006/main">
              <a:ext uri="{FF2B5EF4-FFF2-40B4-BE49-F238E27FC236}">
                <a16:creationId xmlns:a16="http://schemas.microsoft.com/office/drawing/2014/main" id="{C1606A98-DF62-4BAC-9388-3E9F64A3F06C}"/>
              </a:ext>
            </a:extLst>
          </p:cNvPr>
          <p:cNvSpPr>
            <a:spLocks xmlns:a="http://schemas.openxmlformats.org/drawingml/2006/main" noGrp="1"/>
          </p:cNvSpPr>
          <p:nvPr/>
        </p:nvSpPr>
        <p:spPr>
          <a:xfrm xmlns:a="http://schemas.openxmlformats.org/drawingml/2006/main">
            <a:off x="1143000" y="2152650"/>
            <a:ext cx="457200" cy="457200"/>
          </a:xfrm>
          <a:prstGeom xmlns:a="http://schemas.openxmlformats.org/drawingml/2006/main" prst="roundRect">
            <a:avLst>
              <a:gd name="adj" fmla="val 50000"/>
            </a:avLst>
          </a:prstGeom>
          <a:solidFill xmlns:a="http://schemas.openxmlformats.org/drawingml/2006/main">
            <a:srgbClr val="178C8C"/>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1B7D3A27-BCB1-422F-B581-D8E86F2F8A25}"/>
              </a:ext>
            </a:extLst>
          </p:cNvPr>
          <p:cNvSpPr>
            <a:spLocks xmlns:a="http://schemas.openxmlformats.org/drawingml/2006/main" noGrp="1"/>
          </p:cNvSpPr>
          <p:nvPr/>
        </p:nvSpPr>
        <p:spPr>
          <a:xfrm xmlns:a="http://schemas.openxmlformats.org/drawingml/2006/main">
            <a:off x="1143000" y="2200275"/>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0000"/>
              </a:lnSpc>
              <a:buNone/>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1</a:t>
            </a:r>
          </a:p>
        </p:txBody>
      </p:sp>
      <p:sp>
        <p:nvSpPr>
          <p:cNvPr id="7" name="">
            <a:extLst xmlns:a="http://schemas.openxmlformats.org/drawingml/2006/main">
              <a:ext uri="{FF2B5EF4-FFF2-40B4-BE49-F238E27FC236}">
                <a16:creationId xmlns:a16="http://schemas.microsoft.com/office/drawing/2014/main" id="{9DDED62A-2B14-4E08-A1B8-C23F4426BB59}"/>
              </a:ext>
            </a:extLst>
          </p:cNvPr>
          <p:cNvSpPr>
            <a:spLocks xmlns:a="http://schemas.openxmlformats.org/drawingml/2006/main" noGrp="1"/>
          </p:cNvSpPr>
          <p:nvPr/>
        </p:nvSpPr>
        <p:spPr>
          <a:xfrm xmlns:a="http://schemas.openxmlformats.org/drawingml/2006/main">
            <a:off x="666750" y="2762250"/>
            <a:ext cx="14097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350" b="1">
                <a:solidFill>
                  <a:srgbClr val="0B1F33"/>
                </a:solidFill>
                <a:latin typeface="Helvetica Neue"/>
                <a:ea typeface="Helvetica Neue"/>
                <a:cs typeface="Helvetica Neue"/>
              </a:defRPr>
            </a:pPr>
            <a:r>
              <a:rPr sz="1350" b="1">
                <a:solidFill>
                  <a:srgbClr val="0B1F33"/>
                </a:solidFill>
                <a:latin typeface="Helvetica Neue"/>
                <a:ea typeface="Helvetica Neue"/>
                <a:cs typeface="Helvetica Neue"/>
              </a:rPr>
              <a:t>Refresh 1</a:t>
            </a:r>
          </a:p>
        </p:txBody>
      </p:sp>
      <p:sp>
        <p:nvSpPr>
          <p:cNvPr id="8" name="">
            <a:extLst xmlns:a="http://schemas.openxmlformats.org/drawingml/2006/main">
              <a:ext uri="{FF2B5EF4-FFF2-40B4-BE49-F238E27FC236}">
                <a16:creationId xmlns:a16="http://schemas.microsoft.com/office/drawing/2014/main" id="{AE68184B-9018-421E-82FD-47D2D93497B2}"/>
              </a:ext>
            </a:extLst>
          </p:cNvPr>
          <p:cNvSpPr>
            <a:spLocks xmlns:a="http://schemas.openxmlformats.org/drawingml/2006/main" noGrp="1"/>
          </p:cNvSpPr>
          <p:nvPr/>
        </p:nvSpPr>
        <p:spPr>
          <a:xfrm xmlns:a="http://schemas.openxmlformats.org/drawingml/2006/main">
            <a:off x="685800" y="3133725"/>
            <a:ext cx="1371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125" b="0">
                <a:solidFill>
                  <a:srgbClr val="5E6C78"/>
                </a:solidFill>
                <a:latin typeface="Helvetica Neue"/>
                <a:ea typeface="Helvetica Neue"/>
                <a:cs typeface="Helvetica Neue"/>
              </a:defRPr>
            </a:pPr>
            <a:r>
              <a:rPr sz="1125" b="0">
                <a:solidFill>
                  <a:srgbClr val="5E6C78"/>
                </a:solidFill>
                <a:latin typeface="Helvetica Neue"/>
                <a:ea typeface="Helvetica Neue"/>
                <a:cs typeface="Helvetica Neue"/>
              </a:rPr>
              <a:t>Save timestamp</a:t>
            </a:r>
          </a:p>
          <a:p xmlns:a="http://schemas.openxmlformats.org/drawingml/2006/main">
            <a:pPr algn="ctr">
              <a:lnSpc>
                <a:spcPct val="100000"/>
              </a:lnSpc>
              <a:buNone/>
              <a:defRPr sz="1125" b="0">
                <a:solidFill>
                  <a:srgbClr val="5E6C78"/>
                </a:solidFill>
                <a:latin typeface="Helvetica Neue"/>
                <a:ea typeface="Helvetica Neue"/>
                <a:cs typeface="Helvetica Neue"/>
              </a:defRPr>
            </a:pPr>
            <a:r>
              <a:rPr sz="1125" b="0">
                <a:solidFill>
                  <a:srgbClr val="5E6C78"/>
                </a:solidFill>
                <a:latin typeface="Helvetica Neue"/>
                <a:ea typeface="Helvetica Neue"/>
                <a:cs typeface="Helvetica Neue"/>
              </a:rPr>
              <a:t>+ task-level state</a:t>
            </a:r>
          </a:p>
        </p:txBody>
      </p:sp>
      <p:sp>
        <p:nvSpPr>
          <p:cNvPr id="9" name="">
            <a:extLst xmlns:a="http://schemas.openxmlformats.org/drawingml/2006/main">
              <a:ext uri="{FF2B5EF4-FFF2-40B4-BE49-F238E27FC236}">
                <a16:creationId xmlns:a16="http://schemas.microsoft.com/office/drawing/2014/main" id="{1AC06CAE-B77C-4FE6-A6F0-04544F21D94E}"/>
              </a:ext>
            </a:extLst>
          </p:cNvPr>
          <p:cNvSpPr>
            <a:spLocks xmlns:a="http://schemas.openxmlformats.org/drawingml/2006/main" noGrp="1"/>
          </p:cNvSpPr>
          <p:nvPr/>
        </p:nvSpPr>
        <p:spPr>
          <a:xfrm xmlns:a="http://schemas.openxmlformats.org/drawingml/2006/main">
            <a:off x="3714750" y="2152650"/>
            <a:ext cx="457200" cy="457200"/>
          </a:xfrm>
          <a:prstGeom xmlns:a="http://schemas.openxmlformats.org/drawingml/2006/main" prst="roundRect">
            <a:avLst>
              <a:gd name="adj" fmla="val 50000"/>
            </a:avLst>
          </a:prstGeom>
          <a:solidFill xmlns:a="http://schemas.openxmlformats.org/drawingml/2006/main">
            <a:srgbClr val="178C8C"/>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45139BFF-8551-4277-ACED-2BD0293D48E1}"/>
              </a:ext>
            </a:extLst>
          </p:cNvPr>
          <p:cNvSpPr>
            <a:spLocks xmlns:a="http://schemas.openxmlformats.org/drawingml/2006/main" noGrp="1"/>
          </p:cNvSpPr>
          <p:nvPr/>
        </p:nvSpPr>
        <p:spPr>
          <a:xfrm xmlns:a="http://schemas.openxmlformats.org/drawingml/2006/main">
            <a:off x="3714750" y="2200275"/>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0000"/>
              </a:lnSpc>
              <a:buNone/>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2</a:t>
            </a:r>
          </a:p>
        </p:txBody>
      </p:sp>
      <p:sp>
        <p:nvSpPr>
          <p:cNvPr id="11" name="">
            <a:extLst xmlns:a="http://schemas.openxmlformats.org/drawingml/2006/main">
              <a:ext uri="{FF2B5EF4-FFF2-40B4-BE49-F238E27FC236}">
                <a16:creationId xmlns:a16="http://schemas.microsoft.com/office/drawing/2014/main" id="{050531A5-BD5A-49EB-B16C-D4E5AF2FD340}"/>
              </a:ext>
            </a:extLst>
          </p:cNvPr>
          <p:cNvSpPr>
            <a:spLocks xmlns:a="http://schemas.openxmlformats.org/drawingml/2006/main" noGrp="1"/>
          </p:cNvSpPr>
          <p:nvPr/>
        </p:nvSpPr>
        <p:spPr>
          <a:xfrm xmlns:a="http://schemas.openxmlformats.org/drawingml/2006/main">
            <a:off x="3238500" y="2762250"/>
            <a:ext cx="14097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350" b="1">
                <a:solidFill>
                  <a:srgbClr val="0B1F33"/>
                </a:solidFill>
                <a:latin typeface="Helvetica Neue"/>
                <a:ea typeface="Helvetica Neue"/>
                <a:cs typeface="Helvetica Neue"/>
              </a:defRPr>
            </a:pPr>
            <a:r>
              <a:rPr sz="1350" b="1">
                <a:solidFill>
                  <a:srgbClr val="0B1F33"/>
                </a:solidFill>
                <a:latin typeface="Helvetica Neue"/>
                <a:ea typeface="Helvetica Neue"/>
                <a:cs typeface="Helvetica Neue"/>
              </a:rPr>
              <a:t>Refresh 2</a:t>
            </a:r>
          </a:p>
        </p:txBody>
      </p:sp>
      <p:sp>
        <p:nvSpPr>
          <p:cNvPr id="12" name="">
            <a:extLst xmlns:a="http://schemas.openxmlformats.org/drawingml/2006/main">
              <a:ext uri="{FF2B5EF4-FFF2-40B4-BE49-F238E27FC236}">
                <a16:creationId xmlns:a16="http://schemas.microsoft.com/office/drawing/2014/main" id="{8C259B34-D2FE-4B75-BECF-6E51583CFB6E}"/>
              </a:ext>
            </a:extLst>
          </p:cNvPr>
          <p:cNvSpPr>
            <a:spLocks xmlns:a="http://schemas.openxmlformats.org/drawingml/2006/main" noGrp="1"/>
          </p:cNvSpPr>
          <p:nvPr/>
        </p:nvSpPr>
        <p:spPr>
          <a:xfrm xmlns:a="http://schemas.openxmlformats.org/drawingml/2006/main">
            <a:off x="3257550" y="3133725"/>
            <a:ext cx="1371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125" b="0">
                <a:solidFill>
                  <a:srgbClr val="5E6C78"/>
                </a:solidFill>
                <a:latin typeface="Helvetica Neue"/>
                <a:ea typeface="Helvetica Neue"/>
                <a:cs typeface="Helvetica Neue"/>
              </a:defRPr>
            </a:pPr>
            <a:r>
              <a:rPr sz="1125" b="0">
                <a:solidFill>
                  <a:srgbClr val="5E6C78"/>
                </a:solidFill>
                <a:latin typeface="Helvetica Neue"/>
                <a:ea typeface="Helvetica Neue"/>
                <a:cs typeface="Helvetica Neue"/>
              </a:rPr>
              <a:t>Save timestamp</a:t>
            </a:r>
          </a:p>
          <a:p xmlns:a="http://schemas.openxmlformats.org/drawingml/2006/main">
            <a:pPr algn="ctr">
              <a:lnSpc>
                <a:spcPct val="100000"/>
              </a:lnSpc>
              <a:buNone/>
              <a:defRPr sz="1125" b="0">
                <a:solidFill>
                  <a:srgbClr val="5E6C78"/>
                </a:solidFill>
                <a:latin typeface="Helvetica Neue"/>
                <a:ea typeface="Helvetica Neue"/>
                <a:cs typeface="Helvetica Neue"/>
              </a:defRPr>
            </a:pPr>
            <a:r>
              <a:rPr sz="1125" b="0">
                <a:solidFill>
                  <a:srgbClr val="5E6C78"/>
                </a:solidFill>
                <a:latin typeface="Helvetica Neue"/>
                <a:ea typeface="Helvetica Neue"/>
                <a:cs typeface="Helvetica Neue"/>
              </a:rPr>
              <a:t>+ task-level state</a:t>
            </a:r>
          </a:p>
        </p:txBody>
      </p:sp>
      <p:sp>
        <p:nvSpPr>
          <p:cNvPr id="13" name="">
            <a:extLst xmlns:a="http://schemas.openxmlformats.org/drawingml/2006/main">
              <a:ext uri="{FF2B5EF4-FFF2-40B4-BE49-F238E27FC236}">
                <a16:creationId xmlns:a16="http://schemas.microsoft.com/office/drawing/2014/main" id="{CD74B965-A1F2-4D93-A056-9E87FD6E643E}"/>
              </a:ext>
            </a:extLst>
          </p:cNvPr>
          <p:cNvSpPr>
            <a:spLocks xmlns:a="http://schemas.openxmlformats.org/drawingml/2006/main" noGrp="1"/>
          </p:cNvSpPr>
          <p:nvPr/>
        </p:nvSpPr>
        <p:spPr>
          <a:xfrm xmlns:a="http://schemas.openxmlformats.org/drawingml/2006/main">
            <a:off x="6286500" y="2152650"/>
            <a:ext cx="457200" cy="457200"/>
          </a:xfrm>
          <a:prstGeom xmlns:a="http://schemas.openxmlformats.org/drawingml/2006/main" prst="roundRect">
            <a:avLst>
              <a:gd name="adj" fmla="val 50000"/>
            </a:avLst>
          </a:prstGeom>
          <a:solidFill xmlns:a="http://schemas.openxmlformats.org/drawingml/2006/main">
            <a:srgbClr val="178C8C"/>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271526D7-DF9D-418D-8AB0-C5B23B215DB1}"/>
              </a:ext>
            </a:extLst>
          </p:cNvPr>
          <p:cNvSpPr>
            <a:spLocks xmlns:a="http://schemas.openxmlformats.org/drawingml/2006/main" noGrp="1"/>
          </p:cNvSpPr>
          <p:nvPr/>
        </p:nvSpPr>
        <p:spPr>
          <a:xfrm xmlns:a="http://schemas.openxmlformats.org/drawingml/2006/main">
            <a:off x="6286500" y="2200275"/>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0000"/>
              </a:lnSpc>
              <a:buNone/>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3</a:t>
            </a:r>
          </a:p>
        </p:txBody>
      </p:sp>
      <p:sp>
        <p:nvSpPr>
          <p:cNvPr id="15" name="">
            <a:extLst xmlns:a="http://schemas.openxmlformats.org/drawingml/2006/main">
              <a:ext uri="{FF2B5EF4-FFF2-40B4-BE49-F238E27FC236}">
                <a16:creationId xmlns:a16="http://schemas.microsoft.com/office/drawing/2014/main" id="{26911879-B112-43C4-BD3D-6F71AC334041}"/>
              </a:ext>
            </a:extLst>
          </p:cNvPr>
          <p:cNvSpPr>
            <a:spLocks xmlns:a="http://schemas.openxmlformats.org/drawingml/2006/main" noGrp="1"/>
          </p:cNvSpPr>
          <p:nvPr/>
        </p:nvSpPr>
        <p:spPr>
          <a:xfrm xmlns:a="http://schemas.openxmlformats.org/drawingml/2006/main">
            <a:off x="5810250" y="2762250"/>
            <a:ext cx="14097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350" b="1">
                <a:solidFill>
                  <a:srgbClr val="0B1F33"/>
                </a:solidFill>
                <a:latin typeface="Helvetica Neue"/>
                <a:ea typeface="Helvetica Neue"/>
                <a:cs typeface="Helvetica Neue"/>
              </a:defRPr>
            </a:pPr>
            <a:r>
              <a:rPr sz="1350" b="1">
                <a:solidFill>
                  <a:srgbClr val="0B1F33"/>
                </a:solidFill>
                <a:latin typeface="Helvetica Neue"/>
                <a:ea typeface="Helvetica Neue"/>
                <a:cs typeface="Helvetica Neue"/>
              </a:rPr>
              <a:t>Refresh 3</a:t>
            </a:r>
          </a:p>
        </p:txBody>
      </p:sp>
      <p:sp>
        <p:nvSpPr>
          <p:cNvPr id="16" name="">
            <a:extLst xmlns:a="http://schemas.openxmlformats.org/drawingml/2006/main">
              <a:ext uri="{FF2B5EF4-FFF2-40B4-BE49-F238E27FC236}">
                <a16:creationId xmlns:a16="http://schemas.microsoft.com/office/drawing/2014/main" id="{47D6C6E8-4AE7-4F64-9A93-5E058796FBE7}"/>
              </a:ext>
            </a:extLst>
          </p:cNvPr>
          <p:cNvSpPr>
            <a:spLocks xmlns:a="http://schemas.openxmlformats.org/drawingml/2006/main" noGrp="1"/>
          </p:cNvSpPr>
          <p:nvPr/>
        </p:nvSpPr>
        <p:spPr>
          <a:xfrm xmlns:a="http://schemas.openxmlformats.org/drawingml/2006/main">
            <a:off x="5829300" y="3133725"/>
            <a:ext cx="1371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125" b="0">
                <a:solidFill>
                  <a:srgbClr val="5E6C78"/>
                </a:solidFill>
                <a:latin typeface="Helvetica Neue"/>
                <a:ea typeface="Helvetica Neue"/>
                <a:cs typeface="Helvetica Neue"/>
              </a:defRPr>
            </a:pPr>
            <a:r>
              <a:rPr sz="1125" b="0">
                <a:solidFill>
                  <a:srgbClr val="5E6C78"/>
                </a:solidFill>
                <a:latin typeface="Helvetica Neue"/>
                <a:ea typeface="Helvetica Neue"/>
                <a:cs typeface="Helvetica Neue"/>
              </a:rPr>
              <a:t>Save timestamp</a:t>
            </a:r>
          </a:p>
          <a:p xmlns:a="http://schemas.openxmlformats.org/drawingml/2006/main">
            <a:pPr algn="ctr">
              <a:lnSpc>
                <a:spcPct val="100000"/>
              </a:lnSpc>
              <a:buNone/>
              <a:defRPr sz="1125" b="0">
                <a:solidFill>
                  <a:srgbClr val="5E6C78"/>
                </a:solidFill>
                <a:latin typeface="Helvetica Neue"/>
                <a:ea typeface="Helvetica Neue"/>
                <a:cs typeface="Helvetica Neue"/>
              </a:defRPr>
            </a:pPr>
            <a:r>
              <a:rPr sz="1125" b="0">
                <a:solidFill>
                  <a:srgbClr val="5E6C78"/>
                </a:solidFill>
                <a:latin typeface="Helvetica Neue"/>
                <a:ea typeface="Helvetica Neue"/>
                <a:cs typeface="Helvetica Neue"/>
              </a:rPr>
              <a:t>+ task-level state</a:t>
            </a:r>
          </a:p>
        </p:txBody>
      </p:sp>
      <p:sp>
        <p:nvSpPr>
          <p:cNvPr id="17" name="">
            <a:extLst xmlns:a="http://schemas.openxmlformats.org/drawingml/2006/main">
              <a:ext uri="{FF2B5EF4-FFF2-40B4-BE49-F238E27FC236}">
                <a16:creationId xmlns:a16="http://schemas.microsoft.com/office/drawing/2014/main" id="{124F6A2D-147C-4575-91F4-20C519ED0BD3}"/>
              </a:ext>
            </a:extLst>
          </p:cNvPr>
          <p:cNvSpPr>
            <a:spLocks xmlns:a="http://schemas.openxmlformats.org/drawingml/2006/main" noGrp="1"/>
          </p:cNvSpPr>
          <p:nvPr/>
        </p:nvSpPr>
        <p:spPr>
          <a:xfrm xmlns:a="http://schemas.openxmlformats.org/drawingml/2006/main">
            <a:off x="8858250" y="2152650"/>
            <a:ext cx="457200" cy="457200"/>
          </a:xfrm>
          <a:prstGeom xmlns:a="http://schemas.openxmlformats.org/drawingml/2006/main" prst="roundRect">
            <a:avLst>
              <a:gd name="adj" fmla="val 50000"/>
            </a:avLst>
          </a:prstGeom>
          <a:solidFill xmlns:a="http://schemas.openxmlformats.org/drawingml/2006/main">
            <a:srgbClr val="F2C14E"/>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F25C469B-BC41-4BD7-932D-CCCD15FCAAFF}"/>
              </a:ext>
            </a:extLst>
          </p:cNvPr>
          <p:cNvSpPr>
            <a:spLocks xmlns:a="http://schemas.openxmlformats.org/drawingml/2006/main" noGrp="1"/>
          </p:cNvSpPr>
          <p:nvPr/>
        </p:nvSpPr>
        <p:spPr>
          <a:xfrm xmlns:a="http://schemas.openxmlformats.org/drawingml/2006/main">
            <a:off x="8858250" y="2200275"/>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0000"/>
              </a:lnSpc>
              <a:buNone/>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4</a:t>
            </a:r>
          </a:p>
        </p:txBody>
      </p:sp>
      <p:sp>
        <p:nvSpPr>
          <p:cNvPr id="19" name="">
            <a:extLst xmlns:a="http://schemas.openxmlformats.org/drawingml/2006/main">
              <a:ext uri="{FF2B5EF4-FFF2-40B4-BE49-F238E27FC236}">
                <a16:creationId xmlns:a16="http://schemas.microsoft.com/office/drawing/2014/main" id="{C6D65B68-3942-44F5-9D8B-7C888B3979E5}"/>
              </a:ext>
            </a:extLst>
          </p:cNvPr>
          <p:cNvSpPr>
            <a:spLocks xmlns:a="http://schemas.openxmlformats.org/drawingml/2006/main" noGrp="1"/>
          </p:cNvSpPr>
          <p:nvPr/>
        </p:nvSpPr>
        <p:spPr>
          <a:xfrm xmlns:a="http://schemas.openxmlformats.org/drawingml/2006/main">
            <a:off x="8382000" y="2762250"/>
            <a:ext cx="14097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350" b="1">
                <a:solidFill>
                  <a:srgbClr val="0B1F33"/>
                </a:solidFill>
                <a:latin typeface="Helvetica Neue"/>
                <a:ea typeface="Helvetica Neue"/>
                <a:cs typeface="Helvetica Neue"/>
              </a:defRPr>
            </a:pPr>
            <a:r>
              <a:rPr sz="1350" b="1">
                <a:solidFill>
                  <a:srgbClr val="0B1F33"/>
                </a:solidFill>
                <a:latin typeface="Helvetica Neue"/>
                <a:ea typeface="Helvetica Neue"/>
                <a:cs typeface="Helvetica Neue"/>
              </a:rPr>
              <a:t>Future refreshes</a:t>
            </a:r>
          </a:p>
        </p:txBody>
      </p:sp>
      <p:sp>
        <p:nvSpPr>
          <p:cNvPr id="20" name="">
            <a:extLst xmlns:a="http://schemas.openxmlformats.org/drawingml/2006/main">
              <a:ext uri="{FF2B5EF4-FFF2-40B4-BE49-F238E27FC236}">
                <a16:creationId xmlns:a16="http://schemas.microsoft.com/office/drawing/2014/main" id="{6C9141F1-A976-4014-9876-05E17D578255}"/>
              </a:ext>
            </a:extLst>
          </p:cNvPr>
          <p:cNvSpPr>
            <a:spLocks xmlns:a="http://schemas.openxmlformats.org/drawingml/2006/main" noGrp="1"/>
          </p:cNvSpPr>
          <p:nvPr/>
        </p:nvSpPr>
        <p:spPr>
          <a:xfrm xmlns:a="http://schemas.openxmlformats.org/drawingml/2006/main">
            <a:off x="8401050" y="3133725"/>
            <a:ext cx="1371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125" b="0">
                <a:solidFill>
                  <a:srgbClr val="5E6C78"/>
                </a:solidFill>
                <a:latin typeface="Helvetica Neue"/>
                <a:ea typeface="Helvetica Neue"/>
                <a:cs typeface="Helvetica Neue"/>
              </a:defRPr>
            </a:pPr>
            <a:r>
              <a:rPr sz="1125" b="0">
                <a:solidFill>
                  <a:srgbClr val="5E6C78"/>
                </a:solidFill>
                <a:latin typeface="Helvetica Neue"/>
                <a:ea typeface="Helvetica Neue"/>
                <a:cs typeface="Helvetica Neue"/>
              </a:rPr>
              <a:t>Save timestamp</a:t>
            </a:r>
          </a:p>
          <a:p xmlns:a="http://schemas.openxmlformats.org/drawingml/2006/main">
            <a:pPr algn="ctr">
              <a:lnSpc>
                <a:spcPct val="100000"/>
              </a:lnSpc>
              <a:buNone/>
              <a:defRPr sz="1125" b="0">
                <a:solidFill>
                  <a:srgbClr val="5E6C78"/>
                </a:solidFill>
                <a:latin typeface="Helvetica Neue"/>
                <a:ea typeface="Helvetica Neue"/>
                <a:cs typeface="Helvetica Neue"/>
              </a:defRPr>
            </a:pPr>
            <a:r>
              <a:rPr sz="1125" b="0">
                <a:solidFill>
                  <a:srgbClr val="5E6C78"/>
                </a:solidFill>
                <a:latin typeface="Helvetica Neue"/>
                <a:ea typeface="Helvetica Neue"/>
                <a:cs typeface="Helvetica Neue"/>
              </a:rPr>
              <a:t>+ task-level state</a:t>
            </a:r>
          </a:p>
        </p:txBody>
      </p:sp>
      <p:sp>
        <p:nvSpPr>
          <p:cNvPr id="21" name="">
            <a:extLst xmlns:a="http://schemas.openxmlformats.org/drawingml/2006/main">
              <a:ext uri="{FF2B5EF4-FFF2-40B4-BE49-F238E27FC236}">
                <a16:creationId xmlns:a16="http://schemas.microsoft.com/office/drawing/2014/main" id="{A9D718E9-CAA4-418A-A2CE-4D788EA2B942}"/>
              </a:ext>
            </a:extLst>
          </p:cNvPr>
          <p:cNvSpPr>
            <a:spLocks xmlns:a="http://schemas.openxmlformats.org/drawingml/2006/main" noGrp="1"/>
          </p:cNvSpPr>
          <p:nvPr/>
        </p:nvSpPr>
        <p:spPr>
          <a:xfrm xmlns:a="http://schemas.openxmlformats.org/drawingml/2006/main">
            <a:off x="685800" y="3943350"/>
            <a:ext cx="4991100" cy="1752600"/>
          </a:xfrm>
          <a:prstGeom xmlns:a="http://schemas.openxmlformats.org/drawingml/2006/main" prst="roundRect">
            <a:avLst>
              <a:gd name="adj" fmla="val 8696"/>
            </a:avLst>
          </a:prstGeom>
          <a:solidFill xmlns:a="http://schemas.openxmlformats.org/drawingml/2006/main">
            <a:srgbClr val="F4F7FA"/>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332DDE77-24C8-4E54-8949-AE19F9269F03}"/>
              </a:ext>
            </a:extLst>
          </p:cNvPr>
          <p:cNvSpPr>
            <a:spLocks xmlns:a="http://schemas.openxmlformats.org/drawingml/2006/main" noGrp="1"/>
          </p:cNvSpPr>
          <p:nvPr/>
        </p:nvSpPr>
        <p:spPr>
          <a:xfrm xmlns:a="http://schemas.openxmlformats.org/drawingml/2006/main">
            <a:off x="933450" y="418147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650" b="1">
                <a:solidFill>
                  <a:srgbClr val="178C8C"/>
                </a:solidFill>
                <a:latin typeface="Helvetica Neue"/>
                <a:ea typeface="Helvetica Neue"/>
                <a:cs typeface="Helvetica Neue"/>
              </a:defRPr>
            </a:pPr>
            <a:r>
              <a:rPr sz="1650" b="1">
                <a:solidFill>
                  <a:srgbClr val="178C8C"/>
                </a:solidFill>
                <a:latin typeface="Helvetica Neue"/>
                <a:ea typeface="Helvetica Neue"/>
                <a:cs typeface="Helvetica Neue"/>
              </a:rPr>
              <a:t>Trend filters</a:t>
            </a:r>
          </a:p>
        </p:txBody>
      </p:sp>
      <p:sp>
        <p:nvSpPr>
          <p:cNvPr id="23" name="">
            <a:extLst xmlns:a="http://schemas.openxmlformats.org/drawingml/2006/main">
              <a:ext uri="{FF2B5EF4-FFF2-40B4-BE49-F238E27FC236}">
                <a16:creationId xmlns:a16="http://schemas.microsoft.com/office/drawing/2014/main" id="{3C8B86B4-E06C-4CB2-8ACE-D51D792FF508}"/>
              </a:ext>
            </a:extLst>
          </p:cNvPr>
          <p:cNvSpPr>
            <a:spLocks xmlns:a="http://schemas.openxmlformats.org/drawingml/2006/main" noGrp="1"/>
          </p:cNvSpPr>
          <p:nvPr/>
        </p:nvSpPr>
        <p:spPr>
          <a:xfrm xmlns:a="http://schemas.openxmlformats.org/drawingml/2006/main">
            <a:off x="933450" y="4667250"/>
            <a:ext cx="4343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1">
                <a:solidFill>
                  <a:srgbClr val="0B1F33"/>
                </a:solidFill>
                <a:latin typeface="Helvetica Neue"/>
                <a:ea typeface="Helvetica Neue"/>
                <a:cs typeface="Helvetica Neue"/>
              </a:defRPr>
            </a:pPr>
            <a:r>
              <a:rPr sz="1650" b="1">
                <a:solidFill>
                  <a:srgbClr val="0B1F33"/>
                </a:solidFill>
                <a:latin typeface="Helvetica Neue"/>
                <a:ea typeface="Helvetica Neue"/>
                <a:cs typeface="Helvetica Neue"/>
              </a:rPr>
              <a:t>FTM  •  Task  •  Age group</a:t>
            </a:r>
          </a:p>
          <a:p xmlns:a="http://schemas.openxmlformats.org/drawingml/2006/main">
            <a:pPr algn="l">
              <a:lnSpc>
                <a:spcPct val="112000"/>
              </a:lnSpc>
              <a:buNone/>
              <a:defRPr sz="1650" b="1">
                <a:solidFill>
                  <a:srgbClr val="0B1F33"/>
                </a:solidFill>
                <a:latin typeface="Helvetica Neue"/>
                <a:ea typeface="Helvetica Neue"/>
                <a:cs typeface="Helvetica Neue"/>
              </a:defRPr>
            </a:pPr>
            <a:r>
              <a:rPr sz="1650" b="1">
                <a:solidFill>
                  <a:srgbClr val="0B1F33"/>
                </a:solidFill>
                <a:latin typeface="Helvetica Neue"/>
                <a:ea typeface="Helvetica Neue"/>
                <a:cs typeface="Helvetica Neue"/>
              </a:rPr>
              <a:t>Outcome  •  Cohort  •  FTM view</a:t>
            </a:r>
          </a:p>
        </p:txBody>
      </p:sp>
      <p:sp>
        <p:nvSpPr>
          <p:cNvPr id="24" name="">
            <a:extLst xmlns:a="http://schemas.openxmlformats.org/drawingml/2006/main">
              <a:ext uri="{FF2B5EF4-FFF2-40B4-BE49-F238E27FC236}">
                <a16:creationId xmlns:a16="http://schemas.microsoft.com/office/drawing/2014/main" id="{BE092956-EFDB-4ADA-A8E4-91E9D3B45C00}"/>
              </a:ext>
            </a:extLst>
          </p:cNvPr>
          <p:cNvSpPr>
            <a:spLocks xmlns:a="http://schemas.openxmlformats.org/drawingml/2006/main" noGrp="1"/>
          </p:cNvSpPr>
          <p:nvPr/>
        </p:nvSpPr>
        <p:spPr>
          <a:xfrm xmlns:a="http://schemas.openxmlformats.org/drawingml/2006/main">
            <a:off x="5962650" y="3943350"/>
            <a:ext cx="5467350" cy="1752600"/>
          </a:xfrm>
          <a:prstGeom xmlns:a="http://schemas.openxmlformats.org/drawingml/2006/main" prst="roundRect">
            <a:avLst>
              <a:gd name="adj" fmla="val 8696"/>
            </a:avLst>
          </a:prstGeom>
          <a:solidFill xmlns:a="http://schemas.openxmlformats.org/drawingml/2006/main">
            <a:srgbClr val="EDF7F6"/>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74C08FEF-D66E-43EA-BB1E-D7321C44D80E}"/>
              </a:ext>
            </a:extLst>
          </p:cNvPr>
          <p:cNvSpPr>
            <a:spLocks xmlns:a="http://schemas.openxmlformats.org/drawingml/2006/main" noGrp="1"/>
          </p:cNvSpPr>
          <p:nvPr/>
        </p:nvSpPr>
        <p:spPr>
          <a:xfrm xmlns:a="http://schemas.openxmlformats.org/drawingml/2006/main">
            <a:off x="6210300" y="4181475"/>
            <a:ext cx="238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650" b="1">
                <a:solidFill>
                  <a:srgbClr val="178C8C"/>
                </a:solidFill>
                <a:latin typeface="Helvetica Neue"/>
                <a:ea typeface="Helvetica Neue"/>
                <a:cs typeface="Helvetica Neue"/>
              </a:defRPr>
            </a:pPr>
            <a:r>
              <a:rPr sz="1650" b="1">
                <a:solidFill>
                  <a:srgbClr val="178C8C"/>
                </a:solidFill>
                <a:latin typeface="Helvetica Neue"/>
                <a:ea typeface="Helvetica Neue"/>
                <a:cs typeface="Helvetica Neue"/>
              </a:rPr>
              <a:t>Displayed metrics</a:t>
            </a:r>
          </a:p>
        </p:txBody>
      </p:sp>
      <p:sp>
        <p:nvSpPr>
          <p:cNvPr id="26" name="">
            <a:extLst xmlns:a="http://schemas.openxmlformats.org/drawingml/2006/main">
              <a:ext uri="{FF2B5EF4-FFF2-40B4-BE49-F238E27FC236}">
                <a16:creationId xmlns:a16="http://schemas.microsoft.com/office/drawing/2014/main" id="{74F2AB4E-C766-4563-8109-A43DFE17AE31}"/>
              </a:ext>
            </a:extLst>
          </p:cNvPr>
          <p:cNvSpPr>
            <a:spLocks xmlns:a="http://schemas.openxmlformats.org/drawingml/2006/main" noGrp="1"/>
          </p:cNvSpPr>
          <p:nvPr/>
        </p:nvSpPr>
        <p:spPr>
          <a:xfrm xmlns:a="http://schemas.openxmlformats.org/drawingml/2006/main">
            <a:off x="6210300" y="4638675"/>
            <a:ext cx="48006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00" b="1">
                <a:solidFill>
                  <a:srgbClr val="0B1F33"/>
                </a:solidFill>
                <a:latin typeface="Helvetica Neue"/>
                <a:ea typeface="Helvetica Neue"/>
                <a:cs typeface="Helvetica Neue"/>
              </a:defRPr>
            </a:pPr>
            <a:r>
              <a:rPr sz="1500" b="1">
                <a:solidFill>
                  <a:srgbClr val="0B1F33"/>
                </a:solidFill>
                <a:latin typeface="Helvetica Neue"/>
                <a:ea typeface="Helvetica Neue"/>
                <a:cs typeface="Helvetica Neue"/>
              </a:rPr>
              <a:t>Weighted progress  •  Completion rate</a:t>
            </a:r>
          </a:p>
          <a:p xmlns:a="http://schemas.openxmlformats.org/drawingml/2006/main">
            <a:pPr algn="l">
              <a:lnSpc>
                <a:spcPct val="108000"/>
              </a:lnSpc>
              <a:buNone/>
              <a:defRPr sz="1500" b="1">
                <a:solidFill>
                  <a:srgbClr val="0B1F33"/>
                </a:solidFill>
                <a:latin typeface="Helvetica Neue"/>
                <a:ea typeface="Helvetica Neue"/>
                <a:cs typeface="Helvetica Neue"/>
              </a:defRPr>
            </a:pPr>
            <a:r>
              <a:rPr sz="1500" b="1">
                <a:solidFill>
                  <a:srgbClr val="0B1F33"/>
                </a:solidFill>
                <a:latin typeface="Helvetica Neue"/>
                <a:ea typeface="Helvetica Neue"/>
                <a:cs typeface="Helvetica Neue"/>
              </a:rPr>
              <a:t>Complete  •  No-show  •  Needs follow-up</a:t>
            </a:r>
          </a:p>
          <a:p xmlns:a="http://schemas.openxmlformats.org/drawingml/2006/main">
            <a:pPr algn="l">
              <a:lnSpc>
                <a:spcPct val="108000"/>
              </a:lnSpc>
              <a:buNone/>
              <a:defRPr sz="1500" b="1">
                <a:solidFill>
                  <a:srgbClr val="0B1F33"/>
                </a:solidFill>
                <a:latin typeface="Helvetica Neue"/>
                <a:ea typeface="Helvetica Neue"/>
                <a:cs typeface="Helvetica Neue"/>
              </a:defRPr>
            </a:pPr>
            <a:r>
              <a:rPr sz="1500" b="1">
                <a:solidFill>
                  <a:srgbClr val="0B1F33"/>
                </a:solidFill>
                <a:latin typeface="Helvetica Neue"/>
                <a:ea typeface="Helvetica Neue"/>
                <a:cs typeface="Helvetica Neue"/>
              </a:rPr>
              <a:t>Participants  •  Task records</a:t>
            </a:r>
          </a:p>
        </p:txBody>
      </p:sp>
      <p:sp>
        <p:nvSpPr>
          <p:cNvPr id="27" name="">
            <a:extLst xmlns:a="http://schemas.openxmlformats.org/drawingml/2006/main">
              <a:ext uri="{FF2B5EF4-FFF2-40B4-BE49-F238E27FC236}">
                <a16:creationId xmlns:a16="http://schemas.microsoft.com/office/drawing/2014/main" id="{883A0F44-F6DD-4B15-9E69-2EEE45F10E5F}"/>
              </a:ext>
            </a:extLst>
          </p:cNvPr>
          <p:cNvSpPr>
            <a:spLocks xmlns:a="http://schemas.openxmlformats.org/drawingml/2006/main" noGrp="1"/>
          </p:cNvSpPr>
          <p:nvPr/>
        </p:nvSpPr>
        <p:spPr>
          <a:xfrm xmlns:a="http://schemas.openxmlformats.org/drawingml/2006/main">
            <a:off x="685800" y="6000750"/>
            <a:ext cx="10744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0000"/>
              </a:lnSpc>
              <a:buNone/>
              <a:defRPr sz="1575" b="1">
                <a:solidFill>
                  <a:srgbClr val="0B1F33"/>
                </a:solidFill>
                <a:latin typeface="Helvetica Neue"/>
                <a:ea typeface="Helvetica Neue"/>
                <a:cs typeface="Helvetica Neue"/>
              </a:defRPr>
            </a:pPr>
            <a:r>
              <a:rPr sz="1575" b="1">
                <a:solidFill>
                  <a:srgbClr val="0B1F33"/>
                </a:solidFill>
                <a:latin typeface="Helvetica Neue"/>
                <a:ea typeface="Helvetica Neue"/>
                <a:cs typeface="Helvetica Neue"/>
              </a:rPr>
              <a:t>Operational result: the dashboard can show current status, any saved snapshot, and how each FTM changes over time.</a:t>
            </a:r>
          </a:p>
        </p:txBody>
      </p:sp>
    </p:spTree>
    <p:extLst>
      <p:ext uri="{BB962C8B-B14F-4D97-AF65-F5344CB8AC3E}">
        <p14:creationId xmlns:p14="http://schemas.microsoft.com/office/powerpoint/2010/main" val="129913905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2026-09-10T03:05:12.0840000Z</dcterms:created>
  <dcterms:modified xsi:type="dcterms:W3CDTF">2026-09-10T03:05:12.0840000Z</dcterms:modified>
</coreProperties>
</file>