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e518a851894b5c" /><Relationship Type="http://schemas.openxmlformats.org/officeDocument/2006/relationships/extended-properties" Target="/docProps/app.xml" Id="R48b5307b577c4f94" /><Relationship Type="http://schemas.openxmlformats.org/officeDocument/2006/relationships/officeDocument" Target="/ppt/presentation.xml" Id="R531e850fddb740ba" /></Relationships>
</file>

<file path=ppt/presentation.xml><?xml version="1.0" encoding="utf-8"?>
<p:presentation xmlns:p="http://schemas.openxmlformats.org/presentationml/2006/main">
  <p:sldMasterIdLst>
    <p:sldMasterId xmlns:r="http://schemas.openxmlformats.org/officeDocument/2006/relationships" id="2147483648" r:id="Rc7707b9be72a4340"/>
  </p:sldMasterIdLst>
  <p:notesMasterIdLst>
    <p:notesMasterId xmlns:r="http://schemas.openxmlformats.org/officeDocument/2006/relationships" r:id="R5ffb2e0c49274736"/>
  </p:notesMasterIdLst>
  <p:sldIdLst>
    <p:sldId xmlns:r="http://schemas.openxmlformats.org/officeDocument/2006/relationships" id="256" r:id="Rc2da2b6ad43d4599"/>
    <p:sldId xmlns:r="http://schemas.openxmlformats.org/officeDocument/2006/relationships" id="257" r:id="R742f4315a0124394"/>
    <p:sldId xmlns:r="http://schemas.openxmlformats.org/officeDocument/2006/relationships" id="258" r:id="R5b2fc3c3d8a3449e"/>
    <p:sldId xmlns:r="http://schemas.openxmlformats.org/officeDocument/2006/relationships" id="259" r:id="Rf936b828f183457f"/>
    <p:sldId xmlns:r="http://schemas.openxmlformats.org/officeDocument/2006/relationships" id="260" r:id="R1ec4e3f92a77436f"/>
    <p:sldId xmlns:r="http://schemas.openxmlformats.org/officeDocument/2006/relationships" id="261" r:id="R6188a05df0aa49da"/>
    <p:sldId xmlns:r="http://schemas.openxmlformats.org/officeDocument/2006/relationships" id="262" r:id="R96a514007df54c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d0c044b2ed42f2" /><Relationship Type="http://schemas.openxmlformats.org/officeDocument/2006/relationships/slideMaster" Target="/ppt/slideMasters/slideMaster1.xml" Id="Rc7707b9be72a4340" /><Relationship Type="http://schemas.openxmlformats.org/officeDocument/2006/relationships/notesMaster" Target="/ppt/notesMasters/notesMaster1.xml" Id="R5ffb2e0c49274736" /><Relationship Type="http://schemas.openxmlformats.org/officeDocument/2006/relationships/presProps" Target="/ppt/presProps.xml" Id="R5c3ccc89f3bf45d8" /><Relationship Type="http://schemas.openxmlformats.org/officeDocument/2006/relationships/tableStyles" Target="/ppt/tableStyles.xml" Id="R951def32a5e54c53" /><Relationship Type="http://schemas.openxmlformats.org/officeDocument/2006/relationships/slide" Target="/ppt/slides/slide1.xml" Id="Rc2da2b6ad43d4599" /><Relationship Type="http://schemas.openxmlformats.org/officeDocument/2006/relationships/slide" Target="/ppt/slides/slide2.xml" Id="R742f4315a0124394" /><Relationship Type="http://schemas.openxmlformats.org/officeDocument/2006/relationships/slide" Target="/ppt/slides/slide3.xml" Id="R5b2fc3c3d8a3449e" /><Relationship Type="http://schemas.openxmlformats.org/officeDocument/2006/relationships/slide" Target="/ppt/slides/slide4.xml" Id="Rf936b828f183457f" /><Relationship Type="http://schemas.openxmlformats.org/officeDocument/2006/relationships/slide" Target="/ppt/slides/slide5.xml" Id="R1ec4e3f92a77436f" /><Relationship Type="http://schemas.openxmlformats.org/officeDocument/2006/relationships/slide" Target="/ppt/slides/slide6.xml" Id="R6188a05df0aa49da" /><Relationship Type="http://schemas.openxmlformats.org/officeDocument/2006/relationships/slide" Target="/ppt/slides/slide7.xml" Id="R96a514007df54c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79049d13c441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1d33a5c822475c" /><Relationship Type="http://schemas.openxmlformats.org/officeDocument/2006/relationships/notesMaster" Target="/ppt/notesMasters/notesMaster1.xml" Id="R81381a3a114446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8e0778471a4c7e" /><Relationship Type="http://schemas.openxmlformats.org/officeDocument/2006/relationships/notesMaster" Target="/ppt/notesMasters/notesMaster1.xml" Id="R2364589dfbd14e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20ee74cfd24957" /><Relationship Type="http://schemas.openxmlformats.org/officeDocument/2006/relationships/notesMaster" Target="/ppt/notesMasters/notesMaster1.xml" Id="Rc4c487a4589740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3da3a91069416b" /><Relationship Type="http://schemas.openxmlformats.org/officeDocument/2006/relationships/notesMaster" Target="/ppt/notesMasters/notesMaster1.xml" Id="Rb03029916a4046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fabb00908240e6" /><Relationship Type="http://schemas.openxmlformats.org/officeDocument/2006/relationships/notesMaster" Target="/ppt/notesMasters/notesMaster1.xml" Id="Ra4f4e0aea31845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889d08a1744954" /><Relationship Type="http://schemas.openxmlformats.org/officeDocument/2006/relationships/notesMaster" Target="/ppt/notesMasters/notesMaster1.xml" Id="Ra95954ae4e9846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99ccc696194aef" /><Relationship Type="http://schemas.openxmlformats.org/officeDocument/2006/relationships/notesMaster" Target="/ppt/notesMasters/notesMaster1.xml" Id="R7182e672b62449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current IPA dashboard calculation logic and the repeatable update process. Sources: local Ripple exports, Calendly exports, call lists, and CHARM cohort crosswalk.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supports two complementary views: locked task responsibility for fair credit and current caseload for day-to-day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Crosswalk path is built from BASE_PATH: Data/Miscellaneous/Global Crosswalk/CHARM_Cohort_List.xlsx. Mother custom IDs are supporting evidence only and never override child-name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 retain the latest Calendly record for each participant-age-band pair. A previous no-show does not override a later completed IPA.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record remains NA in the detailed raw score field, but contributes zero when calculating weighted progress over applicable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task states—including Complete, No-Show, Incomplete, and No record—remain credited to the FTM responsible for that age-band task. Future assignments receive credit only for work in their own responsible period/stage.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snapshot is written after every successful update using the actual refresh timestamp. Failed or incomplete snapshot folders are ignored. The dashboard supports Latest, historical snapshot selection, and filtered FTM trend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ce1022572b43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8e5cb8e3a742ef" /><Relationship Type="http://schemas.openxmlformats.org/officeDocument/2006/relationships/slideLayout" Target="/ppt/slideLayouts/slideLayout1.xml" Id="Rd2000c1164d341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000c1164d341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4c0e783c2e4308" /><Relationship Type="http://schemas.openxmlformats.org/officeDocument/2006/relationships/notesSlide" Target="/ppt/notesSlides/notesSlide1.xml" Id="R1544536c538a4b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64e2d49a494822" /><Relationship Type="http://schemas.openxmlformats.org/officeDocument/2006/relationships/notesSlide" Target="/ppt/notesSlides/notesSlide2.xml" Id="Rf14cf841d4f94a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ed44f43f454096" /><Relationship Type="http://schemas.openxmlformats.org/officeDocument/2006/relationships/notesSlide" Target="/ppt/notesSlides/notesSlide3.xml" Id="Rf759e34bc0c64b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4a02afe48e4224" /><Relationship Type="http://schemas.openxmlformats.org/officeDocument/2006/relationships/notesSlide" Target="/ppt/notesSlides/notesSlide4.xml" Id="R1dd2091ee74b42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4c377b37d94f8d" /><Relationship Type="http://schemas.openxmlformats.org/officeDocument/2006/relationships/notesSlide" Target="/ppt/notesSlides/notesSlide5.xml" Id="R91ab52202b0846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31f72f1b784a55" /><Relationship Type="http://schemas.openxmlformats.org/officeDocument/2006/relationships/notesSlide" Target="/ppt/notesSlides/notesSlide6.xml" Id="Rd01501efb09a42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5892b1c4cd41ee" /><Relationship Type="http://schemas.openxmlformats.org/officeDocument/2006/relationships/notesSlide" Target="/ppt/notesSlides/notesSlide7.xml" Id="R5e760c32bed448da"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8F63D2-067B-42CD-8D9A-6226A31CFF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EAA4FB-5E6E-4EE5-96E3-EEF3B27E92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8C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071736-26C1-451F-8D9B-BB099F32D70D}"/>
              </a:ext>
            </a:extLst>
          </p:cNvPr>
          <p:cNvSpPr>
            <a:spLocks xmlns:a="http://schemas.openxmlformats.org/drawingml/2006/main" noGrp="1"/>
          </p:cNvSpPr>
          <p:nvPr/>
        </p:nvSpPr>
        <p:spPr>
          <a:xfrm xmlns:a="http://schemas.openxmlformats.org/drawingml/2006/main">
            <a:off x="8343900" y="0"/>
            <a:ext cx="3848100" cy="68580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34AACF5-5306-4589-BD81-A7D68B054A6D}"/>
              </a:ext>
            </a:extLst>
          </p:cNvPr>
          <p:cNvSpPr>
            <a:spLocks xmlns:a="http://schemas.openxmlformats.org/drawingml/2006/main" noGrp="1"/>
          </p:cNvSpPr>
          <p:nvPr/>
        </p:nvSpPr>
        <p:spPr>
          <a:xfrm xmlns:a="http://schemas.openxmlformats.org/drawingml/2006/main">
            <a:off x="8934450" y="971550"/>
            <a:ext cx="2266950" cy="22669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0D41E5-9DAC-4EB0-8982-0BD2B61A1B56}"/>
              </a:ext>
            </a:extLst>
          </p:cNvPr>
          <p:cNvSpPr>
            <a:spLocks xmlns:a="http://schemas.openxmlformats.org/drawingml/2006/main" noGrp="1"/>
          </p:cNvSpPr>
          <p:nvPr/>
        </p:nvSpPr>
        <p:spPr>
          <a:xfrm xmlns:a="http://schemas.openxmlformats.org/drawingml/2006/main">
            <a:off x="9534525" y="1571625"/>
            <a:ext cx="1066800" cy="10668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028E7C-8302-407B-99C9-1B9215FD5B01}"/>
              </a:ext>
            </a:extLst>
          </p:cNvPr>
          <p:cNvSpPr>
            <a:spLocks xmlns:a="http://schemas.openxmlformats.org/drawingml/2006/main" noGrp="1"/>
          </p:cNvSpPr>
          <p:nvPr/>
        </p:nvSpPr>
        <p:spPr>
          <a:xfrm xmlns:a="http://schemas.openxmlformats.org/drawingml/2006/main">
            <a:off x="8715375" y="3867150"/>
            <a:ext cx="2619375" cy="0"/>
          </a:xfrm>
          <a:prstGeom xmlns:a="http://schemas.openxmlformats.org/drawingml/2006/main" prst="line">
            <a:avLst/>
          </a:prstGeom>
          <a:noFill xmlns:a="http://schemas.openxmlformats.org/drawingml/2006/main"/>
          <a:ln xmlns:a="http://schemas.openxmlformats.org/drawingml/2006/main" w="38100">
            <a:solidFill>
              <a:srgbClr val="F2C14E"/>
            </a:solidFill>
            <a:prstDash val="solid"/>
          </a:ln>
        </p:spPr>
      </p:sp>
      <p:sp>
        <p:nvSpPr>
          <p:cNvPr id="7" name="">
            <a:extLst xmlns:a="http://schemas.openxmlformats.org/drawingml/2006/main">
              <a:ext uri="{FF2B5EF4-FFF2-40B4-BE49-F238E27FC236}">
                <a16:creationId xmlns:a16="http://schemas.microsoft.com/office/drawing/2014/main" id="{A1160129-EBA8-4CBC-81B9-6E6F9A901DFD}"/>
              </a:ext>
            </a:extLst>
          </p:cNvPr>
          <p:cNvSpPr>
            <a:spLocks xmlns:a="http://schemas.openxmlformats.org/drawingml/2006/main" noGrp="1"/>
          </p:cNvSpPr>
          <p:nvPr/>
        </p:nvSpPr>
        <p:spPr>
          <a:xfrm xmlns:a="http://schemas.openxmlformats.org/drawingml/2006/main">
            <a:off x="742950" y="1714500"/>
            <a:ext cx="695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CHARM IPA Dashboard</a:t>
            </a:r>
          </a:p>
        </p:txBody>
      </p:sp>
      <p:sp>
        <p:nvSpPr>
          <p:cNvPr id="8" name="">
            <a:extLst xmlns:a="http://schemas.openxmlformats.org/drawingml/2006/main">
              <a:ext uri="{FF2B5EF4-FFF2-40B4-BE49-F238E27FC236}">
                <a16:creationId xmlns:a16="http://schemas.microsoft.com/office/drawing/2014/main" id="{0AB807A9-4570-47C3-A9FD-7CD6608790F6}"/>
              </a:ext>
            </a:extLst>
          </p:cNvPr>
          <p:cNvSpPr>
            <a:spLocks xmlns:a="http://schemas.openxmlformats.org/drawingml/2006/main" noGrp="1"/>
          </p:cNvSpPr>
          <p:nvPr/>
        </p:nvSpPr>
        <p:spPr>
          <a:xfrm xmlns:a="http://schemas.openxmlformats.org/drawingml/2006/main">
            <a:off x="762000" y="26003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0">
                <a:solidFill>
                  <a:srgbClr val="C8D7E3"/>
                </a:solidFill>
                <a:latin typeface="Helvetica Neue"/>
                <a:ea typeface="Helvetica Neue"/>
                <a:cs typeface="Helvetica Neue"/>
              </a:defRPr>
            </a:pPr>
            <a:r>
              <a:rPr sz="2325" b="0">
                <a:solidFill>
                  <a:srgbClr val="C8D7E3"/>
                </a:solidFill>
                <a:latin typeface="Helvetica Neue"/>
                <a:ea typeface="Helvetica Neue"/>
                <a:cs typeface="Helvetica Neue"/>
              </a:rPr>
              <a:t>Calculation Logic &amp; Update Workflow</a:t>
            </a:r>
          </a:p>
        </p:txBody>
      </p:sp>
      <p:sp>
        <p:nvSpPr>
          <p:cNvPr id="9" name="">
            <a:extLst xmlns:a="http://schemas.openxmlformats.org/drawingml/2006/main">
              <a:ext uri="{FF2B5EF4-FFF2-40B4-BE49-F238E27FC236}">
                <a16:creationId xmlns:a16="http://schemas.microsoft.com/office/drawing/2014/main" id="{57B62FDD-5589-43A3-8A38-1FA706770D44}"/>
              </a:ext>
            </a:extLst>
          </p:cNvPr>
          <p:cNvSpPr>
            <a:spLocks xmlns:a="http://schemas.openxmlformats.org/drawingml/2006/main" noGrp="1"/>
          </p:cNvSpPr>
          <p:nvPr/>
        </p:nvSpPr>
        <p:spPr>
          <a:xfrm xmlns:a="http://schemas.openxmlformats.org/drawingml/2006/main">
            <a:off x="762000" y="34099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From Calendly and Ripple records to fair, time-based FTM performance tracking</a:t>
            </a:r>
          </a:p>
        </p:txBody>
      </p:sp>
      <p:sp>
        <p:nvSpPr>
          <p:cNvPr id="10" name="">
            <a:extLst xmlns:a="http://schemas.openxmlformats.org/drawingml/2006/main">
              <a:ext uri="{FF2B5EF4-FFF2-40B4-BE49-F238E27FC236}">
                <a16:creationId xmlns:a16="http://schemas.microsoft.com/office/drawing/2014/main" id="{4DFB6B5F-53AE-46AA-90C2-5A350B862BDA}"/>
              </a:ext>
            </a:extLst>
          </p:cNvPr>
          <p:cNvSpPr>
            <a:spLocks xmlns:a="http://schemas.openxmlformats.org/drawingml/2006/main" noGrp="1"/>
          </p:cNvSpPr>
          <p:nvPr/>
        </p:nvSpPr>
        <p:spPr>
          <a:xfrm xmlns:a="http://schemas.openxmlformats.org/drawingml/2006/main">
            <a:off x="762000" y="5905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FB2C1"/>
                </a:solidFill>
                <a:latin typeface="Helvetica Neue"/>
                <a:ea typeface="Helvetica Neue"/>
                <a:cs typeface="Helvetica Neue"/>
              </a:defRPr>
            </a:pPr>
            <a:r>
              <a:rPr sz="1200" b="0">
                <a:solidFill>
                  <a:srgbClr val="9FB2C1"/>
                </a:solidFill>
                <a:latin typeface="Helvetica Neue"/>
                <a:ea typeface="Helvetica Neue"/>
                <a:cs typeface="Helvetica Neue"/>
              </a:rPr>
              <a:t>Internal methods brief  |  September 2026</a:t>
            </a:r>
          </a:p>
        </p:txBody>
      </p:sp>
    </p:spTree>
    <p:extLst>
      <p:ext uri="{BB962C8B-B14F-4D97-AF65-F5344CB8AC3E}">
        <p14:creationId xmlns:p14="http://schemas.microsoft.com/office/powerpoint/2010/main" val="1057094363"/>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FBCB0AC-4BB5-4C41-BD58-8CAEEF9E12A5}"/>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One refresh turns four sources into two dashboard views</a:t>
            </a:r>
          </a:p>
        </p:txBody>
      </p:sp>
      <p:sp>
        <p:nvSpPr>
          <p:cNvPr id="2" name="">
            <a:extLst xmlns:a="http://schemas.openxmlformats.org/drawingml/2006/main">
              <a:ext uri="{FF2B5EF4-FFF2-40B4-BE49-F238E27FC236}">
                <a16:creationId xmlns:a16="http://schemas.microsoft.com/office/drawing/2014/main" id="{65FD90EE-56B5-41E2-B1B2-DEF6F613B7A3}"/>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67C58177-C757-4B16-99F8-9E142E78CBCD}"/>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C9CB428D-B2CB-4108-AB76-52A465D77743}"/>
              </a:ext>
            </a:extLst>
          </p:cNvPr>
          <p:cNvSpPr>
            <a:spLocks xmlns:a="http://schemas.openxmlformats.org/drawingml/2006/main" noGrp="1"/>
          </p:cNvSpPr>
          <p:nvPr/>
        </p:nvSpPr>
        <p:spPr>
          <a:xfrm xmlns:a="http://schemas.openxmlformats.org/drawingml/2006/main">
            <a:off x="66675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5" name="">
            <a:extLst xmlns:a="http://schemas.openxmlformats.org/drawingml/2006/main">
              <a:ext uri="{FF2B5EF4-FFF2-40B4-BE49-F238E27FC236}">
                <a16:creationId xmlns:a16="http://schemas.microsoft.com/office/drawing/2014/main" id="{F6303136-096F-4E76-B838-061D93BBCC1F}"/>
              </a:ext>
            </a:extLst>
          </p:cNvPr>
          <p:cNvSpPr>
            <a:spLocks xmlns:a="http://schemas.openxmlformats.org/drawingml/2006/main" noGrp="1"/>
          </p:cNvSpPr>
          <p:nvPr/>
        </p:nvSpPr>
        <p:spPr>
          <a:xfrm xmlns:a="http://schemas.openxmlformats.org/drawingml/2006/main">
            <a:off x="666750" y="1752600"/>
            <a:ext cx="1952625" cy="952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04AD07-8462-4865-896B-83A3E2238D4F}"/>
              </a:ext>
            </a:extLst>
          </p:cNvPr>
          <p:cNvSpPr>
            <a:spLocks xmlns:a="http://schemas.openxmlformats.org/drawingml/2006/main" noGrp="1"/>
          </p:cNvSpPr>
          <p:nvPr/>
        </p:nvSpPr>
        <p:spPr>
          <a:xfrm xmlns:a="http://schemas.openxmlformats.org/drawingml/2006/main">
            <a:off x="85725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1  Ingest</a:t>
            </a:r>
          </a:p>
        </p:txBody>
      </p:sp>
      <p:sp>
        <p:nvSpPr>
          <p:cNvPr id="7" name="">
            <a:extLst xmlns:a="http://schemas.openxmlformats.org/drawingml/2006/main">
              <a:ext uri="{FF2B5EF4-FFF2-40B4-BE49-F238E27FC236}">
                <a16:creationId xmlns:a16="http://schemas.microsoft.com/office/drawing/2014/main" id="{F519BFAC-25E2-40FC-BCEC-EF085AC1C955}"/>
              </a:ext>
            </a:extLst>
          </p:cNvPr>
          <p:cNvSpPr>
            <a:spLocks xmlns:a="http://schemas.openxmlformats.org/drawingml/2006/main" noGrp="1"/>
          </p:cNvSpPr>
          <p:nvPr/>
        </p:nvSpPr>
        <p:spPr>
          <a:xfrm xmlns:a="http://schemas.openxmlformats.org/drawingml/2006/main">
            <a:off x="85725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Ripple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3–20 call lists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Cohort crosswalk</a:t>
            </a:r>
          </a:p>
        </p:txBody>
      </p:sp>
      <p:sp>
        <p:nvSpPr>
          <p:cNvPr id="8" name="">
            <a:extLst xmlns:a="http://schemas.openxmlformats.org/drawingml/2006/main">
              <a:ext uri="{FF2B5EF4-FFF2-40B4-BE49-F238E27FC236}">
                <a16:creationId xmlns:a16="http://schemas.microsoft.com/office/drawing/2014/main" id="{81B9060D-25B5-470C-9065-48EA9F73DDA4}"/>
              </a:ext>
            </a:extLst>
          </p:cNvPr>
          <p:cNvSpPr>
            <a:spLocks xmlns:a="http://schemas.openxmlformats.org/drawingml/2006/main" noGrp="1"/>
          </p:cNvSpPr>
          <p:nvPr/>
        </p:nvSpPr>
        <p:spPr>
          <a:xfrm xmlns:a="http://schemas.openxmlformats.org/drawingml/2006/main">
            <a:off x="267652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F9B4AB-BD0B-4AB2-AC8F-15AE0E299193}"/>
              </a:ext>
            </a:extLst>
          </p:cNvPr>
          <p:cNvSpPr>
            <a:spLocks xmlns:a="http://schemas.openxmlformats.org/drawingml/2006/main" noGrp="1"/>
          </p:cNvSpPr>
          <p:nvPr/>
        </p:nvSpPr>
        <p:spPr>
          <a:xfrm xmlns:a="http://schemas.openxmlformats.org/drawingml/2006/main">
            <a:off x="300037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635D05A5-4A29-4D77-A79A-08F2C142C994}"/>
              </a:ext>
            </a:extLst>
          </p:cNvPr>
          <p:cNvSpPr>
            <a:spLocks xmlns:a="http://schemas.openxmlformats.org/drawingml/2006/main" noGrp="1"/>
          </p:cNvSpPr>
          <p:nvPr/>
        </p:nvSpPr>
        <p:spPr>
          <a:xfrm xmlns:a="http://schemas.openxmlformats.org/drawingml/2006/main">
            <a:off x="3000375" y="1752600"/>
            <a:ext cx="1952625" cy="9525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05D0AF-743D-44E2-8AB2-B30497B5B9D9}"/>
              </a:ext>
            </a:extLst>
          </p:cNvPr>
          <p:cNvSpPr>
            <a:spLocks xmlns:a="http://schemas.openxmlformats.org/drawingml/2006/main" noGrp="1"/>
          </p:cNvSpPr>
          <p:nvPr/>
        </p:nvSpPr>
        <p:spPr>
          <a:xfrm xmlns:a="http://schemas.openxmlformats.org/drawingml/2006/main">
            <a:off x="319087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2  Standardize</a:t>
            </a:r>
          </a:p>
        </p:txBody>
      </p:sp>
      <p:sp>
        <p:nvSpPr>
          <p:cNvPr id="12" name="">
            <a:extLst xmlns:a="http://schemas.openxmlformats.org/drawingml/2006/main">
              <a:ext uri="{FF2B5EF4-FFF2-40B4-BE49-F238E27FC236}">
                <a16:creationId xmlns:a16="http://schemas.microsoft.com/office/drawing/2014/main" id="{A0CC7E23-B2E2-41BD-8E9C-360C418259D6}"/>
              </a:ext>
            </a:extLst>
          </p:cNvPr>
          <p:cNvSpPr>
            <a:spLocks xmlns:a="http://schemas.openxmlformats.org/drawingml/2006/main" noGrp="1"/>
          </p:cNvSpPr>
          <p:nvPr/>
        </p:nvSpPr>
        <p:spPr>
          <a:xfrm xmlns:a="http://schemas.openxmlformats.org/drawingml/2006/main">
            <a:off x="319087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Clean names and IDs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Convert age to years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Map age bands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Resolve duplicate bookings</a:t>
            </a:r>
          </a:p>
        </p:txBody>
      </p:sp>
      <p:sp>
        <p:nvSpPr>
          <p:cNvPr id="13" name="">
            <a:extLst xmlns:a="http://schemas.openxmlformats.org/drawingml/2006/main">
              <a:ext uri="{FF2B5EF4-FFF2-40B4-BE49-F238E27FC236}">
                <a16:creationId xmlns:a16="http://schemas.microsoft.com/office/drawing/2014/main" id="{2449EF0E-112C-4ECA-9F9B-AC030DB6A403}"/>
              </a:ext>
            </a:extLst>
          </p:cNvPr>
          <p:cNvSpPr>
            <a:spLocks xmlns:a="http://schemas.openxmlformats.org/drawingml/2006/main" noGrp="1"/>
          </p:cNvSpPr>
          <p:nvPr/>
        </p:nvSpPr>
        <p:spPr>
          <a:xfrm xmlns:a="http://schemas.openxmlformats.org/drawingml/2006/main">
            <a:off x="5010150"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C58730-F919-4ED4-8FAD-95D73C51CDF4}"/>
              </a:ext>
            </a:extLst>
          </p:cNvPr>
          <p:cNvSpPr>
            <a:spLocks xmlns:a="http://schemas.openxmlformats.org/drawingml/2006/main" noGrp="1"/>
          </p:cNvSpPr>
          <p:nvPr/>
        </p:nvSpPr>
        <p:spPr>
          <a:xfrm xmlns:a="http://schemas.openxmlformats.org/drawingml/2006/main">
            <a:off x="533400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5" name="">
            <a:extLst xmlns:a="http://schemas.openxmlformats.org/drawingml/2006/main">
              <a:ext uri="{FF2B5EF4-FFF2-40B4-BE49-F238E27FC236}">
                <a16:creationId xmlns:a16="http://schemas.microsoft.com/office/drawing/2014/main" id="{627BD7B2-7FB9-4BD0-9BC7-92BF3203D05C}"/>
              </a:ext>
            </a:extLst>
          </p:cNvPr>
          <p:cNvSpPr>
            <a:spLocks xmlns:a="http://schemas.openxmlformats.org/drawingml/2006/main" noGrp="1"/>
          </p:cNvSpPr>
          <p:nvPr/>
        </p:nvSpPr>
        <p:spPr>
          <a:xfrm xmlns:a="http://schemas.openxmlformats.org/drawingml/2006/main">
            <a:off x="5334000" y="1752600"/>
            <a:ext cx="1952625" cy="952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D512AC-111A-4114-8ACF-B1D13E10D5F4}"/>
              </a:ext>
            </a:extLst>
          </p:cNvPr>
          <p:cNvSpPr>
            <a:spLocks xmlns:a="http://schemas.openxmlformats.org/drawingml/2006/main" noGrp="1"/>
          </p:cNvSpPr>
          <p:nvPr/>
        </p:nvSpPr>
        <p:spPr>
          <a:xfrm xmlns:a="http://schemas.openxmlformats.org/drawingml/2006/main">
            <a:off x="552450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3  Assign &amp; score</a:t>
            </a:r>
          </a:p>
        </p:txBody>
      </p:sp>
      <p:sp>
        <p:nvSpPr>
          <p:cNvPr id="17" name="">
            <a:extLst xmlns:a="http://schemas.openxmlformats.org/drawingml/2006/main">
              <a:ext uri="{FF2B5EF4-FFF2-40B4-BE49-F238E27FC236}">
                <a16:creationId xmlns:a16="http://schemas.microsoft.com/office/drawing/2014/main" id="{1BDE2BD3-D120-464B-B11B-443B59D6865A}"/>
              </a:ext>
            </a:extLst>
          </p:cNvPr>
          <p:cNvSpPr>
            <a:spLocks xmlns:a="http://schemas.openxmlformats.org/drawingml/2006/main" noGrp="1"/>
          </p:cNvSpPr>
          <p:nvPr/>
        </p:nvSpPr>
        <p:spPr>
          <a:xfrm xmlns:a="http://schemas.openxmlformats.org/drawingml/2006/main">
            <a:off x="552450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Choose latest IPA record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Derive task outcomes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Lock task responsibility</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Calculate progress</a:t>
            </a:r>
          </a:p>
        </p:txBody>
      </p:sp>
      <p:sp>
        <p:nvSpPr>
          <p:cNvPr id="18" name="">
            <a:extLst xmlns:a="http://schemas.openxmlformats.org/drawingml/2006/main">
              <a:ext uri="{FF2B5EF4-FFF2-40B4-BE49-F238E27FC236}">
                <a16:creationId xmlns:a16="http://schemas.microsoft.com/office/drawing/2014/main" id="{23A607CD-F8F6-4777-908A-1FB99E8B3B5D}"/>
              </a:ext>
            </a:extLst>
          </p:cNvPr>
          <p:cNvSpPr>
            <a:spLocks xmlns:a="http://schemas.openxmlformats.org/drawingml/2006/main" noGrp="1"/>
          </p:cNvSpPr>
          <p:nvPr/>
        </p:nvSpPr>
        <p:spPr>
          <a:xfrm xmlns:a="http://schemas.openxmlformats.org/drawingml/2006/main">
            <a:off x="734377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3D6EFB-525A-4FD9-BEFA-DE56193CE0D8}"/>
              </a:ext>
            </a:extLst>
          </p:cNvPr>
          <p:cNvSpPr>
            <a:spLocks xmlns:a="http://schemas.openxmlformats.org/drawingml/2006/main" noGrp="1"/>
          </p:cNvSpPr>
          <p:nvPr/>
        </p:nvSpPr>
        <p:spPr>
          <a:xfrm xmlns:a="http://schemas.openxmlformats.org/drawingml/2006/main">
            <a:off x="766762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20" name="">
            <a:extLst xmlns:a="http://schemas.openxmlformats.org/drawingml/2006/main">
              <a:ext uri="{FF2B5EF4-FFF2-40B4-BE49-F238E27FC236}">
                <a16:creationId xmlns:a16="http://schemas.microsoft.com/office/drawing/2014/main" id="{731D2212-2312-478E-9FE9-D7A5CE317F89}"/>
              </a:ext>
            </a:extLst>
          </p:cNvPr>
          <p:cNvSpPr>
            <a:spLocks xmlns:a="http://schemas.openxmlformats.org/drawingml/2006/main" noGrp="1"/>
          </p:cNvSpPr>
          <p:nvPr/>
        </p:nvSpPr>
        <p:spPr>
          <a:xfrm xmlns:a="http://schemas.openxmlformats.org/drawingml/2006/main">
            <a:off x="7667625" y="1752600"/>
            <a:ext cx="1952625" cy="9525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9648BC5-5981-43A0-81FC-B4340E90D5F7}"/>
              </a:ext>
            </a:extLst>
          </p:cNvPr>
          <p:cNvSpPr>
            <a:spLocks xmlns:a="http://schemas.openxmlformats.org/drawingml/2006/main" noGrp="1"/>
          </p:cNvSpPr>
          <p:nvPr/>
        </p:nvSpPr>
        <p:spPr>
          <a:xfrm xmlns:a="http://schemas.openxmlformats.org/drawingml/2006/main">
            <a:off x="785812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4  Publish</a:t>
            </a:r>
          </a:p>
        </p:txBody>
      </p:sp>
      <p:sp>
        <p:nvSpPr>
          <p:cNvPr id="22" name="">
            <a:extLst xmlns:a="http://schemas.openxmlformats.org/drawingml/2006/main">
              <a:ext uri="{FF2B5EF4-FFF2-40B4-BE49-F238E27FC236}">
                <a16:creationId xmlns:a16="http://schemas.microsoft.com/office/drawing/2014/main" id="{D6A7EA49-8308-44ED-8234-139032A2EF65}"/>
              </a:ext>
            </a:extLst>
          </p:cNvPr>
          <p:cNvSpPr>
            <a:spLocks xmlns:a="http://schemas.openxmlformats.org/drawingml/2006/main" noGrp="1"/>
          </p:cNvSpPr>
          <p:nvPr/>
        </p:nvSpPr>
        <p:spPr>
          <a:xfrm xmlns:a="http://schemas.openxmlformats.org/drawingml/2006/main">
            <a:off x="785812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Save latest dataset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Write timestamped snapshot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Refresh dashboard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Extend FTM trend lines</a:t>
            </a:r>
          </a:p>
        </p:txBody>
      </p:sp>
      <p:sp>
        <p:nvSpPr>
          <p:cNvPr id="23" name="">
            <a:extLst xmlns:a="http://schemas.openxmlformats.org/drawingml/2006/main">
              <a:ext uri="{FF2B5EF4-FFF2-40B4-BE49-F238E27FC236}">
                <a16:creationId xmlns:a16="http://schemas.microsoft.com/office/drawing/2014/main" id="{97550539-7017-4F56-8DD2-07539D9F1ABE}"/>
              </a:ext>
            </a:extLst>
          </p:cNvPr>
          <p:cNvSpPr>
            <a:spLocks xmlns:a="http://schemas.openxmlformats.org/drawingml/2006/main" noGrp="1"/>
          </p:cNvSpPr>
          <p:nvPr/>
        </p:nvSpPr>
        <p:spPr>
          <a:xfrm xmlns:a="http://schemas.openxmlformats.org/drawingml/2006/main">
            <a:off x="9877425" y="1752600"/>
            <a:ext cx="1666875" cy="1428750"/>
          </a:xfrm>
          <a:prstGeom xmlns:a="http://schemas.openxmlformats.org/drawingml/2006/main" prst="roundRect">
            <a:avLst>
              <a:gd name="adj" fmla="val 10667"/>
            </a:avLst>
          </a:prstGeom>
          <a:solidFill xmlns:a="http://schemas.openxmlformats.org/drawingml/2006/main">
            <a:srgbClr val="E5F3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96716B3-9C7F-495E-8D25-9BFA3519BBC9}"/>
              </a:ext>
            </a:extLst>
          </p:cNvPr>
          <p:cNvSpPr>
            <a:spLocks xmlns:a="http://schemas.openxmlformats.org/drawingml/2006/main" noGrp="1"/>
          </p:cNvSpPr>
          <p:nvPr/>
        </p:nvSpPr>
        <p:spPr>
          <a:xfrm xmlns:a="http://schemas.openxmlformats.org/drawingml/2006/main">
            <a:off x="10048875" y="20478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Task responsibility</a:t>
            </a:r>
          </a:p>
        </p:txBody>
      </p:sp>
      <p:sp>
        <p:nvSpPr>
          <p:cNvPr id="25" name="">
            <a:extLst xmlns:a="http://schemas.openxmlformats.org/drawingml/2006/main">
              <a:ext uri="{FF2B5EF4-FFF2-40B4-BE49-F238E27FC236}">
                <a16:creationId xmlns:a16="http://schemas.microsoft.com/office/drawing/2014/main" id="{AE710590-2719-4A0B-A779-8443B6AEF2AB}"/>
              </a:ext>
            </a:extLst>
          </p:cNvPr>
          <p:cNvSpPr>
            <a:spLocks xmlns:a="http://schemas.openxmlformats.org/drawingml/2006/main" noGrp="1"/>
          </p:cNvSpPr>
          <p:nvPr/>
        </p:nvSpPr>
        <p:spPr>
          <a:xfrm xmlns:a="http://schemas.openxmlformats.org/drawingml/2006/main">
            <a:off x="10039350" y="25431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stays with the FTM responsible for that age-band task.</a:t>
            </a:r>
          </a:p>
        </p:txBody>
      </p:sp>
      <p:sp>
        <p:nvSpPr>
          <p:cNvPr id="26" name="">
            <a:extLst xmlns:a="http://schemas.openxmlformats.org/drawingml/2006/main">
              <a:ext uri="{FF2B5EF4-FFF2-40B4-BE49-F238E27FC236}">
                <a16:creationId xmlns:a16="http://schemas.microsoft.com/office/drawing/2014/main" id="{D920ACC2-E35B-48FA-AB11-79E2DEDFBDC9}"/>
              </a:ext>
            </a:extLst>
          </p:cNvPr>
          <p:cNvSpPr>
            <a:spLocks xmlns:a="http://schemas.openxmlformats.org/drawingml/2006/main" noGrp="1"/>
          </p:cNvSpPr>
          <p:nvPr/>
        </p:nvSpPr>
        <p:spPr>
          <a:xfrm xmlns:a="http://schemas.openxmlformats.org/drawingml/2006/main">
            <a:off x="9877425" y="3429000"/>
            <a:ext cx="1666875" cy="1428750"/>
          </a:xfrm>
          <a:prstGeom xmlns:a="http://schemas.openxmlformats.org/drawingml/2006/main" prst="roundRect">
            <a:avLst>
              <a:gd name="adj" fmla="val 10667"/>
            </a:avLst>
          </a:prstGeom>
          <a:solidFill xmlns:a="http://schemas.openxmlformats.org/drawingml/2006/main">
            <a:srgbClr val="FFF2E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443D8CC-4695-4221-8DCD-EB35E4C29840}"/>
              </a:ext>
            </a:extLst>
          </p:cNvPr>
          <p:cNvSpPr>
            <a:spLocks xmlns:a="http://schemas.openxmlformats.org/drawingml/2006/main" noGrp="1"/>
          </p:cNvSpPr>
          <p:nvPr/>
        </p:nvSpPr>
        <p:spPr>
          <a:xfrm xmlns:a="http://schemas.openxmlformats.org/drawingml/2006/main">
            <a:off x="10048875" y="37242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Current caseload</a:t>
            </a:r>
          </a:p>
        </p:txBody>
      </p:sp>
      <p:sp>
        <p:nvSpPr>
          <p:cNvPr id="28" name="">
            <a:extLst xmlns:a="http://schemas.openxmlformats.org/drawingml/2006/main">
              <a:ext uri="{FF2B5EF4-FFF2-40B4-BE49-F238E27FC236}">
                <a16:creationId xmlns:a16="http://schemas.microsoft.com/office/drawing/2014/main" id="{12E5589D-A172-4120-93EF-73062FF77E01}"/>
              </a:ext>
            </a:extLst>
          </p:cNvPr>
          <p:cNvSpPr>
            <a:spLocks xmlns:a="http://schemas.openxmlformats.org/drawingml/2006/main" noGrp="1"/>
          </p:cNvSpPr>
          <p:nvPr/>
        </p:nvSpPr>
        <p:spPr>
          <a:xfrm xmlns:a="http://schemas.openxmlformats.org/drawingml/2006/main">
            <a:off x="10039350" y="42195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Shows current-stage work under the participant’s current FTM.</a:t>
            </a:r>
          </a:p>
        </p:txBody>
      </p:sp>
      <p:sp>
        <p:nvSpPr>
          <p:cNvPr id="29" name="">
            <a:extLst xmlns:a="http://schemas.openxmlformats.org/drawingml/2006/main">
              <a:ext uri="{FF2B5EF4-FFF2-40B4-BE49-F238E27FC236}">
                <a16:creationId xmlns:a16="http://schemas.microsoft.com/office/drawing/2014/main" id="{DF316F49-9562-484B-893E-8C01D4F3A551}"/>
              </a:ext>
            </a:extLst>
          </p:cNvPr>
          <p:cNvSpPr>
            <a:spLocks xmlns:a="http://schemas.openxmlformats.org/drawingml/2006/main" noGrp="1"/>
          </p:cNvSpPr>
          <p:nvPr/>
        </p:nvSpPr>
        <p:spPr>
          <a:xfrm xmlns:a="http://schemas.openxmlformats.org/drawingml/2006/main">
            <a:off x="666750" y="5410200"/>
            <a:ext cx="10877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0B1F33"/>
                </a:solidFill>
                <a:latin typeface="Helvetica Neue"/>
                <a:ea typeface="Helvetica Neue"/>
                <a:cs typeface="Helvetica Neue"/>
              </a:defRPr>
            </a:pPr>
            <a:r>
              <a:rPr sz="1800" b="1">
                <a:solidFill>
                  <a:srgbClr val="0B1F33"/>
                </a:solidFill>
                <a:latin typeface="Helvetica Neue"/>
                <a:ea typeface="Helvetica Neue"/>
                <a:cs typeface="Helvetica Neue"/>
              </a:rPr>
              <a:t>Core grain: Participant ID × Cohort × IPA age band × Task</a:t>
            </a:r>
          </a:p>
        </p:txBody>
      </p:sp>
    </p:spTree>
    <p:extLst>
      <p:ext uri="{BB962C8B-B14F-4D97-AF65-F5344CB8AC3E}">
        <p14:creationId xmlns:p14="http://schemas.microsoft.com/office/powerpoint/2010/main" val="1109082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E44BFDA-97D6-4805-A182-1C05AE488309}"/>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Calendly matching prioritizes the child—not the booking text</a:t>
            </a:r>
          </a:p>
        </p:txBody>
      </p:sp>
      <p:sp>
        <p:nvSpPr>
          <p:cNvPr id="2" name="">
            <a:extLst xmlns:a="http://schemas.openxmlformats.org/drawingml/2006/main">
              <a:ext uri="{FF2B5EF4-FFF2-40B4-BE49-F238E27FC236}">
                <a16:creationId xmlns:a16="http://schemas.microsoft.com/office/drawing/2014/main" id="{BA39BD14-8694-48F6-BF5A-EE9951EDC8B4}"/>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D3B369D-9C44-40DD-9E4E-8CA21FB1A60E}"/>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1C826DB0-5C19-4952-A313-C6A649198A0A}"/>
              </a:ext>
            </a:extLst>
          </p:cNvPr>
          <p:cNvSpPr>
            <a:spLocks xmlns:a="http://schemas.openxmlformats.org/drawingml/2006/main" noGrp="1"/>
          </p:cNvSpPr>
          <p:nvPr/>
        </p:nvSpPr>
        <p:spPr>
          <a:xfrm xmlns:a="http://schemas.openxmlformats.org/drawingml/2006/main">
            <a:off x="685800" y="13525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78C8C"/>
                </a:solidFill>
                <a:latin typeface="Helvetica Neue"/>
                <a:ea typeface="Helvetica Neue"/>
                <a:cs typeface="Helvetica Neue"/>
              </a:defRPr>
            </a:pPr>
            <a:r>
              <a:rPr sz="1875" b="1">
                <a:solidFill>
                  <a:srgbClr val="178C8C"/>
                </a:solidFill>
                <a:latin typeface="Helvetica Neue"/>
                <a:ea typeface="Helvetica Neue"/>
                <a:cs typeface="Helvetica Neue"/>
              </a:rPr>
              <a:t>Matching hierarchy</a:t>
            </a:r>
          </a:p>
        </p:txBody>
      </p:sp>
      <p:sp>
        <p:nvSpPr>
          <p:cNvPr id="5" name="">
            <a:extLst xmlns:a="http://schemas.openxmlformats.org/drawingml/2006/main">
              <a:ext uri="{FF2B5EF4-FFF2-40B4-BE49-F238E27FC236}">
                <a16:creationId xmlns:a16="http://schemas.microsoft.com/office/drawing/2014/main" id="{73BC1E58-945A-4450-8C94-D2873C2A4C75}"/>
              </a:ext>
            </a:extLst>
          </p:cNvPr>
          <p:cNvSpPr>
            <a:spLocks xmlns:a="http://schemas.openxmlformats.org/drawingml/2006/main" noGrp="1"/>
          </p:cNvSpPr>
          <p:nvPr/>
        </p:nvSpPr>
        <p:spPr>
          <a:xfrm xmlns:a="http://schemas.openxmlformats.org/drawingml/2006/main">
            <a:off x="704850" y="186690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81C77E-7990-4F43-A17D-2C6DCEC0CD8B}"/>
              </a:ext>
            </a:extLst>
          </p:cNvPr>
          <p:cNvSpPr>
            <a:spLocks xmlns:a="http://schemas.openxmlformats.org/drawingml/2006/main" noGrp="1"/>
          </p:cNvSpPr>
          <p:nvPr/>
        </p:nvSpPr>
        <p:spPr>
          <a:xfrm xmlns:a="http://schemas.openxmlformats.org/drawingml/2006/main">
            <a:off x="704850" y="190500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a:t>
            </a:r>
          </a:p>
        </p:txBody>
      </p:sp>
      <p:sp>
        <p:nvSpPr>
          <p:cNvPr id="7" name="">
            <a:extLst xmlns:a="http://schemas.openxmlformats.org/drawingml/2006/main">
              <a:ext uri="{FF2B5EF4-FFF2-40B4-BE49-F238E27FC236}">
                <a16:creationId xmlns:a16="http://schemas.microsoft.com/office/drawing/2014/main" id="{E4DC6D8E-9C71-4119-BCCC-05BD3BD5CE7D}"/>
              </a:ext>
            </a:extLst>
          </p:cNvPr>
          <p:cNvSpPr>
            <a:spLocks xmlns:a="http://schemas.openxmlformats.org/drawingml/2006/main" noGrp="1"/>
          </p:cNvSpPr>
          <p:nvPr/>
        </p:nvSpPr>
        <p:spPr>
          <a:xfrm xmlns:a="http://schemas.openxmlformats.org/drawingml/2006/main">
            <a:off x="1333500" y="1866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Extract participant IDs</a:t>
            </a:r>
          </a:p>
        </p:txBody>
      </p:sp>
      <p:sp>
        <p:nvSpPr>
          <p:cNvPr id="8" name="">
            <a:extLst xmlns:a="http://schemas.openxmlformats.org/drawingml/2006/main">
              <a:ext uri="{FF2B5EF4-FFF2-40B4-BE49-F238E27FC236}">
                <a16:creationId xmlns:a16="http://schemas.microsoft.com/office/drawing/2014/main" id="{E277C166-F2A9-40DA-AAE6-3DA80A93C426}"/>
              </a:ext>
            </a:extLst>
          </p:cNvPr>
          <p:cNvSpPr>
            <a:spLocks xmlns:a="http://schemas.openxmlformats.org/drawingml/2006/main" noGrp="1"/>
          </p:cNvSpPr>
          <p:nvPr/>
        </p:nvSpPr>
        <p:spPr>
          <a:xfrm xmlns:a="http://schemas.openxmlformats.org/drawingml/2006/main">
            <a:off x="1333500" y="21907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Parse cleaned Meeting Notes Plain and normalize ID formats.</a:t>
            </a:r>
          </a:p>
        </p:txBody>
      </p:sp>
      <p:sp>
        <p:nvSpPr>
          <p:cNvPr id="9" name="">
            <a:extLst xmlns:a="http://schemas.openxmlformats.org/drawingml/2006/main">
              <a:ext uri="{FF2B5EF4-FFF2-40B4-BE49-F238E27FC236}">
                <a16:creationId xmlns:a16="http://schemas.microsoft.com/office/drawing/2014/main" id="{BF62F52B-4F36-4A33-8938-70FDDACF2F37}"/>
              </a:ext>
            </a:extLst>
          </p:cNvPr>
          <p:cNvSpPr>
            <a:spLocks xmlns:a="http://schemas.openxmlformats.org/drawingml/2006/main" noGrp="1"/>
          </p:cNvSpPr>
          <p:nvPr/>
        </p:nvSpPr>
        <p:spPr>
          <a:xfrm xmlns:a="http://schemas.openxmlformats.org/drawingml/2006/main">
            <a:off x="704850" y="286702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EBFC7A-161A-4AFC-B594-E9299799BA85}"/>
              </a:ext>
            </a:extLst>
          </p:cNvPr>
          <p:cNvSpPr>
            <a:spLocks xmlns:a="http://schemas.openxmlformats.org/drawingml/2006/main" noGrp="1"/>
          </p:cNvSpPr>
          <p:nvPr/>
        </p:nvSpPr>
        <p:spPr>
          <a:xfrm xmlns:a="http://schemas.openxmlformats.org/drawingml/2006/main">
            <a:off x="704850" y="29051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a:t>
            </a:r>
          </a:p>
        </p:txBody>
      </p:sp>
      <p:sp>
        <p:nvSpPr>
          <p:cNvPr id="11" name="">
            <a:extLst xmlns:a="http://schemas.openxmlformats.org/drawingml/2006/main">
              <a:ext uri="{FF2B5EF4-FFF2-40B4-BE49-F238E27FC236}">
                <a16:creationId xmlns:a16="http://schemas.microsoft.com/office/drawing/2014/main" id="{FD26C374-27A0-42DB-AD9F-DC15A24CD019}"/>
              </a:ext>
            </a:extLst>
          </p:cNvPr>
          <p:cNvSpPr>
            <a:spLocks xmlns:a="http://schemas.openxmlformats.org/drawingml/2006/main" noGrp="1"/>
          </p:cNvSpPr>
          <p:nvPr/>
        </p:nvSpPr>
        <p:spPr>
          <a:xfrm xmlns:a="http://schemas.openxmlformats.org/drawingml/2006/main">
            <a:off x="1333500" y="286702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Verify the child</a:t>
            </a:r>
          </a:p>
        </p:txBody>
      </p:sp>
      <p:sp>
        <p:nvSpPr>
          <p:cNvPr id="12" name="">
            <a:extLst xmlns:a="http://schemas.openxmlformats.org/drawingml/2006/main">
              <a:ext uri="{FF2B5EF4-FFF2-40B4-BE49-F238E27FC236}">
                <a16:creationId xmlns:a16="http://schemas.microsoft.com/office/drawing/2014/main" id="{ED437FBE-5D6F-4177-82BF-FAE7F99220E7}"/>
              </a:ext>
            </a:extLst>
          </p:cNvPr>
          <p:cNvSpPr>
            <a:spLocks xmlns:a="http://schemas.openxmlformats.org/drawingml/2006/main" noGrp="1"/>
          </p:cNvSpPr>
          <p:nvPr/>
        </p:nvSpPr>
        <p:spPr>
          <a:xfrm xmlns:a="http://schemas.openxmlformats.org/drawingml/2006/main">
            <a:off x="1333500" y="31908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Use exact cleaned child first and last name as the primary safeguard.</a:t>
            </a:r>
          </a:p>
        </p:txBody>
      </p:sp>
      <p:sp>
        <p:nvSpPr>
          <p:cNvPr id="13" name="">
            <a:extLst xmlns:a="http://schemas.openxmlformats.org/drawingml/2006/main">
              <a:ext uri="{FF2B5EF4-FFF2-40B4-BE49-F238E27FC236}">
                <a16:creationId xmlns:a16="http://schemas.microsoft.com/office/drawing/2014/main" id="{0E1A7F12-31D4-4E24-9FA8-13E64000C50D}"/>
              </a:ext>
            </a:extLst>
          </p:cNvPr>
          <p:cNvSpPr>
            <a:spLocks xmlns:a="http://schemas.openxmlformats.org/drawingml/2006/main" noGrp="1"/>
          </p:cNvSpPr>
          <p:nvPr/>
        </p:nvSpPr>
        <p:spPr>
          <a:xfrm xmlns:a="http://schemas.openxmlformats.org/drawingml/2006/main">
            <a:off x="704850" y="386715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999AA5-7B0B-4DF1-88A1-0CF6E6D68B8A}"/>
              </a:ext>
            </a:extLst>
          </p:cNvPr>
          <p:cNvSpPr>
            <a:spLocks xmlns:a="http://schemas.openxmlformats.org/drawingml/2006/main" noGrp="1"/>
          </p:cNvSpPr>
          <p:nvPr/>
        </p:nvSpPr>
        <p:spPr>
          <a:xfrm xmlns:a="http://schemas.openxmlformats.org/drawingml/2006/main">
            <a:off x="704850" y="390525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a:t>
            </a:r>
          </a:p>
        </p:txBody>
      </p:sp>
      <p:sp>
        <p:nvSpPr>
          <p:cNvPr id="15" name="">
            <a:extLst xmlns:a="http://schemas.openxmlformats.org/drawingml/2006/main">
              <a:ext uri="{FF2B5EF4-FFF2-40B4-BE49-F238E27FC236}">
                <a16:creationId xmlns:a16="http://schemas.microsoft.com/office/drawing/2014/main" id="{F1E1ED98-2E9B-41B4-A7BB-9FE6A439227D}"/>
              </a:ext>
            </a:extLst>
          </p:cNvPr>
          <p:cNvSpPr>
            <a:spLocks xmlns:a="http://schemas.openxmlformats.org/drawingml/2006/main" noGrp="1"/>
          </p:cNvSpPr>
          <p:nvPr/>
        </p:nvSpPr>
        <p:spPr>
          <a:xfrm xmlns:a="http://schemas.openxmlformats.org/drawingml/2006/main">
            <a:off x="1333500" y="38671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Use the cohort crosswalk</a:t>
            </a:r>
          </a:p>
        </p:txBody>
      </p:sp>
      <p:sp>
        <p:nvSpPr>
          <p:cNvPr id="16" name="">
            <a:extLst xmlns:a="http://schemas.openxmlformats.org/drawingml/2006/main">
              <a:ext uri="{FF2B5EF4-FFF2-40B4-BE49-F238E27FC236}">
                <a16:creationId xmlns:a16="http://schemas.microsoft.com/office/drawing/2014/main" id="{B3C76DA0-65A0-48BA-8BB1-C1425659264F}"/>
              </a:ext>
            </a:extLst>
          </p:cNvPr>
          <p:cNvSpPr>
            <a:spLocks xmlns:a="http://schemas.openxmlformats.org/drawingml/2006/main" noGrp="1"/>
          </p:cNvSpPr>
          <p:nvPr/>
        </p:nvSpPr>
        <p:spPr>
          <a:xfrm xmlns:a="http://schemas.openxmlformats.org/drawingml/2006/main">
            <a:off x="1333500" y="4191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Map mother and child IDs through CHARM_Cohort_List.xlsx.</a:t>
            </a:r>
          </a:p>
        </p:txBody>
      </p:sp>
      <p:sp>
        <p:nvSpPr>
          <p:cNvPr id="17" name="">
            <a:extLst xmlns:a="http://schemas.openxmlformats.org/drawingml/2006/main">
              <a:ext uri="{FF2B5EF4-FFF2-40B4-BE49-F238E27FC236}">
                <a16:creationId xmlns:a16="http://schemas.microsoft.com/office/drawing/2014/main" id="{43E92B07-55CD-4DB9-AB20-E854719DB683}"/>
              </a:ext>
            </a:extLst>
          </p:cNvPr>
          <p:cNvSpPr>
            <a:spLocks xmlns:a="http://schemas.openxmlformats.org/drawingml/2006/main" noGrp="1"/>
          </p:cNvSpPr>
          <p:nvPr/>
        </p:nvSpPr>
        <p:spPr>
          <a:xfrm xmlns:a="http://schemas.openxmlformats.org/drawingml/2006/main">
            <a:off x="704850" y="486727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BB1913F-0F79-4BAF-A1D6-A272A6D73C7A}"/>
              </a:ext>
            </a:extLst>
          </p:cNvPr>
          <p:cNvSpPr>
            <a:spLocks xmlns:a="http://schemas.openxmlformats.org/drawingml/2006/main" noGrp="1"/>
          </p:cNvSpPr>
          <p:nvPr/>
        </p:nvSpPr>
        <p:spPr>
          <a:xfrm xmlns:a="http://schemas.openxmlformats.org/drawingml/2006/main">
            <a:off x="704850" y="490537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a:t>
            </a:r>
          </a:p>
        </p:txBody>
      </p:sp>
      <p:sp>
        <p:nvSpPr>
          <p:cNvPr id="19" name="">
            <a:extLst xmlns:a="http://schemas.openxmlformats.org/drawingml/2006/main">
              <a:ext uri="{FF2B5EF4-FFF2-40B4-BE49-F238E27FC236}">
                <a16:creationId xmlns:a16="http://schemas.microsoft.com/office/drawing/2014/main" id="{C974872E-EE50-4155-B161-6F4DAC6DFD29}"/>
              </a:ext>
            </a:extLst>
          </p:cNvPr>
          <p:cNvSpPr>
            <a:spLocks xmlns:a="http://schemas.openxmlformats.org/drawingml/2006/main" noGrp="1"/>
          </p:cNvSpPr>
          <p:nvPr/>
        </p:nvSpPr>
        <p:spPr>
          <a:xfrm xmlns:a="http://schemas.openxmlformats.org/drawingml/2006/main">
            <a:off x="1333500" y="486727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Normalize age</a:t>
            </a:r>
          </a:p>
        </p:txBody>
      </p:sp>
      <p:sp>
        <p:nvSpPr>
          <p:cNvPr id="20" name="">
            <a:extLst xmlns:a="http://schemas.openxmlformats.org/drawingml/2006/main">
              <a:ext uri="{FF2B5EF4-FFF2-40B4-BE49-F238E27FC236}">
                <a16:creationId xmlns:a16="http://schemas.microsoft.com/office/drawing/2014/main" id="{7E8B287C-9E10-4FD3-8DF2-55983E83E2F9}"/>
              </a:ext>
            </a:extLst>
          </p:cNvPr>
          <p:cNvSpPr>
            <a:spLocks xmlns:a="http://schemas.openxmlformats.org/drawingml/2006/main" noGrp="1"/>
          </p:cNvSpPr>
          <p:nvPr/>
        </p:nvSpPr>
        <p:spPr>
          <a:xfrm xmlns:a="http://schemas.openxmlformats.org/drawingml/2006/main">
            <a:off x="1333500" y="5191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Convert Child Age to years, then assign the applicable IPA age band.</a:t>
            </a:r>
          </a:p>
        </p:txBody>
      </p:sp>
      <p:sp>
        <p:nvSpPr>
          <p:cNvPr id="21" name="">
            <a:extLst xmlns:a="http://schemas.openxmlformats.org/drawingml/2006/main">
              <a:ext uri="{FF2B5EF4-FFF2-40B4-BE49-F238E27FC236}">
                <a16:creationId xmlns:a16="http://schemas.microsoft.com/office/drawing/2014/main" id="{DF408DE7-0699-4EE0-85E4-FBA61C1CEE66}"/>
              </a:ext>
            </a:extLst>
          </p:cNvPr>
          <p:cNvSpPr>
            <a:spLocks xmlns:a="http://schemas.openxmlformats.org/drawingml/2006/main" noGrp="1"/>
          </p:cNvSpPr>
          <p:nvPr/>
        </p:nvSpPr>
        <p:spPr>
          <a:xfrm xmlns:a="http://schemas.openxmlformats.org/drawingml/2006/main">
            <a:off x="5810250" y="1400175"/>
            <a:ext cx="5238750" cy="2038350"/>
          </a:xfrm>
          <a:prstGeom xmlns:a="http://schemas.openxmlformats.org/drawingml/2006/main" prst="roundRect">
            <a:avLst>
              <a:gd name="adj" fmla="val 8411"/>
            </a:avLst>
          </a:prstGeom>
          <a:solidFill xmlns:a="http://schemas.openxmlformats.org/drawingml/2006/main">
            <a:srgbClr val="EDF7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66EE69-3806-45EC-AAB4-E662821838B1}"/>
              </a:ext>
            </a:extLst>
          </p:cNvPr>
          <p:cNvSpPr>
            <a:spLocks xmlns:a="http://schemas.openxmlformats.org/drawingml/2006/main" noGrp="1"/>
          </p:cNvSpPr>
          <p:nvPr/>
        </p:nvSpPr>
        <p:spPr>
          <a:xfrm xmlns:a="http://schemas.openxmlformats.org/drawingml/2006/main">
            <a:off x="6076950" y="1638300"/>
            <a:ext cx="1762125" cy="323850"/>
          </a:xfrm>
          <a:prstGeom xmlns:a="http://schemas.openxmlformats.org/drawingml/2006/main" prst="roundRect">
            <a:avLst>
              <a:gd name="adj" fmla="val 50000"/>
            </a:avLst>
          </a:prstGeom>
          <a:solidFill xmlns:a="http://schemas.openxmlformats.org/drawingml/2006/main">
            <a:srgbClr val="CFEAE7"/>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178C8C"/>
                </a:solidFill>
                <a:latin typeface="Helvetica Neue"/>
                <a:ea typeface="Helvetica Neue"/>
                <a:cs typeface="Helvetica Neue"/>
              </a:defRPr>
            </a:pPr>
            <a:r>
              <a:rPr sz="1125" b="1">
                <a:solidFill>
                  <a:srgbClr val="178C8C"/>
                </a:solidFill>
                <a:latin typeface="Helvetica Neue"/>
                <a:ea typeface="Helvetica Neue"/>
                <a:cs typeface="Helvetica Neue"/>
              </a:rPr>
              <a:t>MULTIPLE CHILD IDs</a:t>
            </a:r>
          </a:p>
        </p:txBody>
      </p:sp>
      <p:sp>
        <p:nvSpPr>
          <p:cNvPr id="23" name="">
            <a:extLst xmlns:a="http://schemas.openxmlformats.org/drawingml/2006/main">
              <a:ext uri="{FF2B5EF4-FFF2-40B4-BE49-F238E27FC236}">
                <a16:creationId xmlns:a16="http://schemas.microsoft.com/office/drawing/2014/main" id="{D36A7C66-C47B-4A06-A2CA-313C2BC629CD}"/>
              </a:ext>
            </a:extLst>
          </p:cNvPr>
          <p:cNvSpPr>
            <a:spLocks xmlns:a="http://schemas.openxmlformats.org/drawingml/2006/main" noGrp="1"/>
          </p:cNvSpPr>
          <p:nvPr/>
        </p:nvSpPr>
        <p:spPr>
          <a:xfrm xmlns:a="http://schemas.openxmlformats.org/drawingml/2006/main">
            <a:off x="6076950" y="21526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VDW899-01-A   VDW899-01-B</a:t>
            </a:r>
          </a:p>
        </p:txBody>
      </p:sp>
      <p:sp>
        <p:nvSpPr>
          <p:cNvPr id="24" name="">
            <a:extLst xmlns:a="http://schemas.openxmlformats.org/drawingml/2006/main">
              <a:ext uri="{FF2B5EF4-FFF2-40B4-BE49-F238E27FC236}">
                <a16:creationId xmlns:a16="http://schemas.microsoft.com/office/drawing/2014/main" id="{DEB1A6C2-FC40-4C8A-8E11-D0C7A02C14B0}"/>
              </a:ext>
            </a:extLst>
          </p:cNvPr>
          <p:cNvSpPr>
            <a:spLocks xmlns:a="http://schemas.openxmlformats.org/drawingml/2006/main" noGrp="1"/>
          </p:cNvSpPr>
          <p:nvPr/>
        </p:nvSpPr>
        <p:spPr>
          <a:xfrm xmlns:a="http://schemas.openxmlformats.org/drawingml/2006/main">
            <a:off x="6076950" y="2676525"/>
            <a:ext cx="885825"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5BB3EC9-76B2-4F9B-BBE0-D719FD049CCE}"/>
              </a:ext>
            </a:extLst>
          </p:cNvPr>
          <p:cNvSpPr>
            <a:spLocks xmlns:a="http://schemas.openxmlformats.org/drawingml/2006/main" noGrp="1"/>
          </p:cNvSpPr>
          <p:nvPr/>
        </p:nvSpPr>
        <p:spPr>
          <a:xfrm xmlns:a="http://schemas.openxmlformats.org/drawingml/2006/main">
            <a:off x="7143750" y="26860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Create two booking rows</a:t>
            </a:r>
          </a:p>
        </p:txBody>
      </p:sp>
      <p:sp>
        <p:nvSpPr>
          <p:cNvPr id="26" name="">
            <a:extLst xmlns:a="http://schemas.openxmlformats.org/drawingml/2006/main">
              <a:ext uri="{FF2B5EF4-FFF2-40B4-BE49-F238E27FC236}">
                <a16:creationId xmlns:a16="http://schemas.microsoft.com/office/drawing/2014/main" id="{A5386F1F-1ACC-4F31-81BD-5F3EAA52FA37}"/>
              </a:ext>
            </a:extLst>
          </p:cNvPr>
          <p:cNvSpPr>
            <a:spLocks xmlns:a="http://schemas.openxmlformats.org/drawingml/2006/main" noGrp="1"/>
          </p:cNvSpPr>
          <p:nvPr/>
        </p:nvSpPr>
        <p:spPr>
          <a:xfrm xmlns:a="http://schemas.openxmlformats.org/drawingml/2006/main">
            <a:off x="6076950" y="30670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Same Calendly content; one row per child ID.</a:t>
            </a:r>
          </a:p>
        </p:txBody>
      </p:sp>
      <p:sp>
        <p:nvSpPr>
          <p:cNvPr id="27" name="">
            <a:extLst xmlns:a="http://schemas.openxmlformats.org/drawingml/2006/main">
              <a:ext uri="{FF2B5EF4-FFF2-40B4-BE49-F238E27FC236}">
                <a16:creationId xmlns:a16="http://schemas.microsoft.com/office/drawing/2014/main" id="{E1F819C0-A495-420B-A413-983F476D9FA9}"/>
              </a:ext>
            </a:extLst>
          </p:cNvPr>
          <p:cNvSpPr>
            <a:spLocks xmlns:a="http://schemas.openxmlformats.org/drawingml/2006/main" noGrp="1"/>
          </p:cNvSpPr>
          <p:nvPr/>
        </p:nvSpPr>
        <p:spPr>
          <a:xfrm xmlns:a="http://schemas.openxmlformats.org/drawingml/2006/main">
            <a:off x="5810250" y="3695700"/>
            <a:ext cx="5238750" cy="2038350"/>
          </a:xfrm>
          <a:prstGeom xmlns:a="http://schemas.openxmlformats.org/drawingml/2006/main" prst="roundRect">
            <a:avLst>
              <a:gd name="adj" fmla="val 8411"/>
            </a:avLst>
          </a:prstGeom>
          <a:solidFill xmlns:a="http://schemas.openxmlformats.org/drawingml/2006/main">
            <a:srgbClr val="FFF3E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10BC994-148A-4A76-8573-171CA1FEAF81}"/>
              </a:ext>
            </a:extLst>
          </p:cNvPr>
          <p:cNvSpPr>
            <a:spLocks xmlns:a="http://schemas.openxmlformats.org/drawingml/2006/main" noGrp="1"/>
          </p:cNvSpPr>
          <p:nvPr/>
        </p:nvSpPr>
        <p:spPr>
          <a:xfrm xmlns:a="http://schemas.openxmlformats.org/drawingml/2006/main">
            <a:off x="6076950" y="3933825"/>
            <a:ext cx="1752600" cy="323850"/>
          </a:xfrm>
          <a:prstGeom xmlns:a="http://schemas.openxmlformats.org/drawingml/2006/main" prst="roundRect">
            <a:avLst>
              <a:gd name="adj" fmla="val 50000"/>
            </a:avLst>
          </a:prstGeom>
          <a:solidFill xmlns:a="http://schemas.openxmlformats.org/drawingml/2006/main">
            <a:srgbClr val="FADDD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MOTHER CUSTOM ID</a:t>
            </a:r>
          </a:p>
        </p:txBody>
      </p:sp>
      <p:sp>
        <p:nvSpPr>
          <p:cNvPr id="29" name="">
            <a:extLst xmlns:a="http://schemas.openxmlformats.org/drawingml/2006/main">
              <a:ext uri="{FF2B5EF4-FFF2-40B4-BE49-F238E27FC236}">
                <a16:creationId xmlns:a16="http://schemas.microsoft.com/office/drawing/2014/main" id="{939BAC82-6AE1-48FB-A025-89D7BBC8457D}"/>
              </a:ext>
            </a:extLst>
          </p:cNvPr>
          <p:cNvSpPr>
            <a:spLocks xmlns:a="http://schemas.openxmlformats.org/drawingml/2006/main" noGrp="1"/>
          </p:cNvSpPr>
          <p:nvPr/>
        </p:nvSpPr>
        <p:spPr>
          <a:xfrm xmlns:a="http://schemas.openxmlformats.org/drawingml/2006/main">
            <a:off x="6076950" y="44577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Do not match on the mother ID alone</a:t>
            </a:r>
          </a:p>
        </p:txBody>
      </p:sp>
      <p:sp>
        <p:nvSpPr>
          <p:cNvPr id="30" name="">
            <a:extLst xmlns:a="http://schemas.openxmlformats.org/drawingml/2006/main">
              <a:ext uri="{FF2B5EF4-FFF2-40B4-BE49-F238E27FC236}">
                <a16:creationId xmlns:a16="http://schemas.microsoft.com/office/drawing/2014/main" id="{98A477E9-1B67-4A92-8E45-CF639E3C7DE2}"/>
              </a:ext>
            </a:extLst>
          </p:cNvPr>
          <p:cNvSpPr>
            <a:spLocks xmlns:a="http://schemas.openxmlformats.org/drawingml/2006/main" noGrp="1"/>
          </p:cNvSpPr>
          <p:nvPr/>
        </p:nvSpPr>
        <p:spPr>
          <a:xfrm xmlns:a="http://schemas.openxmlformats.org/drawingml/2006/main">
            <a:off x="6076950" y="494347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Require the child’s exact cleaned name before accepting the mapped child ID. This avoids assigning one mother’s booking to multiple children.</a:t>
            </a:r>
          </a:p>
        </p:txBody>
      </p:sp>
    </p:spTree>
    <p:extLst>
      <p:ext uri="{BB962C8B-B14F-4D97-AF65-F5344CB8AC3E}">
        <p14:creationId xmlns:p14="http://schemas.microsoft.com/office/powerpoint/2010/main" val="1826984483"/>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FCF45B6-56BA-4077-9D63-CC3ECCCE8D44}"/>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The latest booking within each age band determines IPA status</a:t>
            </a:r>
          </a:p>
        </p:txBody>
      </p:sp>
      <p:sp>
        <p:nvSpPr>
          <p:cNvPr id="2" name="">
            <a:extLst xmlns:a="http://schemas.openxmlformats.org/drawingml/2006/main">
              <a:ext uri="{FF2B5EF4-FFF2-40B4-BE49-F238E27FC236}">
                <a16:creationId xmlns:a16="http://schemas.microsoft.com/office/drawing/2014/main" id="{4AF97D47-04BA-48E2-BC4A-5914B95B3A9A}"/>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6A38BFF4-C89C-4BB2-BC35-41076706BECD}"/>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699F5A09-5A76-4FBD-BBE8-87394CFFBE32}"/>
              </a:ext>
            </a:extLst>
          </p:cNvPr>
          <p:cNvSpPr>
            <a:spLocks xmlns:a="http://schemas.openxmlformats.org/drawingml/2006/main" noGrp="1"/>
          </p:cNvSpPr>
          <p:nvPr/>
        </p:nvSpPr>
        <p:spPr>
          <a:xfrm xmlns:a="http://schemas.openxmlformats.org/drawingml/2006/main">
            <a:off x="685800" y="12573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5E6C78"/>
                </a:solidFill>
                <a:latin typeface="Helvetica Neue"/>
                <a:ea typeface="Helvetica Neue"/>
                <a:cs typeface="Helvetica Neue"/>
              </a:defRPr>
            </a:pPr>
            <a:r>
              <a:rPr sz="1800" b="0">
                <a:solidFill>
                  <a:srgbClr val="5E6C78"/>
                </a:solidFill>
                <a:latin typeface="Helvetica Neue"/>
                <a:ea typeface="Helvetica Neue"/>
                <a:cs typeface="Helvetica Neue"/>
              </a:rPr>
              <a:t>Records are grouped by participant and IPA age band—not participant alone.</a:t>
            </a:r>
          </a:p>
        </p:txBody>
      </p:sp>
      <p:sp>
        <p:nvSpPr>
          <p:cNvPr id="5" name="">
            <a:extLst xmlns:a="http://schemas.openxmlformats.org/drawingml/2006/main">
              <a:ext uri="{FF2B5EF4-FFF2-40B4-BE49-F238E27FC236}">
                <a16:creationId xmlns:a16="http://schemas.microsoft.com/office/drawing/2014/main" id="{26ECB62B-800E-4663-847D-E38E9AF01CB2}"/>
              </a:ext>
            </a:extLst>
          </p:cNvPr>
          <p:cNvSpPr>
            <a:spLocks xmlns:a="http://schemas.openxmlformats.org/drawingml/2006/main" noGrp="1"/>
          </p:cNvSpPr>
          <p:nvPr/>
        </p:nvSpPr>
        <p:spPr>
          <a:xfrm xmlns:a="http://schemas.openxmlformats.org/drawingml/2006/main">
            <a:off x="685800" y="1847850"/>
            <a:ext cx="3143250" cy="323850"/>
          </a:xfrm>
          <a:prstGeom xmlns:a="http://schemas.openxmlformats.org/drawingml/2006/main" prst="roundRect">
            <a:avLst>
              <a:gd name="adj" fmla="val 50000"/>
            </a:avLst>
          </a:prstGeom>
          <a:solidFill xmlns:a="http://schemas.openxmlformats.org/drawingml/2006/main">
            <a:srgbClr val="E8EF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EXAMPLE: SAME CHILD + AGE BAND</a:t>
            </a:r>
          </a:p>
        </p:txBody>
      </p:sp>
      <p:sp>
        <p:nvSpPr>
          <p:cNvPr id="6" name="">
            <a:extLst xmlns:a="http://schemas.openxmlformats.org/drawingml/2006/main">
              <a:ext uri="{FF2B5EF4-FFF2-40B4-BE49-F238E27FC236}">
                <a16:creationId xmlns:a16="http://schemas.microsoft.com/office/drawing/2014/main" id="{DA290B3A-A5DA-4192-8981-4F8616201920}"/>
              </a:ext>
            </a:extLst>
          </p:cNvPr>
          <p:cNvSpPr>
            <a:spLocks xmlns:a="http://schemas.openxmlformats.org/drawingml/2006/main" noGrp="1"/>
          </p:cNvSpPr>
          <p:nvPr/>
        </p:nvSpPr>
        <p:spPr>
          <a:xfrm xmlns:a="http://schemas.openxmlformats.org/drawingml/2006/main">
            <a:off x="70485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7" name="">
            <a:extLst xmlns:a="http://schemas.openxmlformats.org/drawingml/2006/main">
              <a:ext uri="{FF2B5EF4-FFF2-40B4-BE49-F238E27FC236}">
                <a16:creationId xmlns:a16="http://schemas.microsoft.com/office/drawing/2014/main" id="{0DA8BCCC-87A9-4048-9612-C1128A9EC9CF}"/>
              </a:ext>
            </a:extLst>
          </p:cNvPr>
          <p:cNvSpPr>
            <a:spLocks xmlns:a="http://schemas.openxmlformats.org/drawingml/2006/main" noGrp="1"/>
          </p:cNvSpPr>
          <p:nvPr/>
        </p:nvSpPr>
        <p:spPr>
          <a:xfrm xmlns:a="http://schemas.openxmlformats.org/drawingml/2006/main">
            <a:off x="93345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Earlier appointment</a:t>
            </a:r>
          </a:p>
        </p:txBody>
      </p:sp>
      <p:sp>
        <p:nvSpPr>
          <p:cNvPr id="8" name="">
            <a:extLst xmlns:a="http://schemas.openxmlformats.org/drawingml/2006/main">
              <a:ext uri="{FF2B5EF4-FFF2-40B4-BE49-F238E27FC236}">
                <a16:creationId xmlns:a16="http://schemas.microsoft.com/office/drawing/2014/main" id="{DA5BA249-3924-41C0-8E4F-3507DF00046E}"/>
              </a:ext>
            </a:extLst>
          </p:cNvPr>
          <p:cNvSpPr>
            <a:spLocks xmlns:a="http://schemas.openxmlformats.org/drawingml/2006/main" noGrp="1"/>
          </p:cNvSpPr>
          <p:nvPr/>
        </p:nvSpPr>
        <p:spPr>
          <a:xfrm xmlns:a="http://schemas.openxmlformats.org/drawingml/2006/main">
            <a:off x="93345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Marked as No Show</a:t>
            </a:r>
          </a:p>
        </p:txBody>
      </p:sp>
      <p:sp>
        <p:nvSpPr>
          <p:cNvPr id="9" name="">
            <a:extLst xmlns:a="http://schemas.openxmlformats.org/drawingml/2006/main">
              <a:ext uri="{FF2B5EF4-FFF2-40B4-BE49-F238E27FC236}">
                <a16:creationId xmlns:a16="http://schemas.microsoft.com/office/drawing/2014/main" id="{1F706834-E52E-4A46-B384-F4C1A42D0AB1}"/>
              </a:ext>
            </a:extLst>
          </p:cNvPr>
          <p:cNvSpPr>
            <a:spLocks xmlns:a="http://schemas.openxmlformats.org/drawingml/2006/main" noGrp="1"/>
          </p:cNvSpPr>
          <p:nvPr/>
        </p:nvSpPr>
        <p:spPr>
          <a:xfrm xmlns:a="http://schemas.openxmlformats.org/drawingml/2006/main">
            <a:off x="93345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May 12</a:t>
            </a:r>
          </a:p>
        </p:txBody>
      </p:sp>
      <p:sp>
        <p:nvSpPr>
          <p:cNvPr id="10" name="">
            <a:extLst xmlns:a="http://schemas.openxmlformats.org/drawingml/2006/main">
              <a:ext uri="{FF2B5EF4-FFF2-40B4-BE49-F238E27FC236}">
                <a16:creationId xmlns:a16="http://schemas.microsoft.com/office/drawing/2014/main" id="{0481C092-C0D7-48B6-A502-F08027F07B87}"/>
              </a:ext>
            </a:extLst>
          </p:cNvPr>
          <p:cNvSpPr>
            <a:spLocks xmlns:a="http://schemas.openxmlformats.org/drawingml/2006/main" noGrp="1"/>
          </p:cNvSpPr>
          <p:nvPr/>
        </p:nvSpPr>
        <p:spPr>
          <a:xfrm xmlns:a="http://schemas.openxmlformats.org/drawingml/2006/main">
            <a:off x="3800475" y="2962275"/>
            <a:ext cx="1181100"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A98B7F-2B91-484B-AA91-35FA016744FB}"/>
              </a:ext>
            </a:extLst>
          </p:cNvPr>
          <p:cNvSpPr>
            <a:spLocks xmlns:a="http://schemas.openxmlformats.org/drawingml/2006/main" noGrp="1"/>
          </p:cNvSpPr>
          <p:nvPr/>
        </p:nvSpPr>
        <p:spPr>
          <a:xfrm xmlns:a="http://schemas.openxmlformats.org/drawingml/2006/main">
            <a:off x="529590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2" name="">
            <a:extLst xmlns:a="http://schemas.openxmlformats.org/drawingml/2006/main">
              <a:ext uri="{FF2B5EF4-FFF2-40B4-BE49-F238E27FC236}">
                <a16:creationId xmlns:a16="http://schemas.microsoft.com/office/drawing/2014/main" id="{7DE97DBD-EF17-4FBB-8515-BE7DAA29A53B}"/>
              </a:ext>
            </a:extLst>
          </p:cNvPr>
          <p:cNvSpPr>
            <a:spLocks xmlns:a="http://schemas.openxmlformats.org/drawingml/2006/main" noGrp="1"/>
          </p:cNvSpPr>
          <p:nvPr/>
        </p:nvSpPr>
        <p:spPr>
          <a:xfrm xmlns:a="http://schemas.openxmlformats.org/drawingml/2006/main">
            <a:off x="552450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Latest appointment</a:t>
            </a:r>
          </a:p>
        </p:txBody>
      </p:sp>
      <p:sp>
        <p:nvSpPr>
          <p:cNvPr id="13" name="">
            <a:extLst xmlns:a="http://schemas.openxmlformats.org/drawingml/2006/main">
              <a:ext uri="{FF2B5EF4-FFF2-40B4-BE49-F238E27FC236}">
                <a16:creationId xmlns:a16="http://schemas.microsoft.com/office/drawing/2014/main" id="{3EC69C00-E136-46B5-9BD2-2BF4784DB8F0}"/>
              </a:ext>
            </a:extLst>
          </p:cNvPr>
          <p:cNvSpPr>
            <a:spLocks xmlns:a="http://schemas.openxmlformats.org/drawingml/2006/main" noGrp="1"/>
          </p:cNvSpPr>
          <p:nvPr/>
        </p:nvSpPr>
        <p:spPr>
          <a:xfrm xmlns:a="http://schemas.openxmlformats.org/drawingml/2006/main">
            <a:off x="552450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Completed</a:t>
            </a:r>
          </a:p>
        </p:txBody>
      </p:sp>
      <p:sp>
        <p:nvSpPr>
          <p:cNvPr id="14" name="">
            <a:extLst xmlns:a="http://schemas.openxmlformats.org/drawingml/2006/main">
              <a:ext uri="{FF2B5EF4-FFF2-40B4-BE49-F238E27FC236}">
                <a16:creationId xmlns:a16="http://schemas.microsoft.com/office/drawing/2014/main" id="{970D6F64-0292-4E13-9704-8B09C5594887}"/>
              </a:ext>
            </a:extLst>
          </p:cNvPr>
          <p:cNvSpPr>
            <a:spLocks xmlns:a="http://schemas.openxmlformats.org/drawingml/2006/main" noGrp="1"/>
          </p:cNvSpPr>
          <p:nvPr/>
        </p:nvSpPr>
        <p:spPr>
          <a:xfrm xmlns:a="http://schemas.openxmlformats.org/drawingml/2006/main">
            <a:off x="552450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June 03</a:t>
            </a:r>
          </a:p>
        </p:txBody>
      </p:sp>
      <p:sp>
        <p:nvSpPr>
          <p:cNvPr id="15" name="">
            <a:extLst xmlns:a="http://schemas.openxmlformats.org/drawingml/2006/main">
              <a:ext uri="{FF2B5EF4-FFF2-40B4-BE49-F238E27FC236}">
                <a16:creationId xmlns:a16="http://schemas.microsoft.com/office/drawing/2014/main" id="{C1748B38-0864-4170-AA65-3DDBD536FFB9}"/>
              </a:ext>
            </a:extLst>
          </p:cNvPr>
          <p:cNvSpPr>
            <a:spLocks xmlns:a="http://schemas.openxmlformats.org/drawingml/2006/main" noGrp="1"/>
          </p:cNvSpPr>
          <p:nvPr/>
        </p:nvSpPr>
        <p:spPr>
          <a:xfrm xmlns:a="http://schemas.openxmlformats.org/drawingml/2006/main">
            <a:off x="8391525" y="2962275"/>
            <a:ext cx="762000" cy="285750"/>
          </a:xfrm>
          <a:prstGeom xmlns:a="http://schemas.openxmlformats.org/drawingml/2006/main" prst="rightArrow">
            <a:avLst/>
          </a:prstGeom>
          <a:solidFill xmlns:a="http://schemas.openxmlformats.org/drawingml/2006/main">
            <a:srgbClr val="2A9D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EA0537-B7D5-4C7D-A790-C1FEDC0C29FD}"/>
              </a:ext>
            </a:extLst>
          </p:cNvPr>
          <p:cNvSpPr>
            <a:spLocks xmlns:a="http://schemas.openxmlformats.org/drawingml/2006/main" noGrp="1"/>
          </p:cNvSpPr>
          <p:nvPr/>
        </p:nvSpPr>
        <p:spPr>
          <a:xfrm xmlns:a="http://schemas.openxmlformats.org/drawingml/2006/main">
            <a:off x="9467850" y="2352675"/>
            <a:ext cx="2000250" cy="1562100"/>
          </a:xfrm>
          <a:prstGeom xmlns:a="http://schemas.openxmlformats.org/drawingml/2006/main" prst="roundRect">
            <a:avLst>
              <a:gd name="adj" fmla="val 10976"/>
            </a:avLst>
          </a:prstGeom>
          <a:solidFill xmlns:a="http://schemas.openxmlformats.org/drawingml/2006/main">
            <a:srgbClr val="DFF2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016B053-F88A-4C71-B1D6-F9E924EB2F5B}"/>
              </a:ext>
            </a:extLst>
          </p:cNvPr>
          <p:cNvSpPr>
            <a:spLocks xmlns:a="http://schemas.openxmlformats.org/drawingml/2006/main" noGrp="1"/>
          </p:cNvSpPr>
          <p:nvPr/>
        </p:nvSpPr>
        <p:spPr>
          <a:xfrm xmlns:a="http://schemas.openxmlformats.org/drawingml/2006/main">
            <a:off x="9686925" y="26098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Final IPA outcome</a:t>
            </a:r>
          </a:p>
        </p:txBody>
      </p:sp>
      <p:sp>
        <p:nvSpPr>
          <p:cNvPr id="18" name="">
            <a:extLst xmlns:a="http://schemas.openxmlformats.org/drawingml/2006/main">
              <a:ext uri="{FF2B5EF4-FFF2-40B4-BE49-F238E27FC236}">
                <a16:creationId xmlns:a16="http://schemas.microsoft.com/office/drawing/2014/main" id="{1E85815F-79D4-4A70-9513-14A37D2A6F11}"/>
              </a:ext>
            </a:extLst>
          </p:cNvPr>
          <p:cNvSpPr>
            <a:spLocks xmlns:a="http://schemas.openxmlformats.org/drawingml/2006/main" noGrp="1"/>
          </p:cNvSpPr>
          <p:nvPr/>
        </p:nvSpPr>
        <p:spPr>
          <a:xfrm xmlns:a="http://schemas.openxmlformats.org/drawingml/2006/main">
            <a:off x="9686925" y="311467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2A9D63"/>
                </a:solidFill>
                <a:latin typeface="Helvetica Neue"/>
                <a:ea typeface="Helvetica Neue"/>
                <a:cs typeface="Helvetica Neue"/>
              </a:defRPr>
            </a:pPr>
            <a:r>
              <a:rPr sz="2175" b="1">
                <a:solidFill>
                  <a:srgbClr val="2A9D63"/>
                </a:solidFill>
                <a:latin typeface="Helvetica Neue"/>
                <a:ea typeface="Helvetica Neue"/>
                <a:cs typeface="Helvetica Neue"/>
              </a:rPr>
              <a:t>COMPLETE</a:t>
            </a:r>
          </a:p>
        </p:txBody>
      </p:sp>
      <p:sp>
        <p:nvSpPr>
          <p:cNvPr id="19" name="">
            <a:extLst xmlns:a="http://schemas.openxmlformats.org/drawingml/2006/main">
              <a:ext uri="{FF2B5EF4-FFF2-40B4-BE49-F238E27FC236}">
                <a16:creationId xmlns:a16="http://schemas.microsoft.com/office/drawing/2014/main" id="{CBE90263-3F06-4721-822D-F09C9168E056}"/>
              </a:ext>
            </a:extLst>
          </p:cNvPr>
          <p:cNvSpPr>
            <a:spLocks xmlns:a="http://schemas.openxmlformats.org/drawingml/2006/main" noGrp="1"/>
          </p:cNvSpPr>
          <p:nvPr/>
        </p:nvSpPr>
        <p:spPr>
          <a:xfrm xmlns:a="http://schemas.openxmlformats.org/drawingml/2006/main">
            <a:off x="9686925" y="3571875"/>
            <a:ext cx="1581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 1.00</a:t>
            </a:r>
          </a:p>
        </p:txBody>
      </p:sp>
      <p:sp>
        <p:nvSpPr>
          <p:cNvPr id="20" name="">
            <a:extLst xmlns:a="http://schemas.openxmlformats.org/drawingml/2006/main">
              <a:ext uri="{FF2B5EF4-FFF2-40B4-BE49-F238E27FC236}">
                <a16:creationId xmlns:a16="http://schemas.microsoft.com/office/drawing/2014/main" id="{A0DA2F20-696F-4AD4-BA7B-4FAEC350FAE1}"/>
              </a:ext>
            </a:extLst>
          </p:cNvPr>
          <p:cNvSpPr>
            <a:spLocks xmlns:a="http://schemas.openxmlformats.org/drawingml/2006/main" noGrp="1"/>
          </p:cNvSpPr>
          <p:nvPr/>
        </p:nvSpPr>
        <p:spPr>
          <a:xfrm xmlns:a="http://schemas.openxmlformats.org/drawingml/2006/main">
            <a:off x="704850" y="4457700"/>
            <a:ext cx="1076325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21" name="">
            <a:extLst xmlns:a="http://schemas.openxmlformats.org/drawingml/2006/main">
              <a:ext uri="{FF2B5EF4-FFF2-40B4-BE49-F238E27FC236}">
                <a16:creationId xmlns:a16="http://schemas.microsoft.com/office/drawing/2014/main" id="{6E835BC2-78E1-431F-AD90-C12DF1E77AEE}"/>
              </a:ext>
            </a:extLst>
          </p:cNvPr>
          <p:cNvSpPr>
            <a:spLocks xmlns:a="http://schemas.openxmlformats.org/drawingml/2006/main" noGrp="1"/>
          </p:cNvSpPr>
          <p:nvPr/>
        </p:nvSpPr>
        <p:spPr>
          <a:xfrm xmlns:a="http://schemas.openxmlformats.org/drawingml/2006/main">
            <a:off x="704850" y="4762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Supported IPA age bands</a:t>
            </a:r>
          </a:p>
        </p:txBody>
      </p:sp>
      <p:sp>
        <p:nvSpPr>
          <p:cNvPr id="22" name="">
            <a:extLst xmlns:a="http://schemas.openxmlformats.org/drawingml/2006/main">
              <a:ext uri="{FF2B5EF4-FFF2-40B4-BE49-F238E27FC236}">
                <a16:creationId xmlns:a16="http://schemas.microsoft.com/office/drawing/2014/main" id="{9124B931-1182-4265-B920-49DD6EBEA36F}"/>
              </a:ext>
            </a:extLst>
          </p:cNvPr>
          <p:cNvSpPr>
            <a:spLocks xmlns:a="http://schemas.openxmlformats.org/drawingml/2006/main" noGrp="1"/>
          </p:cNvSpPr>
          <p:nvPr/>
        </p:nvSpPr>
        <p:spPr>
          <a:xfrm xmlns:a="http://schemas.openxmlformats.org/drawingml/2006/main">
            <a:off x="7048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12–23 mo</a:t>
            </a:r>
          </a:p>
        </p:txBody>
      </p:sp>
      <p:sp>
        <p:nvSpPr>
          <p:cNvPr id="23" name="">
            <a:extLst xmlns:a="http://schemas.openxmlformats.org/drawingml/2006/main">
              <a:ext uri="{FF2B5EF4-FFF2-40B4-BE49-F238E27FC236}">
                <a16:creationId xmlns:a16="http://schemas.microsoft.com/office/drawing/2014/main" id="{2445378A-4E11-4285-92E3-FC403BFF9F39}"/>
              </a:ext>
            </a:extLst>
          </p:cNvPr>
          <p:cNvSpPr>
            <a:spLocks xmlns:a="http://schemas.openxmlformats.org/drawingml/2006/main" noGrp="1"/>
          </p:cNvSpPr>
          <p:nvPr/>
        </p:nvSpPr>
        <p:spPr>
          <a:xfrm xmlns:a="http://schemas.openxmlformats.org/drawingml/2006/main">
            <a:off x="200977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24–35 mo</a:t>
            </a:r>
          </a:p>
        </p:txBody>
      </p:sp>
      <p:sp>
        <p:nvSpPr>
          <p:cNvPr id="24" name="">
            <a:extLst xmlns:a="http://schemas.openxmlformats.org/drawingml/2006/main">
              <a:ext uri="{FF2B5EF4-FFF2-40B4-BE49-F238E27FC236}">
                <a16:creationId xmlns:a16="http://schemas.microsoft.com/office/drawing/2014/main" id="{3970ED1F-F305-4B9D-AAAF-A4E2475C75BA}"/>
              </a:ext>
            </a:extLst>
          </p:cNvPr>
          <p:cNvSpPr>
            <a:spLocks xmlns:a="http://schemas.openxmlformats.org/drawingml/2006/main" noGrp="1"/>
          </p:cNvSpPr>
          <p:nvPr/>
        </p:nvSpPr>
        <p:spPr>
          <a:xfrm xmlns:a="http://schemas.openxmlformats.org/drawingml/2006/main">
            <a:off x="331470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3–5 yr</a:t>
            </a:r>
          </a:p>
        </p:txBody>
      </p:sp>
      <p:sp>
        <p:nvSpPr>
          <p:cNvPr id="25" name="">
            <a:extLst xmlns:a="http://schemas.openxmlformats.org/drawingml/2006/main">
              <a:ext uri="{FF2B5EF4-FFF2-40B4-BE49-F238E27FC236}">
                <a16:creationId xmlns:a16="http://schemas.microsoft.com/office/drawing/2014/main" id="{1C78D185-B7A8-4BAB-B8A3-9CF95B200C44}"/>
              </a:ext>
            </a:extLst>
          </p:cNvPr>
          <p:cNvSpPr>
            <a:spLocks xmlns:a="http://schemas.openxmlformats.org/drawingml/2006/main" noGrp="1"/>
          </p:cNvSpPr>
          <p:nvPr/>
        </p:nvSpPr>
        <p:spPr>
          <a:xfrm xmlns:a="http://schemas.openxmlformats.org/drawingml/2006/main">
            <a:off x="461962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6–10 yr</a:t>
            </a:r>
          </a:p>
        </p:txBody>
      </p:sp>
      <p:sp>
        <p:nvSpPr>
          <p:cNvPr id="26" name="">
            <a:extLst xmlns:a="http://schemas.openxmlformats.org/drawingml/2006/main">
              <a:ext uri="{FF2B5EF4-FFF2-40B4-BE49-F238E27FC236}">
                <a16:creationId xmlns:a16="http://schemas.microsoft.com/office/drawing/2014/main" id="{81FBB64D-A4B9-4917-8EB6-B479E1A74411}"/>
              </a:ext>
            </a:extLst>
          </p:cNvPr>
          <p:cNvSpPr>
            <a:spLocks xmlns:a="http://schemas.openxmlformats.org/drawingml/2006/main" noGrp="1"/>
          </p:cNvSpPr>
          <p:nvPr/>
        </p:nvSpPr>
        <p:spPr>
          <a:xfrm xmlns:a="http://schemas.openxmlformats.org/drawingml/2006/main">
            <a:off x="5924550" y="5257800"/>
            <a:ext cx="1295400"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11–17 yr</a:t>
            </a:r>
          </a:p>
        </p:txBody>
      </p:sp>
      <p:sp>
        <p:nvSpPr>
          <p:cNvPr id="27" name="">
            <a:extLst xmlns:a="http://schemas.openxmlformats.org/drawingml/2006/main">
              <a:ext uri="{FF2B5EF4-FFF2-40B4-BE49-F238E27FC236}">
                <a16:creationId xmlns:a16="http://schemas.microsoft.com/office/drawing/2014/main" id="{BFBE3652-2D4F-404B-905F-C742043465FD}"/>
              </a:ext>
            </a:extLst>
          </p:cNvPr>
          <p:cNvSpPr>
            <a:spLocks xmlns:a="http://schemas.openxmlformats.org/drawingml/2006/main" noGrp="1"/>
          </p:cNvSpPr>
          <p:nvPr/>
        </p:nvSpPr>
        <p:spPr>
          <a:xfrm xmlns:a="http://schemas.openxmlformats.org/drawingml/2006/main">
            <a:off x="73342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18–20 yr</a:t>
            </a:r>
          </a:p>
        </p:txBody>
      </p:sp>
      <p:sp>
        <p:nvSpPr>
          <p:cNvPr id="28" name="">
            <a:extLst xmlns:a="http://schemas.openxmlformats.org/drawingml/2006/main">
              <a:ext uri="{FF2B5EF4-FFF2-40B4-BE49-F238E27FC236}">
                <a16:creationId xmlns:a16="http://schemas.microsoft.com/office/drawing/2014/main" id="{75740C90-B069-458B-A7A4-BA3B6E39E98B}"/>
              </a:ext>
            </a:extLst>
          </p:cNvPr>
          <p:cNvSpPr>
            <a:spLocks xmlns:a="http://schemas.openxmlformats.org/drawingml/2006/main" noGrp="1"/>
          </p:cNvSpPr>
          <p:nvPr/>
        </p:nvSpPr>
        <p:spPr>
          <a:xfrm xmlns:a="http://schemas.openxmlformats.org/drawingml/2006/main">
            <a:off x="704850" y="5905500"/>
            <a:ext cx="962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 participant can have a separate latest record in every age band.</a:t>
            </a:r>
          </a:p>
        </p:txBody>
      </p:sp>
    </p:spTree>
    <p:extLst>
      <p:ext uri="{BB962C8B-B14F-4D97-AF65-F5344CB8AC3E}">
        <p14:creationId xmlns:p14="http://schemas.microsoft.com/office/powerpoint/2010/main" val="16831125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3823E2E-9349-411C-9632-F45365905CF0}"/>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Outcomes roll up through a consistent score and denominator</a:t>
            </a:r>
          </a:p>
        </p:txBody>
      </p:sp>
      <p:sp>
        <p:nvSpPr>
          <p:cNvPr id="2" name="">
            <a:extLst xmlns:a="http://schemas.openxmlformats.org/drawingml/2006/main">
              <a:ext uri="{FF2B5EF4-FFF2-40B4-BE49-F238E27FC236}">
                <a16:creationId xmlns:a16="http://schemas.microsoft.com/office/drawing/2014/main" id="{0FB5AD6D-C509-4594-B53E-ECAFCC897378}"/>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7FE45D7B-525E-4A05-A3D2-DE7ECB64BD92}"/>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8F49A64F-7DE7-403D-8832-087E01EDC589}"/>
              </a:ext>
            </a:extLst>
          </p:cNvPr>
          <p:cNvSpPr>
            <a:spLocks xmlns:a="http://schemas.openxmlformats.org/drawingml/2006/main" noGrp="1"/>
          </p:cNvSpPr>
          <p:nvPr/>
        </p:nvSpPr>
        <p:spPr>
          <a:xfrm xmlns:a="http://schemas.openxmlformats.org/drawingml/2006/main">
            <a:off x="819150" y="1543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Outcome</a:t>
            </a:r>
          </a:p>
        </p:txBody>
      </p:sp>
      <p:sp>
        <p:nvSpPr>
          <p:cNvPr id="5" name="">
            <a:extLst xmlns:a="http://schemas.openxmlformats.org/drawingml/2006/main">
              <a:ext uri="{FF2B5EF4-FFF2-40B4-BE49-F238E27FC236}">
                <a16:creationId xmlns:a16="http://schemas.microsoft.com/office/drawing/2014/main" id="{616D4581-B170-4E11-AE84-B9EBDC336BAF}"/>
              </a:ext>
            </a:extLst>
          </p:cNvPr>
          <p:cNvSpPr>
            <a:spLocks xmlns:a="http://schemas.openxmlformats.org/drawingml/2006/main" noGrp="1"/>
          </p:cNvSpPr>
          <p:nvPr/>
        </p:nvSpPr>
        <p:spPr>
          <a:xfrm xmlns:a="http://schemas.openxmlformats.org/drawingml/2006/main">
            <a:off x="3638550" y="15430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Score</a:t>
            </a:r>
          </a:p>
        </p:txBody>
      </p:sp>
      <p:sp>
        <p:nvSpPr>
          <p:cNvPr id="6" name="">
            <a:extLst xmlns:a="http://schemas.openxmlformats.org/drawingml/2006/main">
              <a:ext uri="{FF2B5EF4-FFF2-40B4-BE49-F238E27FC236}">
                <a16:creationId xmlns:a16="http://schemas.microsoft.com/office/drawing/2014/main" id="{0C40C73F-C296-49D1-8479-CAE09202E8A5}"/>
              </a:ext>
            </a:extLst>
          </p:cNvPr>
          <p:cNvSpPr>
            <a:spLocks xmlns:a="http://schemas.openxmlformats.org/drawingml/2006/main" noGrp="1"/>
          </p:cNvSpPr>
          <p:nvPr/>
        </p:nvSpPr>
        <p:spPr>
          <a:xfrm xmlns:a="http://schemas.openxmlformats.org/drawingml/2006/main">
            <a:off x="5486400" y="1543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Interpretation</a:t>
            </a:r>
          </a:p>
        </p:txBody>
      </p:sp>
      <p:sp>
        <p:nvSpPr>
          <p:cNvPr id="7" name="">
            <a:extLst xmlns:a="http://schemas.openxmlformats.org/drawingml/2006/main">
              <a:ext uri="{FF2B5EF4-FFF2-40B4-BE49-F238E27FC236}">
                <a16:creationId xmlns:a16="http://schemas.microsoft.com/office/drawing/2014/main" id="{00A18E30-9436-47CE-9E6B-4390D13C9B92}"/>
              </a:ext>
            </a:extLst>
          </p:cNvPr>
          <p:cNvSpPr>
            <a:spLocks xmlns:a="http://schemas.openxmlformats.org/drawingml/2006/main" noGrp="1"/>
          </p:cNvSpPr>
          <p:nvPr/>
        </p:nvSpPr>
        <p:spPr>
          <a:xfrm xmlns:a="http://schemas.openxmlformats.org/drawingml/2006/main">
            <a:off x="685800" y="19907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8" name="">
            <a:extLst xmlns:a="http://schemas.openxmlformats.org/drawingml/2006/main">
              <a:ext uri="{FF2B5EF4-FFF2-40B4-BE49-F238E27FC236}">
                <a16:creationId xmlns:a16="http://schemas.microsoft.com/office/drawing/2014/main" id="{3B46EDD2-1706-4C1A-ACE8-7AAE8CB31191}"/>
              </a:ext>
            </a:extLst>
          </p:cNvPr>
          <p:cNvSpPr>
            <a:spLocks xmlns:a="http://schemas.openxmlformats.org/drawingml/2006/main" noGrp="1"/>
          </p:cNvSpPr>
          <p:nvPr/>
        </p:nvSpPr>
        <p:spPr>
          <a:xfrm xmlns:a="http://schemas.openxmlformats.org/drawingml/2006/main">
            <a:off x="819150" y="2171700"/>
            <a:ext cx="133350" cy="30480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9FD8D78-EE82-449E-B2CA-02856BEA4EC3}"/>
              </a:ext>
            </a:extLst>
          </p:cNvPr>
          <p:cNvSpPr>
            <a:spLocks xmlns:a="http://schemas.openxmlformats.org/drawingml/2006/main" noGrp="1"/>
          </p:cNvSpPr>
          <p:nvPr/>
        </p:nvSpPr>
        <p:spPr>
          <a:xfrm xmlns:a="http://schemas.openxmlformats.org/drawingml/2006/main">
            <a:off x="1123950" y="21717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Complete</a:t>
            </a:r>
          </a:p>
        </p:txBody>
      </p:sp>
      <p:sp>
        <p:nvSpPr>
          <p:cNvPr id="10" name="">
            <a:extLst xmlns:a="http://schemas.openxmlformats.org/drawingml/2006/main">
              <a:ext uri="{FF2B5EF4-FFF2-40B4-BE49-F238E27FC236}">
                <a16:creationId xmlns:a16="http://schemas.microsoft.com/office/drawing/2014/main" id="{5D071B5F-A263-40D5-9CB7-162A86D93334}"/>
              </a:ext>
            </a:extLst>
          </p:cNvPr>
          <p:cNvSpPr>
            <a:spLocks xmlns:a="http://schemas.openxmlformats.org/drawingml/2006/main" noGrp="1"/>
          </p:cNvSpPr>
          <p:nvPr/>
        </p:nvSpPr>
        <p:spPr>
          <a:xfrm xmlns:a="http://schemas.openxmlformats.org/drawingml/2006/main">
            <a:off x="3638550" y="2162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1.00</a:t>
            </a:r>
          </a:p>
        </p:txBody>
      </p:sp>
      <p:sp>
        <p:nvSpPr>
          <p:cNvPr id="11" name="">
            <a:extLst xmlns:a="http://schemas.openxmlformats.org/drawingml/2006/main">
              <a:ext uri="{FF2B5EF4-FFF2-40B4-BE49-F238E27FC236}">
                <a16:creationId xmlns:a16="http://schemas.microsoft.com/office/drawing/2014/main" id="{2F64F88A-FF08-41B7-B739-E6CC49FB8771}"/>
              </a:ext>
            </a:extLst>
          </p:cNvPr>
          <p:cNvSpPr>
            <a:spLocks xmlns:a="http://schemas.openxmlformats.org/drawingml/2006/main" noGrp="1"/>
          </p:cNvSpPr>
          <p:nvPr/>
        </p:nvSpPr>
        <p:spPr>
          <a:xfrm xmlns:a="http://schemas.openxmlformats.org/drawingml/2006/main">
            <a:off x="5486400" y="21812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Task completed</a:t>
            </a:r>
          </a:p>
        </p:txBody>
      </p:sp>
      <p:sp>
        <p:nvSpPr>
          <p:cNvPr id="12" name="">
            <a:extLst xmlns:a="http://schemas.openxmlformats.org/drawingml/2006/main">
              <a:ext uri="{FF2B5EF4-FFF2-40B4-BE49-F238E27FC236}">
                <a16:creationId xmlns:a16="http://schemas.microsoft.com/office/drawing/2014/main" id="{64EFA225-13F5-4294-80EA-1F1F60E48578}"/>
              </a:ext>
            </a:extLst>
          </p:cNvPr>
          <p:cNvSpPr>
            <a:spLocks xmlns:a="http://schemas.openxmlformats.org/drawingml/2006/main" noGrp="1"/>
          </p:cNvSpPr>
          <p:nvPr/>
        </p:nvSpPr>
        <p:spPr>
          <a:xfrm xmlns:a="http://schemas.openxmlformats.org/drawingml/2006/main">
            <a:off x="685800" y="27717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3" name="">
            <a:extLst xmlns:a="http://schemas.openxmlformats.org/drawingml/2006/main">
              <a:ext uri="{FF2B5EF4-FFF2-40B4-BE49-F238E27FC236}">
                <a16:creationId xmlns:a16="http://schemas.microsoft.com/office/drawing/2014/main" id="{41107D82-8BB9-4FE1-9FF4-FEA457E84219}"/>
              </a:ext>
            </a:extLst>
          </p:cNvPr>
          <p:cNvSpPr>
            <a:spLocks xmlns:a="http://schemas.openxmlformats.org/drawingml/2006/main" noGrp="1"/>
          </p:cNvSpPr>
          <p:nvPr/>
        </p:nvSpPr>
        <p:spPr>
          <a:xfrm xmlns:a="http://schemas.openxmlformats.org/drawingml/2006/main">
            <a:off x="819150" y="2952750"/>
            <a:ext cx="133350" cy="30480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FC01F3-2302-4B13-A153-89B9C5798A34}"/>
              </a:ext>
            </a:extLst>
          </p:cNvPr>
          <p:cNvSpPr>
            <a:spLocks xmlns:a="http://schemas.openxmlformats.org/drawingml/2006/main" noGrp="1"/>
          </p:cNvSpPr>
          <p:nvPr/>
        </p:nvSpPr>
        <p:spPr>
          <a:xfrm xmlns:a="http://schemas.openxmlformats.org/drawingml/2006/main">
            <a:off x="1123950" y="2952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No-Show</a:t>
            </a:r>
          </a:p>
        </p:txBody>
      </p:sp>
      <p:sp>
        <p:nvSpPr>
          <p:cNvPr id="15" name="">
            <a:extLst xmlns:a="http://schemas.openxmlformats.org/drawingml/2006/main">
              <a:ext uri="{FF2B5EF4-FFF2-40B4-BE49-F238E27FC236}">
                <a16:creationId xmlns:a16="http://schemas.microsoft.com/office/drawing/2014/main" id="{55A42C58-775C-4971-B4A8-A48494651A04}"/>
              </a:ext>
            </a:extLst>
          </p:cNvPr>
          <p:cNvSpPr>
            <a:spLocks xmlns:a="http://schemas.openxmlformats.org/drawingml/2006/main" noGrp="1"/>
          </p:cNvSpPr>
          <p:nvPr/>
        </p:nvSpPr>
        <p:spPr>
          <a:xfrm xmlns:a="http://schemas.openxmlformats.org/drawingml/2006/main">
            <a:off x="363855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0.25</a:t>
            </a:r>
          </a:p>
        </p:txBody>
      </p:sp>
      <p:sp>
        <p:nvSpPr>
          <p:cNvPr id="16" name="">
            <a:extLst xmlns:a="http://schemas.openxmlformats.org/drawingml/2006/main">
              <a:ext uri="{FF2B5EF4-FFF2-40B4-BE49-F238E27FC236}">
                <a16:creationId xmlns:a16="http://schemas.microsoft.com/office/drawing/2014/main" id="{E016B9B3-7511-4BD1-A531-0731FB9D8950}"/>
              </a:ext>
            </a:extLst>
          </p:cNvPr>
          <p:cNvSpPr>
            <a:spLocks xmlns:a="http://schemas.openxmlformats.org/drawingml/2006/main" noGrp="1"/>
          </p:cNvSpPr>
          <p:nvPr/>
        </p:nvSpPr>
        <p:spPr>
          <a:xfrm xmlns:a="http://schemas.openxmlformats.org/drawingml/2006/main">
            <a:off x="5486400" y="29622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marked no-show</a:t>
            </a:r>
          </a:p>
        </p:txBody>
      </p:sp>
      <p:sp>
        <p:nvSpPr>
          <p:cNvPr id="17" name="">
            <a:extLst xmlns:a="http://schemas.openxmlformats.org/drawingml/2006/main">
              <a:ext uri="{FF2B5EF4-FFF2-40B4-BE49-F238E27FC236}">
                <a16:creationId xmlns:a16="http://schemas.microsoft.com/office/drawing/2014/main" id="{D4ECF69D-1E00-4F2C-8952-B3D9F8EAA5F3}"/>
              </a:ext>
            </a:extLst>
          </p:cNvPr>
          <p:cNvSpPr>
            <a:spLocks xmlns:a="http://schemas.openxmlformats.org/drawingml/2006/main" noGrp="1"/>
          </p:cNvSpPr>
          <p:nvPr/>
        </p:nvSpPr>
        <p:spPr>
          <a:xfrm xmlns:a="http://schemas.openxmlformats.org/drawingml/2006/main">
            <a:off x="685800" y="35528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8" name="">
            <a:extLst xmlns:a="http://schemas.openxmlformats.org/drawingml/2006/main">
              <a:ext uri="{FF2B5EF4-FFF2-40B4-BE49-F238E27FC236}">
                <a16:creationId xmlns:a16="http://schemas.microsoft.com/office/drawing/2014/main" id="{68F9A507-90B0-4BA7-9160-BEDDACC1F88D}"/>
              </a:ext>
            </a:extLst>
          </p:cNvPr>
          <p:cNvSpPr>
            <a:spLocks xmlns:a="http://schemas.openxmlformats.org/drawingml/2006/main" noGrp="1"/>
          </p:cNvSpPr>
          <p:nvPr/>
        </p:nvSpPr>
        <p:spPr>
          <a:xfrm xmlns:a="http://schemas.openxmlformats.org/drawingml/2006/main">
            <a:off x="819150" y="3733800"/>
            <a:ext cx="133350" cy="3048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536806-4867-4562-80C3-D1E2C5F2F60F}"/>
              </a:ext>
            </a:extLst>
          </p:cNvPr>
          <p:cNvSpPr>
            <a:spLocks xmlns:a="http://schemas.openxmlformats.org/drawingml/2006/main" noGrp="1"/>
          </p:cNvSpPr>
          <p:nvPr/>
        </p:nvSpPr>
        <p:spPr>
          <a:xfrm xmlns:a="http://schemas.openxmlformats.org/drawingml/2006/main">
            <a:off x="1123950" y="37338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Incomplete</a:t>
            </a:r>
          </a:p>
        </p:txBody>
      </p:sp>
      <p:sp>
        <p:nvSpPr>
          <p:cNvPr id="20" name="">
            <a:extLst xmlns:a="http://schemas.openxmlformats.org/drawingml/2006/main">
              <a:ext uri="{FF2B5EF4-FFF2-40B4-BE49-F238E27FC236}">
                <a16:creationId xmlns:a16="http://schemas.microsoft.com/office/drawing/2014/main" id="{FC3FB498-5A47-4600-B00C-003388AD5444}"/>
              </a:ext>
            </a:extLst>
          </p:cNvPr>
          <p:cNvSpPr>
            <a:spLocks xmlns:a="http://schemas.openxmlformats.org/drawingml/2006/main" noGrp="1"/>
          </p:cNvSpPr>
          <p:nvPr/>
        </p:nvSpPr>
        <p:spPr>
          <a:xfrm xmlns:a="http://schemas.openxmlformats.org/drawingml/2006/main">
            <a:off x="3638550" y="37242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F2C14E"/>
                </a:solidFill>
                <a:latin typeface="Helvetica Neue"/>
                <a:ea typeface="Helvetica Neue"/>
                <a:cs typeface="Helvetica Neue"/>
              </a:defRPr>
            </a:pPr>
            <a:r>
              <a:rPr sz="1725" b="1">
                <a:solidFill>
                  <a:srgbClr val="F2C14E"/>
                </a:solidFill>
                <a:latin typeface="Helvetica Neue"/>
                <a:ea typeface="Helvetica Neue"/>
                <a:cs typeface="Helvetica Neue"/>
              </a:rPr>
              <a:t>0.00</a:t>
            </a:r>
          </a:p>
        </p:txBody>
      </p:sp>
      <p:sp>
        <p:nvSpPr>
          <p:cNvPr id="21" name="">
            <a:extLst xmlns:a="http://schemas.openxmlformats.org/drawingml/2006/main">
              <a:ext uri="{FF2B5EF4-FFF2-40B4-BE49-F238E27FC236}">
                <a16:creationId xmlns:a16="http://schemas.microsoft.com/office/drawing/2014/main" id="{62A88BDB-E9F8-4150-BC44-741272000F0A}"/>
              </a:ext>
            </a:extLst>
          </p:cNvPr>
          <p:cNvSpPr>
            <a:spLocks xmlns:a="http://schemas.openxmlformats.org/drawingml/2006/main" noGrp="1"/>
          </p:cNvSpPr>
          <p:nvPr/>
        </p:nvSpPr>
        <p:spPr>
          <a:xfrm xmlns:a="http://schemas.openxmlformats.org/drawingml/2006/main">
            <a:off x="5486400" y="37433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Applicable task not complete</a:t>
            </a:r>
          </a:p>
        </p:txBody>
      </p:sp>
      <p:sp>
        <p:nvSpPr>
          <p:cNvPr id="22" name="">
            <a:extLst xmlns:a="http://schemas.openxmlformats.org/drawingml/2006/main">
              <a:ext uri="{FF2B5EF4-FFF2-40B4-BE49-F238E27FC236}">
                <a16:creationId xmlns:a16="http://schemas.microsoft.com/office/drawing/2014/main" id="{A0A1EA7C-CD9C-41D9-8257-C2CFE21ECD55}"/>
              </a:ext>
            </a:extLst>
          </p:cNvPr>
          <p:cNvSpPr>
            <a:spLocks xmlns:a="http://schemas.openxmlformats.org/drawingml/2006/main" noGrp="1"/>
          </p:cNvSpPr>
          <p:nvPr/>
        </p:nvSpPr>
        <p:spPr>
          <a:xfrm xmlns:a="http://schemas.openxmlformats.org/drawingml/2006/main">
            <a:off x="685800" y="43338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23" name="">
            <a:extLst xmlns:a="http://schemas.openxmlformats.org/drawingml/2006/main">
              <a:ext uri="{FF2B5EF4-FFF2-40B4-BE49-F238E27FC236}">
                <a16:creationId xmlns:a16="http://schemas.microsoft.com/office/drawing/2014/main" id="{FDB208EB-FF77-47AF-85D5-2C057E44AA1C}"/>
              </a:ext>
            </a:extLst>
          </p:cNvPr>
          <p:cNvSpPr>
            <a:spLocks xmlns:a="http://schemas.openxmlformats.org/drawingml/2006/main" noGrp="1"/>
          </p:cNvSpPr>
          <p:nvPr/>
        </p:nvSpPr>
        <p:spPr>
          <a:xfrm xmlns:a="http://schemas.openxmlformats.org/drawingml/2006/main">
            <a:off x="819150" y="4514850"/>
            <a:ext cx="133350" cy="304800"/>
          </a:xfrm>
          <a:prstGeom xmlns:a="http://schemas.openxmlformats.org/drawingml/2006/main" prst="roundRect">
            <a:avLst>
              <a:gd name="adj" fmla="val 50000"/>
            </a:avLst>
          </a:prstGeom>
          <a:solidFill xmlns:a="http://schemas.openxmlformats.org/drawingml/2006/main">
            <a:srgbClr val="5E6C7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8E46A43-3403-4213-A7E9-F26DF8068F8C}"/>
              </a:ext>
            </a:extLst>
          </p:cNvPr>
          <p:cNvSpPr>
            <a:spLocks xmlns:a="http://schemas.openxmlformats.org/drawingml/2006/main" noGrp="1"/>
          </p:cNvSpPr>
          <p:nvPr/>
        </p:nvSpPr>
        <p:spPr>
          <a:xfrm xmlns:a="http://schemas.openxmlformats.org/drawingml/2006/main">
            <a:off x="1123950" y="45148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 record</a:t>
            </a:r>
          </a:p>
        </p:txBody>
      </p:sp>
      <p:sp>
        <p:nvSpPr>
          <p:cNvPr id="25" name="">
            <a:extLst xmlns:a="http://schemas.openxmlformats.org/drawingml/2006/main">
              <a:ext uri="{FF2B5EF4-FFF2-40B4-BE49-F238E27FC236}">
                <a16:creationId xmlns:a16="http://schemas.microsoft.com/office/drawing/2014/main" id="{BE54C513-B62D-4F4B-B9E3-14D1E3CA8887}"/>
              </a:ext>
            </a:extLst>
          </p:cNvPr>
          <p:cNvSpPr>
            <a:spLocks xmlns:a="http://schemas.openxmlformats.org/drawingml/2006/main" noGrp="1"/>
          </p:cNvSpPr>
          <p:nvPr/>
        </p:nvSpPr>
        <p:spPr>
          <a:xfrm xmlns:a="http://schemas.openxmlformats.org/drawingml/2006/main">
            <a:off x="3638550" y="45053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5E6C78"/>
                </a:solidFill>
                <a:latin typeface="Helvetica Neue"/>
                <a:ea typeface="Helvetica Neue"/>
                <a:cs typeface="Helvetica Neue"/>
              </a:defRPr>
            </a:pPr>
            <a:r>
              <a:rPr sz="1725" b="1">
                <a:solidFill>
                  <a:srgbClr val="5E6C78"/>
                </a:solidFill>
                <a:latin typeface="Helvetica Neue"/>
                <a:ea typeface="Helvetica Neue"/>
                <a:cs typeface="Helvetica Neue"/>
              </a:rPr>
              <a:t>NA → 0</a:t>
            </a:r>
          </a:p>
        </p:txBody>
      </p:sp>
      <p:sp>
        <p:nvSpPr>
          <p:cNvPr id="26" name="">
            <a:extLst xmlns:a="http://schemas.openxmlformats.org/drawingml/2006/main">
              <a:ext uri="{FF2B5EF4-FFF2-40B4-BE49-F238E27FC236}">
                <a16:creationId xmlns:a16="http://schemas.microsoft.com/office/drawing/2014/main" id="{96F728B3-FA6A-415B-839B-DA4C07DA2EA8}"/>
              </a:ext>
            </a:extLst>
          </p:cNvPr>
          <p:cNvSpPr>
            <a:spLocks xmlns:a="http://schemas.openxmlformats.org/drawingml/2006/main" noGrp="1"/>
          </p:cNvSpPr>
          <p:nvPr/>
        </p:nvSpPr>
        <p:spPr>
          <a:xfrm xmlns:a="http://schemas.openxmlformats.org/drawingml/2006/main">
            <a:off x="5486400" y="45243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Missing raw score; zero in progress denominator</a:t>
            </a:r>
          </a:p>
        </p:txBody>
      </p:sp>
      <p:sp>
        <p:nvSpPr>
          <p:cNvPr id="27" name="">
            <a:extLst xmlns:a="http://schemas.openxmlformats.org/drawingml/2006/main">
              <a:ext uri="{FF2B5EF4-FFF2-40B4-BE49-F238E27FC236}">
                <a16:creationId xmlns:a16="http://schemas.microsoft.com/office/drawing/2014/main" id="{0A1F1661-4A1B-4DDA-9454-7C87F7BF4A97}"/>
              </a:ext>
            </a:extLst>
          </p:cNvPr>
          <p:cNvSpPr>
            <a:spLocks xmlns:a="http://schemas.openxmlformats.org/drawingml/2006/main" noGrp="1"/>
          </p:cNvSpPr>
          <p:nvPr/>
        </p:nvSpPr>
        <p:spPr>
          <a:xfrm xmlns:a="http://schemas.openxmlformats.org/drawingml/2006/main">
            <a:off x="685800" y="5391150"/>
            <a:ext cx="10172700" cy="876300"/>
          </a:xfrm>
          <a:prstGeom xmlns:a="http://schemas.openxmlformats.org/drawingml/2006/main" prst="roundRect">
            <a:avLst>
              <a:gd name="adj" fmla="val 15217"/>
            </a:avLst>
          </a:prstGeom>
          <a:solidFill xmlns:a="http://schemas.openxmlformats.org/drawingml/2006/main">
            <a:srgbClr val="0B1F3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074FFF1-5AB0-4CB0-AA83-0F9A8A2BD65F}"/>
              </a:ext>
            </a:extLst>
          </p:cNvPr>
          <p:cNvSpPr>
            <a:spLocks xmlns:a="http://schemas.openxmlformats.org/drawingml/2006/main" noGrp="1"/>
          </p:cNvSpPr>
          <p:nvPr/>
        </p:nvSpPr>
        <p:spPr>
          <a:xfrm xmlns:a="http://schemas.openxmlformats.org/drawingml/2006/main">
            <a:off x="914400" y="557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A9C3D3"/>
                </a:solidFill>
                <a:latin typeface="Helvetica Neue"/>
                <a:ea typeface="Helvetica Neue"/>
                <a:cs typeface="Helvetica Neue"/>
              </a:defRPr>
            </a:pPr>
            <a:r>
              <a:rPr sz="1500" b="1">
                <a:solidFill>
                  <a:srgbClr val="A9C3D3"/>
                </a:solidFill>
                <a:latin typeface="Helvetica Neue"/>
                <a:ea typeface="Helvetica Neue"/>
                <a:cs typeface="Helvetica Neue"/>
              </a:rPr>
              <a:t>Weighted progress</a:t>
            </a:r>
          </a:p>
        </p:txBody>
      </p:sp>
      <p:sp>
        <p:nvSpPr>
          <p:cNvPr id="29" name="">
            <a:extLst xmlns:a="http://schemas.openxmlformats.org/drawingml/2006/main">
              <a:ext uri="{FF2B5EF4-FFF2-40B4-BE49-F238E27FC236}">
                <a16:creationId xmlns:a16="http://schemas.microsoft.com/office/drawing/2014/main" id="{10F827B5-F429-42DA-8F01-CBA31747A047}"/>
              </a:ext>
            </a:extLst>
          </p:cNvPr>
          <p:cNvSpPr>
            <a:spLocks xmlns:a="http://schemas.openxmlformats.org/drawingml/2006/main" noGrp="1"/>
          </p:cNvSpPr>
          <p:nvPr/>
        </p:nvSpPr>
        <p:spPr>
          <a:xfrm xmlns:a="http://schemas.openxmlformats.org/drawingml/2006/main">
            <a:off x="3524250" y="558165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Σ task scores  ÷  number of applicable participant–task rows</a:t>
            </a:r>
          </a:p>
        </p:txBody>
      </p:sp>
      <p:sp>
        <p:nvSpPr>
          <p:cNvPr id="30" name="">
            <a:extLst xmlns:a="http://schemas.openxmlformats.org/drawingml/2006/main">
              <a:ext uri="{FF2B5EF4-FFF2-40B4-BE49-F238E27FC236}">
                <a16:creationId xmlns:a16="http://schemas.microsoft.com/office/drawing/2014/main" id="{EF6465DC-7EFC-4E35-9C4C-21A6C77B9650}"/>
              </a:ext>
            </a:extLst>
          </p:cNvPr>
          <p:cNvSpPr>
            <a:spLocks xmlns:a="http://schemas.openxmlformats.org/drawingml/2006/main" noGrp="1"/>
          </p:cNvSpPr>
          <p:nvPr/>
        </p:nvSpPr>
        <p:spPr>
          <a:xfrm xmlns:a="http://schemas.openxmlformats.org/drawingml/2006/main">
            <a:off x="3524250" y="595312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BCD0DD"/>
                </a:solidFill>
                <a:latin typeface="Helvetica Neue"/>
                <a:ea typeface="Helvetica Neue"/>
                <a:cs typeface="Helvetica Neue"/>
              </a:defRPr>
            </a:pPr>
            <a:r>
              <a:rPr sz="1200" b="0">
                <a:solidFill>
                  <a:srgbClr val="BCD0DD"/>
                </a:solidFill>
                <a:latin typeface="Helvetica Neue"/>
                <a:ea typeface="Helvetica Neue"/>
                <a:cs typeface="Helvetica Neue"/>
              </a:rPr>
              <a:t>IPA status uses Ripple + Calendly. All other task outcomes use Ripple only.</a:t>
            </a:r>
          </a:p>
        </p:txBody>
      </p:sp>
    </p:spTree>
    <p:extLst>
      <p:ext uri="{BB962C8B-B14F-4D97-AF65-F5344CB8AC3E}">
        <p14:creationId xmlns:p14="http://schemas.microsoft.com/office/powerpoint/2010/main" val="145346560"/>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3413AC1-50BC-4900-8A46-EC74E74BE041}"/>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FTM responsibility is locked at the age-band task level</a:t>
            </a:r>
          </a:p>
        </p:txBody>
      </p:sp>
      <p:sp>
        <p:nvSpPr>
          <p:cNvPr id="2" name="">
            <a:extLst xmlns:a="http://schemas.openxmlformats.org/drawingml/2006/main">
              <a:ext uri="{FF2B5EF4-FFF2-40B4-BE49-F238E27FC236}">
                <a16:creationId xmlns:a16="http://schemas.microsoft.com/office/drawing/2014/main" id="{9C0EC678-C3F3-495C-8610-9CB2CEB1897D}"/>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70F17F28-0BCE-457C-AC98-11DE263176F3}"/>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9049D201-B00E-4284-B106-DDBB81F291BA}"/>
              </a:ext>
            </a:extLst>
          </p:cNvPr>
          <p:cNvSpPr>
            <a:spLocks xmlns:a="http://schemas.openxmlformats.org/drawingml/2006/main" noGrp="1"/>
          </p:cNvSpPr>
          <p:nvPr/>
        </p:nvSpPr>
        <p:spPr>
          <a:xfrm xmlns:a="http://schemas.openxmlformats.org/drawingml/2006/main">
            <a:off x="704850" y="1333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Current FTM source</a:t>
            </a:r>
          </a:p>
        </p:txBody>
      </p:sp>
      <p:sp>
        <p:nvSpPr>
          <p:cNvPr id="5" name="">
            <a:extLst xmlns:a="http://schemas.openxmlformats.org/drawingml/2006/main">
              <a:ext uri="{FF2B5EF4-FFF2-40B4-BE49-F238E27FC236}">
                <a16:creationId xmlns:a16="http://schemas.microsoft.com/office/drawing/2014/main" id="{2E194346-5C2F-4FA6-A2FB-648699812F1E}"/>
              </a:ext>
            </a:extLst>
          </p:cNvPr>
          <p:cNvSpPr>
            <a:spLocks xmlns:a="http://schemas.openxmlformats.org/drawingml/2006/main" noGrp="1"/>
          </p:cNvSpPr>
          <p:nvPr/>
        </p:nvSpPr>
        <p:spPr>
          <a:xfrm xmlns:a="http://schemas.openxmlformats.org/drawingml/2006/main">
            <a:off x="685800" y="17240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6" name="">
            <a:extLst xmlns:a="http://schemas.openxmlformats.org/drawingml/2006/main">
              <a:ext uri="{FF2B5EF4-FFF2-40B4-BE49-F238E27FC236}">
                <a16:creationId xmlns:a16="http://schemas.microsoft.com/office/drawing/2014/main" id="{D048E7E2-F933-459D-836D-FEF7A5EA3662}"/>
              </a:ext>
            </a:extLst>
          </p:cNvPr>
          <p:cNvSpPr>
            <a:spLocks xmlns:a="http://schemas.openxmlformats.org/drawingml/2006/main" noGrp="1"/>
          </p:cNvSpPr>
          <p:nvPr/>
        </p:nvSpPr>
        <p:spPr>
          <a:xfrm xmlns:a="http://schemas.openxmlformats.org/drawingml/2006/main">
            <a:off x="685800" y="1724025"/>
            <a:ext cx="85725" cy="1352550"/>
          </a:xfrm>
          <a:prstGeom xmlns:a="http://schemas.openxmlformats.org/drawingml/2006/main" prst="roundRect">
            <a:avLst>
              <a:gd name="adj" fmla="val 44444"/>
            </a:avLst>
          </a:prstGeom>
          <a:solidFill xmlns:a="http://schemas.openxmlformats.org/drawingml/2006/main">
            <a:srgbClr val="178C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923B1A-22A6-45B1-98E4-6A623E6F8EC5}"/>
              </a:ext>
            </a:extLst>
          </p:cNvPr>
          <p:cNvSpPr>
            <a:spLocks xmlns:a="http://schemas.openxmlformats.org/drawingml/2006/main" noGrp="1"/>
          </p:cNvSpPr>
          <p:nvPr/>
        </p:nvSpPr>
        <p:spPr>
          <a:xfrm xmlns:a="http://schemas.openxmlformats.org/drawingml/2006/main">
            <a:off x="952500" y="19335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6–35 months</a:t>
            </a:r>
          </a:p>
        </p:txBody>
      </p:sp>
      <p:sp>
        <p:nvSpPr>
          <p:cNvPr id="8" name="">
            <a:extLst xmlns:a="http://schemas.openxmlformats.org/drawingml/2006/main">
              <a:ext uri="{FF2B5EF4-FFF2-40B4-BE49-F238E27FC236}">
                <a16:creationId xmlns:a16="http://schemas.microsoft.com/office/drawing/2014/main" id="{2C7427CC-8E8E-4E7A-822B-7137EE1469FE}"/>
              </a:ext>
            </a:extLst>
          </p:cNvPr>
          <p:cNvSpPr>
            <a:spLocks xmlns:a="http://schemas.openxmlformats.org/drawingml/2006/main" noGrp="1"/>
          </p:cNvSpPr>
          <p:nvPr/>
        </p:nvSpPr>
        <p:spPr>
          <a:xfrm xmlns:a="http://schemas.openxmlformats.org/drawingml/2006/main">
            <a:off x="952500" y="23526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Ripple.</a:t>
            </a:r>
          </a:p>
        </p:txBody>
      </p:sp>
      <p:sp>
        <p:nvSpPr>
          <p:cNvPr id="9" name="">
            <a:extLst xmlns:a="http://schemas.openxmlformats.org/drawingml/2006/main">
              <a:ext uri="{FF2B5EF4-FFF2-40B4-BE49-F238E27FC236}">
                <a16:creationId xmlns:a16="http://schemas.microsoft.com/office/drawing/2014/main" id="{48B847D7-8E45-4801-B2B8-B496724995DE}"/>
              </a:ext>
            </a:extLst>
          </p:cNvPr>
          <p:cNvSpPr>
            <a:spLocks xmlns:a="http://schemas.openxmlformats.org/drawingml/2006/main" noGrp="1"/>
          </p:cNvSpPr>
          <p:nvPr/>
        </p:nvSpPr>
        <p:spPr>
          <a:xfrm xmlns:a="http://schemas.openxmlformats.org/drawingml/2006/main">
            <a:off x="685800" y="32861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C10DD588-5590-4465-BA01-5B71A4E16142}"/>
              </a:ext>
            </a:extLst>
          </p:cNvPr>
          <p:cNvSpPr>
            <a:spLocks xmlns:a="http://schemas.openxmlformats.org/drawingml/2006/main" noGrp="1"/>
          </p:cNvSpPr>
          <p:nvPr/>
        </p:nvSpPr>
        <p:spPr>
          <a:xfrm xmlns:a="http://schemas.openxmlformats.org/drawingml/2006/main">
            <a:off x="685800" y="3286125"/>
            <a:ext cx="85725" cy="1352550"/>
          </a:xfrm>
          <a:prstGeom xmlns:a="http://schemas.openxmlformats.org/drawingml/2006/main" prst="roundRect">
            <a:avLst>
              <a:gd name="adj" fmla="val 44444"/>
            </a:avLst>
          </a:prstGeom>
          <a:solidFill xmlns:a="http://schemas.openxmlformats.org/drawingml/2006/main">
            <a:srgbClr val="E76F5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A9E124-79C5-46FE-A7A1-6E15D8791845}"/>
              </a:ext>
            </a:extLst>
          </p:cNvPr>
          <p:cNvSpPr>
            <a:spLocks xmlns:a="http://schemas.openxmlformats.org/drawingml/2006/main" noGrp="1"/>
          </p:cNvSpPr>
          <p:nvPr/>
        </p:nvSpPr>
        <p:spPr>
          <a:xfrm xmlns:a="http://schemas.openxmlformats.org/drawingml/2006/main">
            <a:off x="952500" y="34956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3–20 years</a:t>
            </a:r>
          </a:p>
        </p:txBody>
      </p:sp>
      <p:sp>
        <p:nvSpPr>
          <p:cNvPr id="12" name="">
            <a:extLst xmlns:a="http://schemas.openxmlformats.org/drawingml/2006/main">
              <a:ext uri="{FF2B5EF4-FFF2-40B4-BE49-F238E27FC236}">
                <a16:creationId xmlns:a16="http://schemas.microsoft.com/office/drawing/2014/main" id="{04CEB97F-C48E-4489-89AA-A68DAC5D5FC2}"/>
              </a:ext>
            </a:extLst>
          </p:cNvPr>
          <p:cNvSpPr>
            <a:spLocks xmlns:a="http://schemas.openxmlformats.org/drawingml/2006/main" noGrp="1"/>
          </p:cNvSpPr>
          <p:nvPr/>
        </p:nvSpPr>
        <p:spPr>
          <a:xfrm xmlns:a="http://schemas.openxmlformats.org/drawingml/2006/main">
            <a:off x="952500" y="39147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the manually maintained call list.</a:t>
            </a:r>
          </a:p>
        </p:txBody>
      </p:sp>
      <p:sp>
        <p:nvSpPr>
          <p:cNvPr id="13" name="">
            <a:extLst xmlns:a="http://schemas.openxmlformats.org/drawingml/2006/main">
              <a:ext uri="{FF2B5EF4-FFF2-40B4-BE49-F238E27FC236}">
                <a16:creationId xmlns:a16="http://schemas.microsoft.com/office/drawing/2014/main" id="{B544680B-5D14-4E33-AB4E-6315BF3ABC64}"/>
              </a:ext>
            </a:extLst>
          </p:cNvPr>
          <p:cNvSpPr>
            <a:spLocks xmlns:a="http://schemas.openxmlformats.org/drawingml/2006/main" noGrp="1"/>
          </p:cNvSpPr>
          <p:nvPr/>
        </p:nvSpPr>
        <p:spPr>
          <a:xfrm xmlns:a="http://schemas.openxmlformats.org/drawingml/2006/main">
            <a:off x="4229100" y="1333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Assignment history</a:t>
            </a:r>
          </a:p>
        </p:txBody>
      </p:sp>
      <p:sp>
        <p:nvSpPr>
          <p:cNvPr id="14" name="">
            <a:extLst xmlns:a="http://schemas.openxmlformats.org/drawingml/2006/main">
              <a:ext uri="{FF2B5EF4-FFF2-40B4-BE49-F238E27FC236}">
                <a16:creationId xmlns:a16="http://schemas.microsoft.com/office/drawing/2014/main" id="{62301CD6-2EAC-4587-8DD0-CCD08F6B01E2}"/>
              </a:ext>
            </a:extLst>
          </p:cNvPr>
          <p:cNvSpPr>
            <a:spLocks xmlns:a="http://schemas.openxmlformats.org/drawingml/2006/main" noGrp="1"/>
          </p:cNvSpPr>
          <p:nvPr/>
        </p:nvSpPr>
        <p:spPr>
          <a:xfrm xmlns:a="http://schemas.openxmlformats.org/drawingml/2006/main">
            <a:off x="4267200" y="1762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386A7E-2693-4EE6-83A0-0B8A5701F479}"/>
              </a:ext>
            </a:extLst>
          </p:cNvPr>
          <p:cNvSpPr>
            <a:spLocks xmlns:a="http://schemas.openxmlformats.org/drawingml/2006/main" noGrp="1"/>
          </p:cNvSpPr>
          <p:nvPr/>
        </p:nvSpPr>
        <p:spPr>
          <a:xfrm xmlns:a="http://schemas.openxmlformats.org/drawingml/2006/main">
            <a:off x="4267200" y="1790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9E160A09-BCE6-49FA-9052-D65F915FFC73}"/>
              </a:ext>
            </a:extLst>
          </p:cNvPr>
          <p:cNvSpPr>
            <a:spLocks xmlns:a="http://schemas.openxmlformats.org/drawingml/2006/main" noGrp="1"/>
          </p:cNvSpPr>
          <p:nvPr/>
        </p:nvSpPr>
        <p:spPr>
          <a:xfrm xmlns:a="http://schemas.openxmlformats.org/drawingml/2006/main">
            <a:off x="4838700" y="1762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Start</a:t>
            </a:r>
          </a:p>
        </p:txBody>
      </p:sp>
      <p:sp>
        <p:nvSpPr>
          <p:cNvPr id="17" name="">
            <a:extLst xmlns:a="http://schemas.openxmlformats.org/drawingml/2006/main">
              <a:ext uri="{FF2B5EF4-FFF2-40B4-BE49-F238E27FC236}">
                <a16:creationId xmlns:a16="http://schemas.microsoft.com/office/drawing/2014/main" id="{ADEEA3CB-B52C-4341-8E90-8277370109B0}"/>
              </a:ext>
            </a:extLst>
          </p:cNvPr>
          <p:cNvSpPr>
            <a:spLocks xmlns:a="http://schemas.openxmlformats.org/drawingml/2006/main" noGrp="1"/>
          </p:cNvSpPr>
          <p:nvPr/>
        </p:nvSpPr>
        <p:spPr>
          <a:xfrm xmlns:a="http://schemas.openxmlformats.org/drawingml/2006/main">
            <a:off x="4838700" y="2057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Record FTM + effective date + age band at start</a:t>
            </a:r>
          </a:p>
        </p:txBody>
      </p:sp>
      <p:sp>
        <p:nvSpPr>
          <p:cNvPr id="18" name="">
            <a:extLst xmlns:a="http://schemas.openxmlformats.org/drawingml/2006/main">
              <a:ext uri="{FF2B5EF4-FFF2-40B4-BE49-F238E27FC236}">
                <a16:creationId xmlns:a16="http://schemas.microsoft.com/office/drawing/2014/main" id="{28D6F3F5-1B8B-4CAA-980F-FE9F5F18FACA}"/>
              </a:ext>
            </a:extLst>
          </p:cNvPr>
          <p:cNvSpPr>
            <a:spLocks xmlns:a="http://schemas.openxmlformats.org/drawingml/2006/main" noGrp="1"/>
          </p:cNvSpPr>
          <p:nvPr/>
        </p:nvSpPr>
        <p:spPr>
          <a:xfrm xmlns:a="http://schemas.openxmlformats.org/drawingml/2006/main">
            <a:off x="4448175" y="2152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19" name="">
            <a:extLst xmlns:a="http://schemas.openxmlformats.org/drawingml/2006/main">
              <a:ext uri="{FF2B5EF4-FFF2-40B4-BE49-F238E27FC236}">
                <a16:creationId xmlns:a16="http://schemas.microsoft.com/office/drawing/2014/main" id="{8B45CE03-7C33-4A1F-A6BD-A1F1C8343F7C}"/>
              </a:ext>
            </a:extLst>
          </p:cNvPr>
          <p:cNvSpPr>
            <a:spLocks xmlns:a="http://schemas.openxmlformats.org/drawingml/2006/main" noGrp="1"/>
          </p:cNvSpPr>
          <p:nvPr/>
        </p:nvSpPr>
        <p:spPr>
          <a:xfrm xmlns:a="http://schemas.openxmlformats.org/drawingml/2006/main">
            <a:off x="4267200" y="2905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ACEE1D9-2A69-4052-9D7F-293BE21C959A}"/>
              </a:ext>
            </a:extLst>
          </p:cNvPr>
          <p:cNvSpPr>
            <a:spLocks xmlns:a="http://schemas.openxmlformats.org/drawingml/2006/main" noGrp="1"/>
          </p:cNvSpPr>
          <p:nvPr/>
        </p:nvSpPr>
        <p:spPr>
          <a:xfrm xmlns:a="http://schemas.openxmlformats.org/drawingml/2006/main">
            <a:off x="4267200" y="2933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1" name="">
            <a:extLst xmlns:a="http://schemas.openxmlformats.org/drawingml/2006/main">
              <a:ext uri="{FF2B5EF4-FFF2-40B4-BE49-F238E27FC236}">
                <a16:creationId xmlns:a16="http://schemas.microsoft.com/office/drawing/2014/main" id="{BEF686CE-229F-4E22-8CDC-863171F149AF}"/>
              </a:ext>
            </a:extLst>
          </p:cNvPr>
          <p:cNvSpPr>
            <a:spLocks xmlns:a="http://schemas.openxmlformats.org/drawingml/2006/main" noGrp="1"/>
          </p:cNvSpPr>
          <p:nvPr/>
        </p:nvSpPr>
        <p:spPr>
          <a:xfrm xmlns:a="http://schemas.openxmlformats.org/drawingml/2006/main">
            <a:off x="4838700" y="2905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Observe</a:t>
            </a:r>
          </a:p>
        </p:txBody>
      </p:sp>
      <p:sp>
        <p:nvSpPr>
          <p:cNvPr id="22" name="">
            <a:extLst xmlns:a="http://schemas.openxmlformats.org/drawingml/2006/main">
              <a:ext uri="{FF2B5EF4-FFF2-40B4-BE49-F238E27FC236}">
                <a16:creationId xmlns:a16="http://schemas.microsoft.com/office/drawing/2014/main" id="{E8E16497-7A18-4F45-8162-F9645A0EDAE2}"/>
              </a:ext>
            </a:extLst>
          </p:cNvPr>
          <p:cNvSpPr>
            <a:spLocks xmlns:a="http://schemas.openxmlformats.org/drawingml/2006/main" noGrp="1"/>
          </p:cNvSpPr>
          <p:nvPr/>
        </p:nvSpPr>
        <p:spPr>
          <a:xfrm xmlns:a="http://schemas.openxmlformats.org/drawingml/2006/main">
            <a:off x="4838700" y="3200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Update age band at last observation</a:t>
            </a:r>
          </a:p>
        </p:txBody>
      </p:sp>
      <p:sp>
        <p:nvSpPr>
          <p:cNvPr id="23" name="">
            <a:extLst xmlns:a="http://schemas.openxmlformats.org/drawingml/2006/main">
              <a:ext uri="{FF2B5EF4-FFF2-40B4-BE49-F238E27FC236}">
                <a16:creationId xmlns:a16="http://schemas.microsoft.com/office/drawing/2014/main" id="{B7B1AEDA-E3D4-4E24-8698-25C567A17BD5}"/>
              </a:ext>
            </a:extLst>
          </p:cNvPr>
          <p:cNvSpPr>
            <a:spLocks xmlns:a="http://schemas.openxmlformats.org/drawingml/2006/main" noGrp="1"/>
          </p:cNvSpPr>
          <p:nvPr/>
        </p:nvSpPr>
        <p:spPr>
          <a:xfrm xmlns:a="http://schemas.openxmlformats.org/drawingml/2006/main">
            <a:off x="4448175" y="3295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24" name="">
            <a:extLst xmlns:a="http://schemas.openxmlformats.org/drawingml/2006/main">
              <a:ext uri="{FF2B5EF4-FFF2-40B4-BE49-F238E27FC236}">
                <a16:creationId xmlns:a16="http://schemas.microsoft.com/office/drawing/2014/main" id="{0749DE66-153A-41A9-9FDA-0C5EA3766D9C}"/>
              </a:ext>
            </a:extLst>
          </p:cNvPr>
          <p:cNvSpPr>
            <a:spLocks xmlns:a="http://schemas.openxmlformats.org/drawingml/2006/main" noGrp="1"/>
          </p:cNvSpPr>
          <p:nvPr/>
        </p:nvSpPr>
        <p:spPr>
          <a:xfrm xmlns:a="http://schemas.openxmlformats.org/drawingml/2006/main">
            <a:off x="4267200" y="4048125"/>
            <a:ext cx="361950" cy="3619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7A972B2-D54A-482A-9DA9-C5FEDDC9C767}"/>
              </a:ext>
            </a:extLst>
          </p:cNvPr>
          <p:cNvSpPr>
            <a:spLocks xmlns:a="http://schemas.openxmlformats.org/drawingml/2006/main" noGrp="1"/>
          </p:cNvSpPr>
          <p:nvPr/>
        </p:nvSpPr>
        <p:spPr>
          <a:xfrm xmlns:a="http://schemas.openxmlformats.org/drawingml/2006/main">
            <a:off x="4267200" y="4076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83E95D1D-8BC4-44D4-B3B8-A89DC60B9D50}"/>
              </a:ext>
            </a:extLst>
          </p:cNvPr>
          <p:cNvSpPr>
            <a:spLocks xmlns:a="http://schemas.openxmlformats.org/drawingml/2006/main" noGrp="1"/>
          </p:cNvSpPr>
          <p:nvPr/>
        </p:nvSpPr>
        <p:spPr>
          <a:xfrm xmlns:a="http://schemas.openxmlformats.org/drawingml/2006/main">
            <a:off x="4838700" y="4048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Change</a:t>
            </a:r>
          </a:p>
        </p:txBody>
      </p:sp>
      <p:sp>
        <p:nvSpPr>
          <p:cNvPr id="27" name="">
            <a:extLst xmlns:a="http://schemas.openxmlformats.org/drawingml/2006/main">
              <a:ext uri="{FF2B5EF4-FFF2-40B4-BE49-F238E27FC236}">
                <a16:creationId xmlns:a16="http://schemas.microsoft.com/office/drawing/2014/main" id="{65676363-01BF-493B-9DE2-6A104E33EB37}"/>
              </a:ext>
            </a:extLst>
          </p:cNvPr>
          <p:cNvSpPr>
            <a:spLocks xmlns:a="http://schemas.openxmlformats.org/drawingml/2006/main" noGrp="1"/>
          </p:cNvSpPr>
          <p:nvPr/>
        </p:nvSpPr>
        <p:spPr>
          <a:xfrm xmlns:a="http://schemas.openxmlformats.org/drawingml/2006/main">
            <a:off x="4838700" y="4343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Only an administrator’s FTM change closes and opens assignments</a:t>
            </a:r>
          </a:p>
        </p:txBody>
      </p:sp>
      <p:sp>
        <p:nvSpPr>
          <p:cNvPr id="28" name="">
            <a:extLst xmlns:a="http://schemas.openxmlformats.org/drawingml/2006/main">
              <a:ext uri="{FF2B5EF4-FFF2-40B4-BE49-F238E27FC236}">
                <a16:creationId xmlns:a16="http://schemas.microsoft.com/office/drawing/2014/main" id="{677DF71C-B811-4C44-BA05-C1C6995575BD}"/>
              </a:ext>
            </a:extLst>
          </p:cNvPr>
          <p:cNvSpPr>
            <a:spLocks xmlns:a="http://schemas.openxmlformats.org/drawingml/2006/main" noGrp="1"/>
          </p:cNvSpPr>
          <p:nvPr/>
        </p:nvSpPr>
        <p:spPr>
          <a:xfrm xmlns:a="http://schemas.openxmlformats.org/drawingml/2006/main">
            <a:off x="8286750" y="1600200"/>
            <a:ext cx="3143250" cy="3276600"/>
          </a:xfrm>
          <a:prstGeom xmlns:a="http://schemas.openxmlformats.org/drawingml/2006/main" prst="roundRect">
            <a:avLst>
              <a:gd name="adj" fmla="val 5455"/>
            </a:avLst>
          </a:prstGeom>
          <a:solidFill xmlns:a="http://schemas.openxmlformats.org/drawingml/2006/main">
            <a:srgbClr val="0B1F3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FB57ADA-3E58-4EDC-AA5B-85F57585A05C}"/>
              </a:ext>
            </a:extLst>
          </p:cNvPr>
          <p:cNvSpPr>
            <a:spLocks xmlns:a="http://schemas.openxmlformats.org/drawingml/2006/main" noGrp="1"/>
          </p:cNvSpPr>
          <p:nvPr/>
        </p:nvSpPr>
        <p:spPr>
          <a:xfrm xmlns:a="http://schemas.openxmlformats.org/drawingml/2006/main">
            <a:off x="8543925" y="1838325"/>
            <a:ext cx="2619375" cy="323850"/>
          </a:xfrm>
          <a:prstGeom xmlns:a="http://schemas.openxmlformats.org/drawingml/2006/main" prst="roundRect">
            <a:avLst>
              <a:gd name="adj" fmla="val 50000"/>
            </a:avLst>
          </a:prstGeom>
          <a:solidFill xmlns:a="http://schemas.openxmlformats.org/drawingml/2006/main">
            <a:srgbClr val="183B55"/>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TASK RESPONSIBILITY LEDGER</a:t>
            </a:r>
          </a:p>
        </p:txBody>
      </p:sp>
      <p:sp>
        <p:nvSpPr>
          <p:cNvPr id="30" name="">
            <a:extLst xmlns:a="http://schemas.openxmlformats.org/drawingml/2006/main">
              <a:ext uri="{FF2B5EF4-FFF2-40B4-BE49-F238E27FC236}">
                <a16:creationId xmlns:a16="http://schemas.microsoft.com/office/drawing/2014/main" id="{847F3C06-756E-4F93-BADF-1CA2AD95BFB9}"/>
              </a:ext>
            </a:extLst>
          </p:cNvPr>
          <p:cNvSpPr>
            <a:spLocks xmlns:a="http://schemas.openxmlformats.org/drawingml/2006/main" noGrp="1"/>
          </p:cNvSpPr>
          <p:nvPr/>
        </p:nvSpPr>
        <p:spPr>
          <a:xfrm xmlns:a="http://schemas.openxmlformats.org/drawingml/2006/main">
            <a:off x="8591550" y="2371725"/>
            <a:ext cx="2552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3000"/>
              </a:lnSpc>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Every applicable task is locked to the FTM responsible at that stage.</a:t>
            </a:r>
          </a:p>
        </p:txBody>
      </p:sp>
      <p:sp>
        <p:nvSpPr>
          <p:cNvPr id="31" name="">
            <a:extLst xmlns:a="http://schemas.openxmlformats.org/drawingml/2006/main">
              <a:ext uri="{FF2B5EF4-FFF2-40B4-BE49-F238E27FC236}">
                <a16:creationId xmlns:a16="http://schemas.microsoft.com/office/drawing/2014/main" id="{C884AC8A-2538-44B9-AB28-E8A16303EC4F}"/>
              </a:ext>
            </a:extLst>
          </p:cNvPr>
          <p:cNvSpPr>
            <a:spLocks xmlns:a="http://schemas.openxmlformats.org/drawingml/2006/main" noGrp="1"/>
          </p:cNvSpPr>
          <p:nvPr/>
        </p:nvSpPr>
        <p:spPr>
          <a:xfrm xmlns:a="http://schemas.openxmlformats.org/drawingml/2006/main">
            <a:off x="8686800" y="3286125"/>
            <a:ext cx="2362200" cy="0"/>
          </a:xfrm>
          <a:prstGeom xmlns:a="http://schemas.openxmlformats.org/drawingml/2006/main" prst="line">
            <a:avLst/>
          </a:prstGeom>
          <a:noFill xmlns:a="http://schemas.openxmlformats.org/drawingml/2006/main"/>
          <a:ln xmlns:a="http://schemas.openxmlformats.org/drawingml/2006/main" w="9525">
            <a:solidFill>
              <a:srgbClr val="527089"/>
            </a:solidFill>
            <a:prstDash val="solid"/>
          </a:ln>
        </p:spPr>
      </p:sp>
      <p:sp>
        <p:nvSpPr>
          <p:cNvPr id="32" name="">
            <a:extLst xmlns:a="http://schemas.openxmlformats.org/drawingml/2006/main">
              <a:ext uri="{FF2B5EF4-FFF2-40B4-BE49-F238E27FC236}">
                <a16:creationId xmlns:a16="http://schemas.microsoft.com/office/drawing/2014/main" id="{E3BCA4EE-2C74-4EDF-A2C7-C2E16AB0B32C}"/>
              </a:ext>
            </a:extLst>
          </p:cNvPr>
          <p:cNvSpPr>
            <a:spLocks xmlns:a="http://schemas.openxmlformats.org/drawingml/2006/main" noGrp="1"/>
          </p:cNvSpPr>
          <p:nvPr/>
        </p:nvSpPr>
        <p:spPr>
          <a:xfrm xmlns:a="http://schemas.openxmlformats.org/drawingml/2006/main">
            <a:off x="8829675" y="352425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Participant ID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Cohort</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IPA age band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Task</a:t>
            </a:r>
          </a:p>
        </p:txBody>
      </p:sp>
      <p:sp>
        <p:nvSpPr>
          <p:cNvPr id="33" name="">
            <a:extLst xmlns:a="http://schemas.openxmlformats.org/drawingml/2006/main">
              <a:ext uri="{FF2B5EF4-FFF2-40B4-BE49-F238E27FC236}">
                <a16:creationId xmlns:a16="http://schemas.microsoft.com/office/drawing/2014/main" id="{66302AB4-98A2-496B-B695-41F634E4DCAD}"/>
              </a:ext>
            </a:extLst>
          </p:cNvPr>
          <p:cNvSpPr>
            <a:spLocks xmlns:a="http://schemas.openxmlformats.org/drawingml/2006/main" noGrp="1"/>
          </p:cNvSpPr>
          <p:nvPr/>
        </p:nvSpPr>
        <p:spPr>
          <a:xfrm xmlns:a="http://schemas.openxmlformats.org/drawingml/2006/main">
            <a:off x="685800" y="5362575"/>
            <a:ext cx="10744200" cy="704850"/>
          </a:xfrm>
          <a:prstGeom xmlns:a="http://schemas.openxmlformats.org/drawingml/2006/main" prst="roundRect">
            <a:avLst>
              <a:gd name="adj" fmla="val 16216"/>
            </a:avLst>
          </a:prstGeom>
          <a:solidFill xmlns:a="http://schemas.openxmlformats.org/drawingml/2006/main">
            <a:srgbClr val="E7F3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AA0F774-3F8D-4208-AA2D-DB25BD9F2BA4}"/>
              </a:ext>
            </a:extLst>
          </p:cNvPr>
          <p:cNvSpPr>
            <a:spLocks xmlns:a="http://schemas.openxmlformats.org/drawingml/2006/main" noGrp="1"/>
          </p:cNvSpPr>
          <p:nvPr/>
        </p:nvSpPr>
        <p:spPr>
          <a:xfrm xmlns:a="http://schemas.openxmlformats.org/drawingml/2006/main">
            <a:off x="971550" y="5553075"/>
            <a:ext cx="1017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Age-band changes are recorded, but they do not change the FTM assignment. Only an actual manual FTM reassignment does.</a:t>
            </a:r>
          </a:p>
        </p:txBody>
      </p:sp>
    </p:spTree>
    <p:extLst>
      <p:ext uri="{BB962C8B-B14F-4D97-AF65-F5344CB8AC3E}">
        <p14:creationId xmlns:p14="http://schemas.microsoft.com/office/powerpoint/2010/main" val="17849484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2952BE4-126B-4E99-ACA6-774AFB647ED3}"/>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0B1F33"/>
                </a:solidFill>
                <a:latin typeface="Helvetica Neue"/>
                <a:ea typeface="Helvetica Neue"/>
                <a:cs typeface="Helvetica Neue"/>
              </a:defRPr>
            </a:pPr>
            <a:r>
              <a:rPr sz="2550" b="1">
                <a:solidFill>
                  <a:srgbClr val="0B1F33"/>
                </a:solidFill>
                <a:latin typeface="Helvetica Neue"/>
                <a:ea typeface="Helvetica Neue"/>
                <a:cs typeface="Helvetica Neue"/>
              </a:rPr>
              <a:t>Each successful update becomes an FTM trend data point</a:t>
            </a:r>
          </a:p>
        </p:txBody>
      </p:sp>
      <p:sp>
        <p:nvSpPr>
          <p:cNvPr id="2" name="">
            <a:extLst xmlns:a="http://schemas.openxmlformats.org/drawingml/2006/main">
              <a:ext uri="{FF2B5EF4-FFF2-40B4-BE49-F238E27FC236}">
                <a16:creationId xmlns:a16="http://schemas.microsoft.com/office/drawing/2014/main" id="{E8C02E31-D8FB-465F-89A6-C586F714D4A1}"/>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CD8B2BDA-954E-4A19-81F1-513281B31BFB}"/>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4B3A556A-F20F-4CF3-BE4A-A7C70490F27A}"/>
              </a:ext>
            </a:extLst>
          </p:cNvPr>
          <p:cNvSpPr>
            <a:spLocks xmlns:a="http://schemas.openxmlformats.org/drawingml/2006/main" noGrp="1"/>
          </p:cNvSpPr>
          <p:nvPr/>
        </p:nvSpPr>
        <p:spPr>
          <a:xfrm xmlns:a="http://schemas.openxmlformats.org/drawingml/2006/main">
            <a:off x="1238250" y="2381250"/>
            <a:ext cx="8858250" cy="0"/>
          </a:xfrm>
          <a:prstGeom xmlns:a="http://schemas.openxmlformats.org/drawingml/2006/main" prst="line">
            <a:avLst/>
          </a:prstGeom>
          <a:noFill xmlns:a="http://schemas.openxmlformats.org/drawingml/2006/main"/>
          <a:ln xmlns:a="http://schemas.openxmlformats.org/drawingml/2006/main" w="47625">
            <a:solidFill>
              <a:srgbClr val="D4DEE5"/>
            </a:solidFill>
            <a:prstDash val="solid"/>
          </a:ln>
        </p:spPr>
      </p:sp>
      <p:sp>
        <p:nvSpPr>
          <p:cNvPr id="5" name="">
            <a:extLst xmlns:a="http://schemas.openxmlformats.org/drawingml/2006/main">
              <a:ext uri="{FF2B5EF4-FFF2-40B4-BE49-F238E27FC236}">
                <a16:creationId xmlns:a16="http://schemas.microsoft.com/office/drawing/2014/main" id="{C8DC9B6B-22F5-4888-B23D-9EED7CA03FB3}"/>
              </a:ext>
            </a:extLst>
          </p:cNvPr>
          <p:cNvSpPr>
            <a:spLocks xmlns:a="http://schemas.openxmlformats.org/drawingml/2006/main" noGrp="1"/>
          </p:cNvSpPr>
          <p:nvPr/>
        </p:nvSpPr>
        <p:spPr>
          <a:xfrm xmlns:a="http://schemas.openxmlformats.org/drawingml/2006/main">
            <a:off x="11430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FC5F33A-370E-4F7E-BF04-2B352341BD83}"/>
              </a:ext>
            </a:extLst>
          </p:cNvPr>
          <p:cNvSpPr>
            <a:spLocks xmlns:a="http://schemas.openxmlformats.org/drawingml/2006/main" noGrp="1"/>
          </p:cNvSpPr>
          <p:nvPr/>
        </p:nvSpPr>
        <p:spPr>
          <a:xfrm xmlns:a="http://schemas.openxmlformats.org/drawingml/2006/main">
            <a:off x="11430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F225419B-30AF-4FD2-AFC9-8AC589CB5D60}"/>
              </a:ext>
            </a:extLst>
          </p:cNvPr>
          <p:cNvSpPr>
            <a:spLocks xmlns:a="http://schemas.openxmlformats.org/drawingml/2006/main" noGrp="1"/>
          </p:cNvSpPr>
          <p:nvPr/>
        </p:nvSpPr>
        <p:spPr>
          <a:xfrm xmlns:a="http://schemas.openxmlformats.org/drawingml/2006/main">
            <a:off x="6667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1</a:t>
            </a:r>
          </a:p>
        </p:txBody>
      </p:sp>
      <p:sp>
        <p:nvSpPr>
          <p:cNvPr id="8" name="">
            <a:extLst xmlns:a="http://schemas.openxmlformats.org/drawingml/2006/main">
              <a:ext uri="{FF2B5EF4-FFF2-40B4-BE49-F238E27FC236}">
                <a16:creationId xmlns:a16="http://schemas.microsoft.com/office/drawing/2014/main" id="{7EF53E6D-B969-4927-9229-3B0F06CC9289}"/>
              </a:ext>
            </a:extLst>
          </p:cNvPr>
          <p:cNvSpPr>
            <a:spLocks xmlns:a="http://schemas.openxmlformats.org/drawingml/2006/main" noGrp="1"/>
          </p:cNvSpPr>
          <p:nvPr/>
        </p:nvSpPr>
        <p:spPr>
          <a:xfrm xmlns:a="http://schemas.openxmlformats.org/drawingml/2006/main">
            <a:off x="6858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9" name="">
            <a:extLst xmlns:a="http://schemas.openxmlformats.org/drawingml/2006/main">
              <a:ext uri="{FF2B5EF4-FFF2-40B4-BE49-F238E27FC236}">
                <a16:creationId xmlns:a16="http://schemas.microsoft.com/office/drawing/2014/main" id="{7FB27E5E-B502-4BFB-8D95-B60D539A3BA2}"/>
              </a:ext>
            </a:extLst>
          </p:cNvPr>
          <p:cNvSpPr>
            <a:spLocks xmlns:a="http://schemas.openxmlformats.org/drawingml/2006/main" noGrp="1"/>
          </p:cNvSpPr>
          <p:nvPr/>
        </p:nvSpPr>
        <p:spPr>
          <a:xfrm xmlns:a="http://schemas.openxmlformats.org/drawingml/2006/main">
            <a:off x="371475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E6B5BC-1300-40AB-A5DD-9BE1B4EB901D}"/>
              </a:ext>
            </a:extLst>
          </p:cNvPr>
          <p:cNvSpPr>
            <a:spLocks xmlns:a="http://schemas.openxmlformats.org/drawingml/2006/main" noGrp="1"/>
          </p:cNvSpPr>
          <p:nvPr/>
        </p:nvSpPr>
        <p:spPr>
          <a:xfrm xmlns:a="http://schemas.openxmlformats.org/drawingml/2006/main">
            <a:off x="37147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D12777A0-1A7A-4C2B-A808-9F31D4B8FECC}"/>
              </a:ext>
            </a:extLst>
          </p:cNvPr>
          <p:cNvSpPr>
            <a:spLocks xmlns:a="http://schemas.openxmlformats.org/drawingml/2006/main" noGrp="1"/>
          </p:cNvSpPr>
          <p:nvPr/>
        </p:nvSpPr>
        <p:spPr>
          <a:xfrm xmlns:a="http://schemas.openxmlformats.org/drawingml/2006/main">
            <a:off x="32385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2</a:t>
            </a:r>
          </a:p>
        </p:txBody>
      </p:sp>
      <p:sp>
        <p:nvSpPr>
          <p:cNvPr id="12" name="">
            <a:extLst xmlns:a="http://schemas.openxmlformats.org/drawingml/2006/main">
              <a:ext uri="{FF2B5EF4-FFF2-40B4-BE49-F238E27FC236}">
                <a16:creationId xmlns:a16="http://schemas.microsoft.com/office/drawing/2014/main" id="{9D29FC93-8D27-4441-9BE3-920095173F3E}"/>
              </a:ext>
            </a:extLst>
          </p:cNvPr>
          <p:cNvSpPr>
            <a:spLocks xmlns:a="http://schemas.openxmlformats.org/drawingml/2006/main" noGrp="1"/>
          </p:cNvSpPr>
          <p:nvPr/>
        </p:nvSpPr>
        <p:spPr>
          <a:xfrm xmlns:a="http://schemas.openxmlformats.org/drawingml/2006/main">
            <a:off x="32575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3" name="">
            <a:extLst xmlns:a="http://schemas.openxmlformats.org/drawingml/2006/main">
              <a:ext uri="{FF2B5EF4-FFF2-40B4-BE49-F238E27FC236}">
                <a16:creationId xmlns:a16="http://schemas.microsoft.com/office/drawing/2014/main" id="{18CF93D7-55AE-4B74-9281-AD1293663277}"/>
              </a:ext>
            </a:extLst>
          </p:cNvPr>
          <p:cNvSpPr>
            <a:spLocks xmlns:a="http://schemas.openxmlformats.org/drawingml/2006/main" noGrp="1"/>
          </p:cNvSpPr>
          <p:nvPr/>
        </p:nvSpPr>
        <p:spPr>
          <a:xfrm xmlns:a="http://schemas.openxmlformats.org/drawingml/2006/main">
            <a:off x="62865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895E14C-7A29-467B-973E-95A789B6867C}"/>
              </a:ext>
            </a:extLst>
          </p:cNvPr>
          <p:cNvSpPr>
            <a:spLocks xmlns:a="http://schemas.openxmlformats.org/drawingml/2006/main" noGrp="1"/>
          </p:cNvSpPr>
          <p:nvPr/>
        </p:nvSpPr>
        <p:spPr>
          <a:xfrm xmlns:a="http://schemas.openxmlformats.org/drawingml/2006/main">
            <a:off x="62865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8F461ECC-CF41-4F8D-9618-67F8021AA0E9}"/>
              </a:ext>
            </a:extLst>
          </p:cNvPr>
          <p:cNvSpPr>
            <a:spLocks xmlns:a="http://schemas.openxmlformats.org/drawingml/2006/main" noGrp="1"/>
          </p:cNvSpPr>
          <p:nvPr/>
        </p:nvSpPr>
        <p:spPr>
          <a:xfrm xmlns:a="http://schemas.openxmlformats.org/drawingml/2006/main">
            <a:off x="58102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3</a:t>
            </a:r>
          </a:p>
        </p:txBody>
      </p:sp>
      <p:sp>
        <p:nvSpPr>
          <p:cNvPr id="16" name="">
            <a:extLst xmlns:a="http://schemas.openxmlformats.org/drawingml/2006/main">
              <a:ext uri="{FF2B5EF4-FFF2-40B4-BE49-F238E27FC236}">
                <a16:creationId xmlns:a16="http://schemas.microsoft.com/office/drawing/2014/main" id="{CF2E6296-E72A-4427-8B12-A15C45B2E712}"/>
              </a:ext>
            </a:extLst>
          </p:cNvPr>
          <p:cNvSpPr>
            <a:spLocks xmlns:a="http://schemas.openxmlformats.org/drawingml/2006/main" noGrp="1"/>
          </p:cNvSpPr>
          <p:nvPr/>
        </p:nvSpPr>
        <p:spPr>
          <a:xfrm xmlns:a="http://schemas.openxmlformats.org/drawingml/2006/main">
            <a:off x="58293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7" name="">
            <a:extLst xmlns:a="http://schemas.openxmlformats.org/drawingml/2006/main">
              <a:ext uri="{FF2B5EF4-FFF2-40B4-BE49-F238E27FC236}">
                <a16:creationId xmlns:a16="http://schemas.microsoft.com/office/drawing/2014/main" id="{E7AEE3A0-99C3-455A-92AA-5D8003E3006E}"/>
              </a:ext>
            </a:extLst>
          </p:cNvPr>
          <p:cNvSpPr>
            <a:spLocks xmlns:a="http://schemas.openxmlformats.org/drawingml/2006/main" noGrp="1"/>
          </p:cNvSpPr>
          <p:nvPr/>
        </p:nvSpPr>
        <p:spPr>
          <a:xfrm xmlns:a="http://schemas.openxmlformats.org/drawingml/2006/main">
            <a:off x="8858250" y="2152650"/>
            <a:ext cx="457200" cy="4572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68690C7-8D2D-4D04-833B-22E0DA0D6372}"/>
              </a:ext>
            </a:extLst>
          </p:cNvPr>
          <p:cNvSpPr>
            <a:spLocks xmlns:a="http://schemas.openxmlformats.org/drawingml/2006/main" noGrp="1"/>
          </p:cNvSpPr>
          <p:nvPr/>
        </p:nvSpPr>
        <p:spPr>
          <a:xfrm xmlns:a="http://schemas.openxmlformats.org/drawingml/2006/main">
            <a:off x="88582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95C4B13B-271D-46E5-BC96-E3DD5E8D849F}"/>
              </a:ext>
            </a:extLst>
          </p:cNvPr>
          <p:cNvSpPr>
            <a:spLocks xmlns:a="http://schemas.openxmlformats.org/drawingml/2006/main" noGrp="1"/>
          </p:cNvSpPr>
          <p:nvPr/>
        </p:nvSpPr>
        <p:spPr>
          <a:xfrm xmlns:a="http://schemas.openxmlformats.org/drawingml/2006/main">
            <a:off x="83820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Future refreshes</a:t>
            </a:r>
          </a:p>
        </p:txBody>
      </p:sp>
      <p:sp>
        <p:nvSpPr>
          <p:cNvPr id="20" name="">
            <a:extLst xmlns:a="http://schemas.openxmlformats.org/drawingml/2006/main">
              <a:ext uri="{FF2B5EF4-FFF2-40B4-BE49-F238E27FC236}">
                <a16:creationId xmlns:a16="http://schemas.microsoft.com/office/drawing/2014/main" id="{802EBF3A-F28E-4057-A3EF-2146FC1B2A09}"/>
              </a:ext>
            </a:extLst>
          </p:cNvPr>
          <p:cNvSpPr>
            <a:spLocks xmlns:a="http://schemas.openxmlformats.org/drawingml/2006/main" noGrp="1"/>
          </p:cNvSpPr>
          <p:nvPr/>
        </p:nvSpPr>
        <p:spPr>
          <a:xfrm xmlns:a="http://schemas.openxmlformats.org/drawingml/2006/main">
            <a:off x="84010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21" name="">
            <a:extLst xmlns:a="http://schemas.openxmlformats.org/drawingml/2006/main">
              <a:ext uri="{FF2B5EF4-FFF2-40B4-BE49-F238E27FC236}">
                <a16:creationId xmlns:a16="http://schemas.microsoft.com/office/drawing/2014/main" id="{F2C48D91-21AD-4BCF-867D-AB0B2334D7D4}"/>
              </a:ext>
            </a:extLst>
          </p:cNvPr>
          <p:cNvSpPr>
            <a:spLocks xmlns:a="http://schemas.openxmlformats.org/drawingml/2006/main" noGrp="1"/>
          </p:cNvSpPr>
          <p:nvPr/>
        </p:nvSpPr>
        <p:spPr>
          <a:xfrm xmlns:a="http://schemas.openxmlformats.org/drawingml/2006/main">
            <a:off x="685800" y="3943350"/>
            <a:ext cx="4991100" cy="1752600"/>
          </a:xfrm>
          <a:prstGeom xmlns:a="http://schemas.openxmlformats.org/drawingml/2006/main" prst="roundRect">
            <a:avLst>
              <a:gd name="adj" fmla="val 8696"/>
            </a:avLst>
          </a:prstGeom>
          <a:solidFill xmlns:a="http://schemas.openxmlformats.org/drawingml/2006/main">
            <a:srgbClr val="F4F7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BD3E06C-D6DD-4CA6-8149-C9C8C12E5A51}"/>
              </a:ext>
            </a:extLst>
          </p:cNvPr>
          <p:cNvSpPr>
            <a:spLocks xmlns:a="http://schemas.openxmlformats.org/drawingml/2006/main" noGrp="1"/>
          </p:cNvSpPr>
          <p:nvPr/>
        </p:nvSpPr>
        <p:spPr>
          <a:xfrm xmlns:a="http://schemas.openxmlformats.org/drawingml/2006/main">
            <a:off x="933450" y="41814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Trend filters</a:t>
            </a:r>
          </a:p>
        </p:txBody>
      </p:sp>
      <p:sp>
        <p:nvSpPr>
          <p:cNvPr id="23" name="">
            <a:extLst xmlns:a="http://schemas.openxmlformats.org/drawingml/2006/main">
              <a:ext uri="{FF2B5EF4-FFF2-40B4-BE49-F238E27FC236}">
                <a16:creationId xmlns:a16="http://schemas.microsoft.com/office/drawing/2014/main" id="{59F07797-FDCF-4879-8DD2-FC66CC79F1FA}"/>
              </a:ext>
            </a:extLst>
          </p:cNvPr>
          <p:cNvSpPr>
            <a:spLocks xmlns:a="http://schemas.openxmlformats.org/drawingml/2006/main" noGrp="1"/>
          </p:cNvSpPr>
          <p:nvPr/>
        </p:nvSpPr>
        <p:spPr>
          <a:xfrm xmlns:a="http://schemas.openxmlformats.org/drawingml/2006/main">
            <a:off x="933450" y="4667250"/>
            <a:ext cx="434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FTM  •  Task  •  Age group</a:t>
            </a:r>
          </a:p>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Outcome  •  Cohort  •  FTM view</a:t>
            </a:r>
          </a:p>
        </p:txBody>
      </p:sp>
      <p:sp>
        <p:nvSpPr>
          <p:cNvPr id="24" name="">
            <a:extLst xmlns:a="http://schemas.openxmlformats.org/drawingml/2006/main">
              <a:ext uri="{FF2B5EF4-FFF2-40B4-BE49-F238E27FC236}">
                <a16:creationId xmlns:a16="http://schemas.microsoft.com/office/drawing/2014/main" id="{3C242113-A171-4A60-8BC6-F67328ABE6A1}"/>
              </a:ext>
            </a:extLst>
          </p:cNvPr>
          <p:cNvSpPr>
            <a:spLocks xmlns:a="http://schemas.openxmlformats.org/drawingml/2006/main" noGrp="1"/>
          </p:cNvSpPr>
          <p:nvPr/>
        </p:nvSpPr>
        <p:spPr>
          <a:xfrm xmlns:a="http://schemas.openxmlformats.org/drawingml/2006/main">
            <a:off x="5962650" y="3943350"/>
            <a:ext cx="5467350" cy="1752600"/>
          </a:xfrm>
          <a:prstGeom xmlns:a="http://schemas.openxmlformats.org/drawingml/2006/main" prst="roundRect">
            <a:avLst>
              <a:gd name="adj" fmla="val 8696"/>
            </a:avLst>
          </a:prstGeom>
          <a:solidFill xmlns:a="http://schemas.openxmlformats.org/drawingml/2006/main">
            <a:srgbClr val="EDF7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B0AAAB1-4F47-4B10-B8E5-4EF25DC66C41}"/>
              </a:ext>
            </a:extLst>
          </p:cNvPr>
          <p:cNvSpPr>
            <a:spLocks xmlns:a="http://schemas.openxmlformats.org/drawingml/2006/main" noGrp="1"/>
          </p:cNvSpPr>
          <p:nvPr/>
        </p:nvSpPr>
        <p:spPr>
          <a:xfrm xmlns:a="http://schemas.openxmlformats.org/drawingml/2006/main">
            <a:off x="6210300" y="41814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Displayed metrics</a:t>
            </a:r>
          </a:p>
        </p:txBody>
      </p:sp>
      <p:sp>
        <p:nvSpPr>
          <p:cNvPr id="26" name="">
            <a:extLst xmlns:a="http://schemas.openxmlformats.org/drawingml/2006/main">
              <a:ext uri="{FF2B5EF4-FFF2-40B4-BE49-F238E27FC236}">
                <a16:creationId xmlns:a16="http://schemas.microsoft.com/office/drawing/2014/main" id="{041497A2-9B0B-48CC-89FD-DD416C94C06C}"/>
              </a:ext>
            </a:extLst>
          </p:cNvPr>
          <p:cNvSpPr>
            <a:spLocks xmlns:a="http://schemas.openxmlformats.org/drawingml/2006/main" noGrp="1"/>
          </p:cNvSpPr>
          <p:nvPr/>
        </p:nvSpPr>
        <p:spPr>
          <a:xfrm xmlns:a="http://schemas.openxmlformats.org/drawingml/2006/main">
            <a:off x="6210300" y="4638675"/>
            <a:ext cx="4800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Weighted progress  •  Completion rate</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Complete  •  No-show  •  Needs follow-up</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Participants  •  Task records</a:t>
            </a:r>
          </a:p>
        </p:txBody>
      </p:sp>
      <p:sp>
        <p:nvSpPr>
          <p:cNvPr id="27" name="">
            <a:extLst xmlns:a="http://schemas.openxmlformats.org/drawingml/2006/main">
              <a:ext uri="{FF2B5EF4-FFF2-40B4-BE49-F238E27FC236}">
                <a16:creationId xmlns:a16="http://schemas.microsoft.com/office/drawing/2014/main" id="{7A40B57B-29B4-4100-B6A7-DDA184C48EB0}"/>
              </a:ext>
            </a:extLst>
          </p:cNvPr>
          <p:cNvSpPr>
            <a:spLocks xmlns:a="http://schemas.openxmlformats.org/drawingml/2006/main" noGrp="1"/>
          </p:cNvSpPr>
          <p:nvPr/>
        </p:nvSpPr>
        <p:spPr>
          <a:xfrm xmlns:a="http://schemas.openxmlformats.org/drawingml/2006/main">
            <a:off x="685800" y="60007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Operational result: the dashboard can show current status, any saved snapshot, and how each FTM changes over time.</a:t>
            </a:r>
          </a:p>
        </p:txBody>
      </p:sp>
    </p:spTree>
    <p:extLst>
      <p:ext uri="{BB962C8B-B14F-4D97-AF65-F5344CB8AC3E}">
        <p14:creationId xmlns:p14="http://schemas.microsoft.com/office/powerpoint/2010/main" val="208058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2026-09-10T03:06:44.6040000Z</dcterms:created>
  <dcterms:modified xsi:type="dcterms:W3CDTF">2026-09-10T03:06:44.6040000Z</dcterms:modified>
</coreProperties>
</file>