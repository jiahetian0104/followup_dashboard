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c2935c67854d7a" /><Relationship Type="http://schemas.openxmlformats.org/officeDocument/2006/relationships/extended-properties" Target="/docProps/app.xml" Id="Rc5f78280a86e4caf" /><Relationship Type="http://schemas.openxmlformats.org/officeDocument/2006/relationships/officeDocument" Target="/ppt/presentation.xml" Id="Rdf0f2842e8c342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8dd4ae6694344"/>
  </p:sldMasterIdLst>
  <p:notesMasterIdLst>
    <p:notesMasterId xmlns:r="http://schemas.openxmlformats.org/officeDocument/2006/relationships" r:id="R0d851439de3843bc"/>
  </p:notesMasterIdLst>
  <p:sldIdLst>
    <p:sldId xmlns:r="http://schemas.openxmlformats.org/officeDocument/2006/relationships" id="256" r:id="Rbee01301a6314ca9"/>
    <p:sldId xmlns:r="http://schemas.openxmlformats.org/officeDocument/2006/relationships" id="257" r:id="Rba8557479f57494c"/>
    <p:sldId xmlns:r="http://schemas.openxmlformats.org/officeDocument/2006/relationships" id="258" r:id="R1dbc8db8cf52406f"/>
    <p:sldId xmlns:r="http://schemas.openxmlformats.org/officeDocument/2006/relationships" id="259" r:id="Re1b4c8c9ab17419c"/>
    <p:sldId xmlns:r="http://schemas.openxmlformats.org/officeDocument/2006/relationships" id="260" r:id="R20bee9bdc18546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d7ded817884ea8" /><Relationship Type="http://schemas.openxmlformats.org/officeDocument/2006/relationships/slideMaster" Target="/ppt/slideMasters/slideMaster1.xml" Id="Rcd28dd4ae6694344" /><Relationship Type="http://schemas.openxmlformats.org/officeDocument/2006/relationships/notesMaster" Target="/ppt/notesMasters/notesMaster1.xml" Id="R0d851439de3843bc" /><Relationship Type="http://schemas.openxmlformats.org/officeDocument/2006/relationships/presProps" Target="/ppt/presProps.xml" Id="R3831aadff4d54fa3" /><Relationship Type="http://schemas.openxmlformats.org/officeDocument/2006/relationships/tableStyles" Target="/ppt/tableStyles.xml" Id="R061fa39f21944503" /><Relationship Type="http://schemas.openxmlformats.org/officeDocument/2006/relationships/slide" Target="/ppt/slides/slide1.xml" Id="Rbee01301a6314ca9" /><Relationship Type="http://schemas.openxmlformats.org/officeDocument/2006/relationships/slide" Target="/ppt/slides/slide2.xml" Id="Rba8557479f57494c" /><Relationship Type="http://schemas.openxmlformats.org/officeDocument/2006/relationships/slide" Target="/ppt/slides/slide3.xml" Id="R1dbc8db8cf52406f" /><Relationship Type="http://schemas.openxmlformats.org/officeDocument/2006/relationships/slide" Target="/ppt/slides/slide4.xml" Id="Re1b4c8c9ab17419c" /><Relationship Type="http://schemas.openxmlformats.org/officeDocument/2006/relationships/slide" Target="/ppt/slides/slide5.xml" Id="R20bee9bdc18546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e248b5c48e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a589ec4c94dcf" /><Relationship Type="http://schemas.openxmlformats.org/officeDocument/2006/relationships/notesMaster" Target="/ppt/notesMasters/notesMaster1.xml" Id="Rfe3fe520826f47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a8d43dd89848e2" /><Relationship Type="http://schemas.openxmlformats.org/officeDocument/2006/relationships/notesMaster" Target="/ppt/notesMasters/notesMaster1.xml" Id="Ra33b9a8f80a041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b3e4d2d3b4e68" /><Relationship Type="http://schemas.openxmlformats.org/officeDocument/2006/relationships/notesMaster" Target="/ppt/notesMasters/notesMaster1.xml" Id="R6c7b7025d95f4a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3b31bdd5de4054" /><Relationship Type="http://schemas.openxmlformats.org/officeDocument/2006/relationships/notesMaster" Target="/ppt/notesMasters/notesMaster1.xml" Id="R37baad5696ac49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1e6915039e46b2" /><Relationship Type="http://schemas.openxmlformats.org/officeDocument/2006/relationships/notesMaster" Target="/ppt/notesMasters/notesMaster1.xml" Id="R1772579022c6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Internal IPA dashboard methodology implemented in IPA Data.R, refreshed September 20,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participant roster and task eligibility logic in IPA Data.R. Potential participants and 6–11 month participants remain visible but do not enter task denominators.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participant Calendly assignment lookup in IPA Data.R. Ripple and Call List FTM fields are excluded from IPA credit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ipa_previous_age_band_map in IPA Data.R. The fallback never skips an age band.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FTM assignment history and task responsibility ledger logic in IPA Data.R, plus dashboard field definitions in streamlit_app.py.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7cfb4fcc1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dd91109a3148a6" /><Relationship Type="http://schemas.openxmlformats.org/officeDocument/2006/relationships/slideLayout" Target="/ppt/slideLayouts/slideLayout1.xml" Id="R3ee68284f83044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68284f83044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d2a8bb2094409" /><Relationship Type="http://schemas.openxmlformats.org/officeDocument/2006/relationships/notesSlide" Target="/ppt/notesSlides/notesSlide1.xml" Id="R88c0bdc13e3848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8d10797354b46" /><Relationship Type="http://schemas.openxmlformats.org/officeDocument/2006/relationships/notesSlide" Target="/ppt/notesSlides/notesSlide2.xml" Id="R3e9dfa2e4e8843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0fb51c7c44f9a" /><Relationship Type="http://schemas.openxmlformats.org/officeDocument/2006/relationships/notesSlide" Target="/ppt/notesSlides/notesSlide3.xml" Id="Ra89b17a4dae8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ae25c09814f23" /><Relationship Type="http://schemas.openxmlformats.org/officeDocument/2006/relationships/notesSlide" Target="/ppt/notesSlides/notesSlide4.xml" Id="R955f85797ac4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458ae087c4008" /><Relationship Type="http://schemas.openxmlformats.org/officeDocument/2006/relationships/notesSlide" Target="/ppt/notesSlides/notesSlide5.xml" Id="Rd001e95d547d44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4F865-873B-441E-9971-2B624E27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3DBAA-3448-41D1-91DD-BDDB3AAB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3146D-3B9C-46F1-A65E-BC0391E5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IPA Dashboard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DAF0C-84DD-4124-9900-CD01F863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6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6E2EC"/>
                </a:solidFill>
                <a:latin typeface="Helvetica Neue"/>
                <a:ea typeface="Helvetica Neue"/>
                <a:cs typeface="Helvetica Neue"/>
              </a:rPr>
              <a:t>FTM assignment and task eligibility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3B92C-C909-479C-BE11-F074B963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3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FC3D3"/>
                </a:solidFill>
                <a:latin typeface="Helvetica Neue"/>
                <a:ea typeface="Helvetica Neue"/>
                <a:cs typeface="Helvetica Neue"/>
              </a:rPr>
              <a:t>CHARM follow-up dashboard</a:t>
            </a:r>
          </a:p>
        </p:txBody>
      </p:sp>
    </p:spTree>
    <p:extLst>
      <p:ext uri="{BB962C8B-B14F-4D97-AF65-F5344CB8AC3E}">
        <p14:creationId xmlns:p14="http://schemas.microsoft.com/office/powerpoint/2010/main" val="2138083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2E7D5-CC24-414D-9EDE-B5BFE38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Task eligibility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39040-98A9-4DAA-826F-E343112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Only participants in an active IPA age band enter task counts and progress denominators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2FA7B-D4D2-4F8D-84F5-4DD5413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76D9F-FB35-4182-9E75-B4EA0E2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Visible in roster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CB52F-8F23-45C9-864A-0E77F1E4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143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6–11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4542-A538-4C9E-8440-C4A183DA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143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Potential participants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4C967-66B6-4786-BEF0-B07133BF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These participants remain filterable, but they do not add tasks to the denominator.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38CA7-6E40-4A9C-BF93-DCCBE5F8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rPr>
              <a:t>Task eligible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76738-69F9-4EC3-AAA0-74F219E6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12–23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months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5978F-037F-43EC-A466-8F4DC4C7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64ECA-5872-462D-B3C0-D26B0A2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24–35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7D141-5B4A-4DCD-9B6A-D1B7606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A4868-ED5E-442B-91DF-8B752952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3–5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77D36-6252-4E15-ADD1-8961BFC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926A7-6C52-41C5-BE8A-909A08A5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6–10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D64C5-2F25-4DA7-9942-63109137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2FC47-ADD2-4C0A-B662-C1DD22C0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11–17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964F2-5C33-4C99-9D95-733987B7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9CB7E-7594-4A8B-9F5D-7986609F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18–20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702D4-C6CB-40DA-A36C-830C20B1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Task rows are created from the participant's current statusId age band.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68844-42F1-4D16-8F06-8A8BA86C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Withdrawn and ECHO 2 Refusal records are excluded before the roster is built.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32633-D7C7-451A-99BF-08D92DD7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rPr>
              <a:t>Denominator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6DA80-31C7-4372-A4C9-012A85B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590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One row for every applicable participant × task × age band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BAA73-0D0A-4526-90DA-6B5944FC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3320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D1147-C44E-47F3-A42E-47F8747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Calendly FTM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91E75-0D0A-470A-AE67-09830D1D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Calendly host or inviter is the authoritative source for IPA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AE43E-C6E8-4F9F-8ADC-7D1C553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D1A18-8B56-4A7E-AA3B-9D7862E4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3C73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2D00-50E9-419D-B355-E985222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4317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3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Participant + current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IPA age band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4123C-7196-4407-9718-E47B0D47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2F0E8"/>
          </a:solidFill>
          <a:ln xmlns:a="http://schemas.openxmlformats.org/drawingml/2006/main" w="9525">
            <a:solidFill>
              <a:srgbClr val="3E8A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C7A69-B28C-4BDF-AF94-A2C374F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7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Same age band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Calendly FTM found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ABD0A-9B08-472B-821C-A7EFD0C5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476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9525">
            <a:solidFill>
              <a:srgbClr val="D875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7A504-263E-4204-83B6-CDACE3A9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9525"/>
            <a:ext cx="2095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 same-band match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the immediately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previous age 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32207-6A68-486C-834B-01BDF9FB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333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2F0E8"/>
          </a:solidFill>
          <a:ln xmlns:a="http://schemas.openxmlformats.org/drawingml/2006/main" w="9525">
            <a:solidFill>
              <a:srgbClr val="3E8A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FC999-02BE-419F-BCD3-2F3C53AA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6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Assigned</a:t>
            </a:r>
          </a:p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Same age band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CA6D0-7141-4839-8FD3-4BE1BE1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33337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9525">
            <a:solidFill>
              <a:srgbClr val="D875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0BD9-D9F7-4E0E-8038-695E2F6D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9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Assigned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Previous age band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A3FEB-1218-4FC1-8F94-6E76CDA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81625"/>
            <a:ext cx="3333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6575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8BB89-B3CB-4EB5-833A-16A87127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8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No match: Unassigned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762250" y="2333625"/>
            <a:ext cx="76200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C73A8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2857500"/>
            <a:ext cx="762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8752B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00750" y="23336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E8A65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00750" y="42624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752B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905875" y="4857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4"/>
            </a:solidFill>
            <a:prstDash val="dash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2B2B9-CFBD-4379-AFEF-EBFF02B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288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8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E8A65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4E7ED-6077-4B2D-818B-B25245D4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528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930D4-4D26-4567-975C-98D41DF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00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9246D-887D-48A2-97C4-102C3CA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7113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86D22-D5C4-4CA9-8752-C1DBB01C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Previous age band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B33B0-F6EC-45F0-A26C-0FAB1522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Fallback uses one adjacent age band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07875-DF58-4CD9-BBB9-032466BB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81125" y="1762125"/>
          <a:ext xmlns:a="http://schemas.openxmlformats.org/drawingml/2006/main" cx="9429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14750"/>
                <a:gridCol w="2381250"/>
              </a:tblGrid>
              <a:tr h="5000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IPA age band</a:t>
                      </a:r>
                    </a:p>
                  </a:txBody>
                  <a:tcPr marL="114300" marR="1143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Previous age band checked</a:t>
                      </a:r>
                    </a:p>
                  </a:txBody>
                  <a:tcPr marL="114300" marR="1143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Fallback available</a:t>
                      </a:r>
                    </a:p>
                  </a:txBody>
                  <a:tcPr marL="114300" marR="114300" marT="76200" marB="76200">
                    <a:solidFill>
                      <a:srgbClr val="17324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6–11 months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6575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114300" marR="114300" marT="66675" marB="66675">
                    <a:solidFill>
                      <a:srgbClr val="EEF2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12–23 months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6–11 months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24–35 months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12–23 months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3–5 years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24–35 months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6–10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3–5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11–17 years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6–10 years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18–20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11–17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5978A-370E-4D07-89D3-974F5A3F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2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rPr>
              <a:t>A 6–10 year participant can use a 3–5 year Calendly FTM, but never a 24–35 month FTM.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06124-CFD5-4B2F-802D-0070577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2523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BB270-9EF0-4611-805D-722215F1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Task responsibility and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45C44-8B34-4537-8736-99E545A1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Credit follows the FTM responsible for that participant's task and age 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CBAB2-63CD-4622-A415-A60101B6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8EE43-DCBF-4930-8040-6067CCF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C73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C73A8"/>
                </a:solidFill>
                <a:latin typeface="Helvetica Neue"/>
                <a:ea typeface="Helvetica Neue"/>
                <a:cs typeface="Helvetica Neue"/>
              </a:rPr>
              <a:t>Earlier age band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BB13D-DEA5-4FEF-A724-DED5CA5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952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3C7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E41BD-DCB3-4D85-954B-A9C356CA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FTM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B2DC-E924-47A4-B01E-2A70FE7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Complete, No-Show, Incomplete,</a:t>
            </a:r>
          </a:p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and No record tasks stay 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73C7C-BF04-4792-ADD5-1003874F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rPr>
              <a:t>Later age band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B8428-0670-42FC-80DC-4F363784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17AE7-61A9-4DEC-8506-D36E6F29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FTM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39805-DD84-433B-BDC5-8573B6D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86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0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New age-band tasks belong to</a:t>
            </a:r>
          </a:p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the later responsible FTM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10000" y="3048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2DB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C15CD-F6AB-41EB-A767-188503A4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Dashboard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45340-F7B9-4F6A-98F1-0F6EDE13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Current FTM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1A644-A289-418F-84C2-36ADB88C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Responsible FTM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3199B-DCC4-4197-ADDC-89124C91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67100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Assignment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377D8-AF53-4950-85DB-C389DF8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29075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Matched Age Band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1F39F-ADEB-48EF-A68E-2BC796A8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6715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Fallback assignments remain clearly labeled. A direct same-age Calendly match can replace a provisional fallback when it becomes available.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8C6C3-C4B3-406C-8334-EAB168C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14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FTMs can filter by staff, task, age group, participant scope, outcome, and data snapshot.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8EE4C-E9FD-48B2-A191-3CFA03D8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08722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2026-09-20T20:12:56.1100000Z</dcterms:created>
  <dcterms:modified xsi:type="dcterms:W3CDTF">2026-09-20T20:12:56.1100000Z</dcterms:modified>
</coreProperties>
</file>