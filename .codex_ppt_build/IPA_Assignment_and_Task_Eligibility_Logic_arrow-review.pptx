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2409be4edd6403c" /><Relationship Type="http://schemas.openxmlformats.org/officeDocument/2006/relationships/extended-properties" Target="/docProps/app.xml" Id="Rf4c004f9419449e7" /><Relationship Type="http://schemas.openxmlformats.org/officeDocument/2006/relationships/officeDocument" Target="/ppt/presentation.xml" Id="R9a9980b0217e47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0c02758e68482c"/>
  </p:sldMasterIdLst>
  <p:notesMasterIdLst>
    <p:notesMasterId xmlns:r="http://schemas.openxmlformats.org/officeDocument/2006/relationships" r:id="R93d92a058f2f441c"/>
  </p:notesMasterIdLst>
  <p:sldIdLst>
    <p:sldId xmlns:r="http://schemas.openxmlformats.org/officeDocument/2006/relationships" id="256" r:id="Ra8424f7f3eb54fa5"/>
    <p:sldId xmlns:r="http://schemas.openxmlformats.org/officeDocument/2006/relationships" id="257" r:id="Rcd775ab267574856"/>
    <p:sldId xmlns:r="http://schemas.openxmlformats.org/officeDocument/2006/relationships" id="258" r:id="Rb4766163463248f1"/>
    <p:sldId xmlns:r="http://schemas.openxmlformats.org/officeDocument/2006/relationships" id="259" r:id="R7b3ae8b05e664f13"/>
    <p:sldId xmlns:r="http://schemas.openxmlformats.org/officeDocument/2006/relationships" id="260" r:id="Re1c0327853cf40c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64d4ecb39024c6a" /><Relationship Type="http://schemas.openxmlformats.org/officeDocument/2006/relationships/slideMaster" Target="/ppt/slideMasters/slideMaster1.xml" Id="Rfa0c02758e68482c" /><Relationship Type="http://schemas.openxmlformats.org/officeDocument/2006/relationships/notesMaster" Target="/ppt/notesMasters/notesMaster1.xml" Id="R93d92a058f2f441c" /><Relationship Type="http://schemas.openxmlformats.org/officeDocument/2006/relationships/presProps" Target="/ppt/presProps.xml" Id="R01090de388bd49bc" /><Relationship Type="http://schemas.openxmlformats.org/officeDocument/2006/relationships/tableStyles" Target="/ppt/tableStyles.xml" Id="R43e8e809d0cf42b8" /><Relationship Type="http://schemas.openxmlformats.org/officeDocument/2006/relationships/slide" Target="/ppt/slides/slide1.xml" Id="Ra8424f7f3eb54fa5" /><Relationship Type="http://schemas.openxmlformats.org/officeDocument/2006/relationships/slide" Target="/ppt/slides/slide2.xml" Id="Rcd775ab267574856" /><Relationship Type="http://schemas.openxmlformats.org/officeDocument/2006/relationships/slide" Target="/ppt/slides/slide3.xml" Id="Rb4766163463248f1" /><Relationship Type="http://schemas.openxmlformats.org/officeDocument/2006/relationships/slide" Target="/ppt/slides/slide4.xml" Id="R7b3ae8b05e664f13" /><Relationship Type="http://schemas.openxmlformats.org/officeDocument/2006/relationships/slide" Target="/ppt/slides/slide5.xml" Id="Re1c0327853cf40c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4a0f71de59c41a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b64b5eecbf74ad5" /><Relationship Type="http://schemas.openxmlformats.org/officeDocument/2006/relationships/notesMaster" Target="/ppt/notesMasters/notesMaster1.xml" Id="R2a1c4544de97483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8be56e22b3a4e9a" /><Relationship Type="http://schemas.openxmlformats.org/officeDocument/2006/relationships/notesMaster" Target="/ppt/notesMasters/notesMaster1.xml" Id="R0f5e5a7069334a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f9e3080ec8451c" /><Relationship Type="http://schemas.openxmlformats.org/officeDocument/2006/relationships/notesMaster" Target="/ppt/notesMasters/notesMaster1.xml" Id="Rde4a9af4c57a418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48cfc0b03046ca" /><Relationship Type="http://schemas.openxmlformats.org/officeDocument/2006/relationships/notesMaster" Target="/ppt/notesMasters/notesMaster1.xml" Id="R25639dd3e45748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a97db9b40c1401b" /><Relationship Type="http://schemas.openxmlformats.org/officeDocument/2006/relationships/notesMaster" Target="/ppt/notesMasters/notesMaster1.xml" Id="R6c63cdc3f4c64c0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Internal IPA dashboard methodology implemented in IPA Data.R, refreshed September 20,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participant roster and task eligibility logic in IPA Data.R. Potential participants and 6–11 month participants remain visible but do not enter task denominators.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participant Calendly assignment lookup in IPA Data.R. Ripple and Call List FTM fields are excluded from IPA credit assignment.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ipa_previous_age_band_map in IPA Data.R. The fallback never skips an age band.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FTM assignment history and task responsibility ledger logic in IPA Data.R, plus dashboard field definitions in streamlit_app.py.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2f30949be74bd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728295fcab419f" /><Relationship Type="http://schemas.openxmlformats.org/officeDocument/2006/relationships/slideLayout" Target="/ppt/slideLayouts/slideLayout1.xml" Id="R0afd154c7f79426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afd154c7f79426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d216d0a154665" /><Relationship Type="http://schemas.openxmlformats.org/officeDocument/2006/relationships/notesSlide" Target="/ppt/notesSlides/notesSlide1.xml" Id="Rea4679bb72e14d6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9ee12bb3e14357" /><Relationship Type="http://schemas.openxmlformats.org/officeDocument/2006/relationships/notesSlide" Target="/ppt/notesSlides/notesSlide2.xml" Id="R97ff0b09b8e642f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e69e0401e448f2" /><Relationship Type="http://schemas.openxmlformats.org/officeDocument/2006/relationships/notesSlide" Target="/ppt/notesSlides/notesSlide3.xml" Id="R717a24e635cf4eb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751d9921714ad7" /><Relationship Type="http://schemas.openxmlformats.org/officeDocument/2006/relationships/notesSlide" Target="/ppt/notesSlides/notesSlide4.xml" Id="R23367fd39c34460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c76aa14a9f44d2" /><Relationship Type="http://schemas.openxmlformats.org/officeDocument/2006/relationships/notesSlide" Target="/ppt/notesSlides/notesSlide5.xml" Id="Rdf16ea3a5ac940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97F14-FE26-49BE-9946-678520B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24CBB-BF9C-432D-A5EA-761F0C829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095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7A7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7A477-1626-4467-ACF3-964C5F685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9906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IPA Dashboard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37A34E-6AA9-414A-9265-46156DC28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9560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851"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D6E2EC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D6E2EC"/>
                </a:solidFill>
                <a:latin typeface="Helvetica Neue"/>
                <a:ea typeface="Helvetica Neue"/>
                <a:cs typeface="Helvetica Neue"/>
              </a:rPr>
              <a:t>FTM assignment and task eligibility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90A2C3-4347-4E31-9D20-2A23FBA5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4292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AFC3D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AFC3D3"/>
                </a:solidFill>
                <a:latin typeface="Helvetica Neue"/>
                <a:ea typeface="Helvetica Neue"/>
                <a:cs typeface="Helvetica Neue"/>
              </a:rPr>
              <a:t>CHARM follow-up dashboard</a:t>
            </a:r>
          </a:p>
        </p:txBody>
      </p:sp>
    </p:spTree>
    <p:extLst>
      <p:ext uri="{BB962C8B-B14F-4D97-AF65-F5344CB8AC3E}">
        <p14:creationId xmlns:p14="http://schemas.microsoft.com/office/powerpoint/2010/main" val="40998824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582CC2-D2E1-4902-B102-346DEAD00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Task eligibility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9241F8-9A60-4B02-AAE7-9A8F7C1B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Only participants in an active IPA age band enter task counts and progress denominators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B8BA79-A002-4538-9613-9E99D13B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507DAD-0C2C-409E-A2C4-BCB162C89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Visible in roster only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BAE7BE-D6E7-41C7-A515-E63A05009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2143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6–11 months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343C35-C00D-4D17-B304-9128267D0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24200"/>
            <a:ext cx="2143125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128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Potential participants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4335D-9304-48F7-B5EE-9D532EEF1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43350"/>
            <a:ext cx="2238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9375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These participants remain filterable, but they do not add tasks to the denominator.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701E1E-3E65-4B35-A547-3EF8EF3A9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F7A7A"/>
                </a:solidFill>
                <a:latin typeface="Helvetica Neue"/>
                <a:ea typeface="Helvetica Neue"/>
                <a:cs typeface="Helvetica Neue"/>
              </a:rPr>
              <a:t>Task eligible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50B973-6F89-40EA-8034-5F284B998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62200"/>
            <a:ext cx="1104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EE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12–23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months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1F16A6-31E5-44AF-9FAD-72F69E22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7622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2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42D224-4F8B-4D8D-ACE5-4CFF7E00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362200"/>
            <a:ext cx="1104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4EEF7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24–35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months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691CF2-2842-48C1-A309-E249B836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7622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2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D260088-61DC-4F1C-B9B1-24DC79E6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362200"/>
            <a:ext cx="1104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EE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3–5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years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63F3F3-0F3C-445D-84F4-821B72000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622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2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7E779A-9F54-4B97-8A3F-39A89E1F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362200"/>
            <a:ext cx="1104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EE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6–10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years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495B53-1F05-4A8F-BDD1-CF2F1AD45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7622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2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B1E8988-EFD2-445E-B4EC-7E410250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362200"/>
            <a:ext cx="1104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EE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11–17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years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833F19-2795-4C87-BD7B-B0955159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762250"/>
            <a:ext cx="161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8D2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A74AAD-92FF-4278-8BCB-AB3A5C45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362200"/>
            <a:ext cx="11049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9EEEE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18–20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years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78B8B8-19F5-427F-8C04-3C378EE0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476625"/>
            <a:ext cx="752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Task rows are created from the participant's current statusId age band.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EA63D9-9873-4BFF-8355-D147C51D5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148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Withdrawn and ECHO 2 Refusal records are excluded before the roster is built.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F74D23-BF70-4CF0-9008-1C7391741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09587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D87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D8752B"/>
                </a:solidFill>
                <a:latin typeface="Helvetica Neue"/>
                <a:ea typeface="Helvetica Neue"/>
                <a:cs typeface="Helvetica Neue"/>
              </a:rPr>
              <a:t>Denominator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079ED2-71D7-4758-B3CA-BCAA00D5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010150"/>
            <a:ext cx="59055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F8E8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One row for every applicable participant × task × age band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1FDE2D1-81AA-4EFD-B104-48BF4689C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198013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01845E-DC87-4F22-AB14-CD36B246F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Calendly FTM assignment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F3D1D9-E0CC-4622-B851-6ADE90577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Calendly host or inviter is the authoritative source for IPA responsibility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DCB98D-7CAD-4BFD-87F1-2AEDB8FCE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4552D-408C-4965-93A2-AC737890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2095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3C73A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EADAD1-593B-4F2C-A5F5-7EF949671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543175"/>
            <a:ext cx="180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382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Participant + current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IPA age band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1ADE5C-6A50-4255-A425-5BDF351B8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809750"/>
            <a:ext cx="247650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2F0E8"/>
          </a:solidFill>
          <a:ln xmlns:a="http://schemas.openxmlformats.org/drawingml/2006/main" w="9525">
            <a:solidFill>
              <a:srgbClr val="3E8A6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A9F74-6AD0-4432-971A-3C952DDAE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019300"/>
            <a:ext cx="209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677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Same age band</a:t>
            </a:r>
          </a:p>
          <a:p xmlns:a="http://schemas.openxmlformats.org/drawingml/2006/main">
            <a:pPr algn="ctr">
              <a:def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Calendly FTM found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F732EA-93E9-467D-8F54-67683231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667125"/>
            <a:ext cx="2476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8E8D8"/>
          </a:solidFill>
          <a:ln xmlns:a="http://schemas.openxmlformats.org/drawingml/2006/main" w="9525">
            <a:solidFill>
              <a:srgbClr val="D8752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2330A3-5E0F-4435-AE24-079DA444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819525"/>
            <a:ext cx="2095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666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No same-band match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Check the immediately</a:t>
            </a:r>
          </a:p>
          <a:p xmlns:a="http://schemas.openxmlformats.org/drawingml/2006/main">
            <a:pPr algn="ctr">
              <a:def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previous age band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19DD1-67FA-4456-9BFA-FD0E7A4A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3333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2F0E8"/>
          </a:solidFill>
          <a:ln xmlns:a="http://schemas.openxmlformats.org/drawingml/2006/main" w="9525">
            <a:solidFill>
              <a:srgbClr val="3E8A6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B86D42-84E2-49A2-937F-9C78F6238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38350"/>
            <a:ext cx="276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864"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Assigned</a:t>
            </a:r>
          </a:p>
          <a:p xmlns:a="http://schemas.openxmlformats.org/drawingml/2006/main">
            <a:pPr algn="ctr">
              <a:defRPr sz="20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Same age band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299379-35DD-4194-8C75-6C901C5D7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667125"/>
            <a:ext cx="33337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8E8D8"/>
          </a:solidFill>
          <a:ln xmlns:a="http://schemas.openxmlformats.org/drawingml/2006/main" w="9525">
            <a:solidFill>
              <a:srgbClr val="D8752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7894A4-F4CD-4B40-9F87-9276CF70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05250"/>
            <a:ext cx="2762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198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Assigned</a:t>
            </a:r>
          </a:p>
          <a:p xmlns:a="http://schemas.openxmlformats.org/drawingml/2006/main">
            <a:pPr algn="ctr">
              <a:def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Previous age band fallback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B5DB35-C594-48EA-9E49-9D0090D51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81625"/>
            <a:ext cx="33337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65758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765046-5232-4043-8167-8EA6612E4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816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6"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No match: Unassigned</a:t>
            </a:r>
          </a:p>
        </p:txBody>
      </p:sp>
      <p:cxnSp>
        <p:nvCxnSpPr>
          <p:cNvPr id="40" name=""/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2762250" y="2333625"/>
            <a:ext cx="762000" cy="5238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3C73A8"/>
            </a:solidFill>
            <a:prstDash val="solid"/>
            <a:headEnd type="arrow" w="med" len="med"/>
          </a:ln>
        </p:spPr>
      </p:cxnSp>
      <p:cxnSp>
        <p:nvCxnSpPr>
          <p:cNvPr id="41" name=""/>
          <p:cNvCxnSpPr>
            <a:stCxn xmlns:a="http://schemas.openxmlformats.org/drawingml/2006/main" id="4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2762250" y="2857500"/>
            <a:ext cx="762000" cy="1404938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D8752B"/>
            </a:solidFill>
            <a:prstDash val="solid"/>
            <a:headEnd type="arrow" w="med" len="med"/>
          </a:ln>
        </p:spPr>
      </p:cxnSp>
      <p:cxnSp>
        <p:nvCxnSpPr>
          <p:cNvPr id="42" name="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6000750" y="233362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E8A65"/>
            </a:solidFill>
            <a:prstDash val="solid"/>
            <a:headEnd type="arrow" w="med" len="med"/>
          </a:ln>
        </p:spPr>
      </p:cxnSp>
      <p:cxnSp>
        <p:nvCxnSpPr>
          <p:cNvPr id="43" name=""/>
          <p:cNvCxnSpPr>
            <a:stCxn xmlns:a="http://schemas.openxmlformats.org/drawingml/2006/main" id="8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6000750" y="426243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8752B"/>
            </a:solidFill>
            <a:prstDash val="solid"/>
            <a:headEnd type="arrow" w="med" len="med"/>
          </a:ln>
        </p:spPr>
      </p:cxnSp>
      <p:cxnSp>
        <p:nvCxnSpPr>
          <p:cNvPr id="44" name=""/>
          <p:cNvCxnSpPr>
            <a:stCxn xmlns:a="http://schemas.openxmlformats.org/drawingml/2006/main" id="12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8905875" y="4857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57584"/>
            </a:solidFill>
            <a:prstDash val="dash"/>
            <a:headEnd type="arrow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D08E2-1D4D-4417-A421-632323F6D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28825"/>
            <a:ext cx="619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3E8A6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3E8A65"/>
                </a:solidFill>
                <a:latin typeface="Helvetica Neue"/>
                <a:ea typeface="Helvetica Neue"/>
                <a:cs typeface="Helvetica Neue"/>
              </a:rPr>
              <a:t>YES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600E1D-91DE-43BC-8855-1B7CA63CA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52825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87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D8752B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6E6605F-0277-459B-AEE2-8A1E6608D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0006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E04DD7-C01B-4516-A0B8-1D72382D2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295976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F5E57D-1612-4730-A780-2F9BA0068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Previous age band lookup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E22B22-CCE1-4C1E-B6C8-F7A62708E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Fallback uses one adjacent age band only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4C0F32-67AE-4364-A3B1-D1627E0F5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B"/>
            </a:solidFill>
            <a:prstDash val="solid"/>
          </a:ln>
        </p:spPr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1381125" y="1762125"/>
          <a:ext xmlns:a="http://schemas.openxmlformats.org/drawingml/2006/main" cx="9429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33750"/>
                <a:gridCol w="3714750"/>
                <a:gridCol w="2381250"/>
              </a:tblGrid>
              <a:tr h="500063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Current IPA age band</a:t>
                      </a:r>
                    </a:p>
                  </a:txBody>
                  <a:tcPr marL="114300" marR="114300" marT="76200" marB="7620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Previous age band checked</a:t>
                      </a:r>
                    </a:p>
                  </a:txBody>
                  <a:tcPr marL="114300" marR="114300" marT="76200" marB="76200"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Fallback available</a:t>
                      </a:r>
                    </a:p>
                  </a:txBody>
                  <a:tcPr marL="114300" marR="114300" marT="76200" marB="76200">
                    <a:solidFill>
                      <a:srgbClr val="17324D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6–11 months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None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657584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</a:t>
                      </a:r>
                    </a:p>
                  </a:txBody>
                  <a:tcPr marL="114300" marR="114300" marT="66675" marB="66675">
                    <a:solidFill>
                      <a:srgbClr val="EEF2F5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12–23 months</a:t>
                      </a:r>
                    </a:p>
                  </a:txBody>
                  <a:tcPr marL="114300" marR="114300" marT="66675" marB="66675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6–11 months</a:t>
                      </a:r>
                    </a:p>
                  </a:txBody>
                  <a:tcPr marL="114300" marR="114300" marT="66675" marB="66675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87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114300" marR="114300" marT="66675" marB="66675">
                    <a:solidFill>
                      <a:srgbClr val="F8E8D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24–35 months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12–23 months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87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114300" marR="114300" marT="66675" marB="66675">
                    <a:solidFill>
                      <a:srgbClr val="F8E8D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3–5 years</a:t>
                      </a:r>
                    </a:p>
                  </a:txBody>
                  <a:tcPr marL="114300" marR="114300" marT="66675" marB="66675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24–35 months</a:t>
                      </a:r>
                    </a:p>
                  </a:txBody>
                  <a:tcPr marL="114300" marR="114300" marT="66675" marB="66675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87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114300" marR="114300" marT="66675" marB="66675">
                    <a:solidFill>
                      <a:srgbClr val="F8E8D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6–10 years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3–5 years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87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114300" marR="114300" marT="66675" marB="66675">
                    <a:solidFill>
                      <a:srgbClr val="F8E8D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11–17 years</a:t>
                      </a:r>
                    </a:p>
                  </a:txBody>
                  <a:tcPr marL="114300" marR="114300" marT="66675" marB="66675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6–10 years</a:t>
                      </a:r>
                    </a:p>
                  </a:txBody>
                  <a:tcPr marL="114300" marR="114300" marT="66675" marB="66675">
                    <a:solidFill>
                      <a:srgbClr val="F6F8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87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114300" marR="114300" marT="66675" marB="66675">
                    <a:solidFill>
                      <a:srgbClr val="F8E8D8"/>
                    </a:solidFill>
                  </a:tcPr>
                </a:tc>
              </a:tr>
              <a:tr h="500063"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18–20 years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7324D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11–17 years</a:t>
                      </a:r>
                    </a:p>
                  </a:txBody>
                  <a:tcPr marL="114300" marR="114300" marT="66675" marB="66675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D8752B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Yes</a:t>
                      </a:r>
                    </a:p>
                  </a:txBody>
                  <a:tcPr marL="114300" marR="114300" marT="66675" marB="66675">
                    <a:solidFill>
                      <a:srgbClr val="F8E8D8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6D5DCB-92E7-401A-A3BF-ECFC10502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953125"/>
            <a:ext cx="876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329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D8752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D8752B"/>
                </a:solidFill>
                <a:latin typeface="Helvetica Neue"/>
                <a:ea typeface="Helvetica Neue"/>
                <a:cs typeface="Helvetica Neue"/>
              </a:rPr>
              <a:t>A 6–10 year participant can use a 3–5 year Calendly FTM, but never a 24–35 month FTM.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B19617-C0D4-484E-B395-21EE0962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632404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65265B-B9A6-42CF-804F-B0372FD95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1000"/>
            <a:ext cx="108966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879"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Task responsibility and history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10C52C-F0DF-42B5-BBEE-77802EC8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962025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Credit follows the FTM responsible for that participant's task and age band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3C46D3-0A46-4EC5-9521-208D4775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52550"/>
            <a:ext cx="10858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8D2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E2A9FE-5899-4E16-81CB-FCA8C45E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3C73A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3C73A8"/>
                </a:solidFill>
                <a:latin typeface="Helvetica Neue"/>
                <a:ea typeface="Helvetica Neue"/>
                <a:cs typeface="Helvetica Neue"/>
              </a:rPr>
              <a:t>Earlier age band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D5FE11-A348-4C38-9029-6E3F345F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952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E4EEF7"/>
          </a:solidFill>
          <a:ln xmlns:a="http://schemas.openxmlformats.org/drawingml/2006/main" w="9525">
            <a:solidFill>
              <a:srgbClr val="3C73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A41F3D-FC82-4E7F-81AA-C32B5D75C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1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FTM 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9A6D7F-0986-43BB-8BEE-D6F33945F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86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62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Complete, No-Show, Incomplete,</a:t>
            </a:r>
          </a:p>
          <a:p xmlns:a="http://schemas.openxmlformats.org/drawingml/2006/main">
            <a:pPr algn="ctr">
              <a:def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and No record tasks stay here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B74624B-FE2F-4348-A7C3-9CE8C4245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2333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F7A7A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F7A7A"/>
                </a:solidFill>
                <a:latin typeface="Helvetica Neue"/>
                <a:ea typeface="Helvetica Neue"/>
                <a:cs typeface="Helvetica Neue"/>
              </a:rPr>
              <a:t>Later age band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1A97E2-4346-4FAC-A9BE-5D2D3B0E9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333625"/>
            <a:ext cx="295275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D9EEEE"/>
          </a:solidFill>
          <a:ln xmlns:a="http://schemas.openxmlformats.org/drawingml/2006/main" w="9525">
            <a:solidFill>
              <a:srgbClr val="1F7A7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242070-4EAA-4C67-9973-C11F3AE4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571750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097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23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FTM B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6AA60A-ED51-4C89-B0D3-EBD8F9BE1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08610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3607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New age-band tasks belong to</a:t>
            </a:r>
          </a:p>
          <a:p xmlns:a="http://schemas.openxmlformats.org/drawingml/2006/main">
            <a:pPr algn="ctr">
              <a:def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the later responsible FTM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10000" y="30480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8D2DB"/>
            </a:solidFill>
            <a:prstDash val="solid"/>
            <a:head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830691-3CC4-4EBA-A40F-024D7564A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809750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Dashboard fields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5F8C91-3429-43A0-80AF-3A1A27E34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43150"/>
            <a:ext cx="2667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Current FTM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5768B0-581C-4DE2-932F-FB8657747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905125"/>
            <a:ext cx="2667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Responsible FTM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219DEE-6F65-4338-B6D5-83B14109A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467100"/>
            <a:ext cx="2667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Assignment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54BBB-7EEA-4ADE-ABC0-A09E91E8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29075"/>
            <a:ext cx="2667000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1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Matched Age Band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6AD391B-1E59-4167-B879-AC6C7E0D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6715125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8E8D8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028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17324D"/>
                </a:solidFill>
                <a:latin typeface="Helvetica Neue"/>
                <a:ea typeface="Helvetica Neue"/>
                <a:cs typeface="Helvetica Neue"/>
              </a:rPr>
              <a:t>Fallback assignments remain clearly labeled. A direct same-age Calendly match can replace a provisional fallback when it becomes available.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ECB6D1-5B02-4B40-9A03-5F8EA1D1B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857875"/>
            <a:ext cx="10144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FTMs can filter by staff, task, age group, participant scope, outcome, and data snapshot.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8C929E-16C6-4C21-A75A-737CBC92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77000"/>
            <a:ext cx="266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57584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1469525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2026-09-20T20:11:45.9520000Z</dcterms:created>
  <dcterms:modified xsi:type="dcterms:W3CDTF">2026-09-20T20:11:45.9520000Z</dcterms:modified>
</coreProperties>
</file>